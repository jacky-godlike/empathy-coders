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9" r:id="rId20"/>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every order begins as a message, but most SMEs never turn it into a reliable order record. SmartOrder Hub is the missing order desk between the chat and the business. Keep this to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of one small coffee supplier: WhatsApp order, email PO, spreadsheet stock. The pain is not one message; it is the recurring handoff and re-keying. This is the specific SME pain Domain 2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trigger, extract, check, approve, log. Emphasise that the human approval step is deliberately in the middle of the flow, not bolted on at the end. This is the Domain 2 must-have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screen. Point at the stats: 34 messages scanned, 15 orders, 19 filtered out. Point at one row: customer, items, total, delivery, stock, margin, risk and Confirm. The owner is one click from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Inbox and show the raw message behind ORD-0001. Explain classification: 19 non-orders filtered out. Show parsed items and 96% confidence. Missing fields become review tasks, not silent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review modal. Show the recommendation, the five-factor risk score, stock shortfall and supplier lead time. Then say: the model never approves; the owner chooses accept, request info, reject, or override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 policy. AI reads messy text only. The rules engine does stock, cost, margin, delivery and risk. If the model is unavailable, the rule parser keeps the demo working. Human approval is always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weighted score. Each factor has evidence: stock, supplier lead time, margin, completeness, anomaly. Hard blockers floor the score. The owner can argue with the score because the reasoning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roles: Owner decides; Staff can see everything but cannot act. Show the Activity log: every import, extraction, analysis, approval and draft is recorded. No payments, no real POs, no statutory filings.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reuse: six industry profiles, each with its own fields, stock semantics and risk weights. The mock OrbyteAdapter is the seam: today it returns synthetic data; tomorrow it can call Orbyte catalog, identity, approval and audit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the core journey is running live on Replit, backed by the GitHub repo and 34 tests. Name the hardest risk: no live Orbyte access, so we built the adapter seam. AI variability is covered by rules fallback and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Impact: 34 to 15 in the demo; one screen to decide; six channels; every action logged. The 2.7 hours/week is illustrative, not a measured claim. Pilot scorecard names the metrics. SDG 8.2 and 8.3 are the main links; 10 and 12 are optional.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human outcome. Invite judges to the live demo: review ORD-0001, confirm, then open Activity log to see the audit trail. QR codes point to the live app and the public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Quantify the pain before the demo. The benchmark is 11 minutes of manual order entry versus 3 minutes with automation, so 8 minutes saved per order. At 20 orders a week, that is about 2.7 hours a week, or roughly 139 hours a year. A restaurant doing 100 orders a week gets about 13.3 hours a week, or roughly 693 hours a year. These are estimates, not measured pilot results; the source is the Esker 2025 order-management benchmark. Keep this slide short: the point is that the saving is real, recurring and grows with order volume.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6.png"/><Relationship Id="rId8" Type="http://schemas.openxmlformats.org/officeDocument/2006/relationships/image" Target="../media/image-7-6.png"/><Relationship Id="rId9" Type="http://schemas.openxmlformats.org/officeDocument/2006/relationships/image" Target="../media/image-7-9.png"/><Relationship Id="rId10" Type="http://schemas.openxmlformats.org/officeDocument/2006/relationships/image" Target="../media/image-7-6.png"/><Relationship Id="rId11" Type="http://schemas.openxmlformats.org/officeDocument/2006/relationships/image" Target="../media/image-7-6.png"/><Relationship Id="rId12" Type="http://schemas.openxmlformats.org/officeDocument/2006/relationships/image" Target="../media/image-7-6.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7.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image" Target="../media/image-11-1.png"/><Relationship Id="rId6" Type="http://schemas.openxmlformats.org/officeDocument/2006/relationships/image" Target="../media/image-11-1.png"/><Relationship Id="rId7" Type="http://schemas.openxmlformats.org/officeDocument/2006/relationships/image" Target="../media/image-11-7.png"/><Relationship Id="rId8" Type="http://schemas.openxmlformats.org/officeDocument/2006/relationships/image" Target="../media/image-11-7.png"/><Relationship Id="rId9" Type="http://schemas.openxmlformats.org/officeDocument/2006/relationships/image" Target="../media/image-11-7.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714"/>
        </a:solidFill>
      </p:bgPr>
    </p:bg>
    <p:spTree>
      <p:nvGrpSpPr>
        <p:cNvPr id="1" name=""/>
        <p:cNvGrpSpPr/>
        <p:nvPr/>
      </p:nvGrpSpPr>
      <p:grpSpPr>
        <a:xfrm>
          <a:off x="0" y="0"/>
          <a:ext cx="0" cy="0"/>
          <a:chOff x="0" y="0"/>
          <a:chExt cx="0" cy="0"/>
        </a:xfrm>
      </p:grpSpPr>
      <p:sp>
        <p:nvSpPr>
          <p:cNvPr id="2" name="Shape 0"/>
          <p:cNvSpPr/>
          <p:nvPr/>
        </p:nvSpPr>
        <p:spPr>
          <a:xfrm>
            <a:off x="7360920" y="603504"/>
            <a:ext cx="4315968" cy="5596128"/>
          </a:xfrm>
          <a:prstGeom prst="roundRect">
            <a:avLst>
              <a:gd name="adj" fmla="val 3814"/>
            </a:avLst>
          </a:prstGeom>
          <a:solidFill>
            <a:srgbClr val="241F1A"/>
          </a:solidFill>
          <a:ln w="10160">
            <a:solidFill>
              <a:srgbClr val="2D2620"/>
            </a:solidFill>
            <a:prstDash val="solid"/>
          </a:ln>
        </p:spPr>
        <p:txBody>
          <a:bodyPr/>
          <a:p/>
        </p:txBody>
      </p:sp>
      <p:sp>
        <p:nvSpPr>
          <p:cNvPr id="3" name="Shape 1"/>
          <p:cNvSpPr/>
          <p:nvPr/>
        </p:nvSpPr>
        <p:spPr>
          <a:xfrm>
            <a:off x="640080" y="502920"/>
            <a:ext cx="3246120" cy="292608"/>
          </a:xfrm>
          <a:prstGeom prst="roundRect">
            <a:avLst>
              <a:gd name="adj" fmla="val 50000"/>
            </a:avLst>
          </a:prstGeom>
          <a:solidFill>
            <a:srgbClr val="2D2620"/>
          </a:solidFill>
          <a:ln w="7620">
            <a:solidFill>
              <a:srgbClr val="4A3E32"/>
            </a:solidFill>
            <a:prstDash val="solid"/>
          </a:ln>
        </p:spPr>
        <p:txBody>
          <a:bodyPr/>
          <a:p/>
        </p:txBody>
      </p:sp>
      <p:sp>
        <p:nvSpPr>
          <p:cNvPr id="4" name="Text 2"/>
          <p:cNvSpPr/>
          <p:nvPr/>
        </p:nvSpPr>
        <p:spPr>
          <a:xfrm>
            <a:off x="731520" y="521208"/>
            <a:ext cx="3063240" cy="265176"/>
          </a:xfrm>
          <a:prstGeom prst="rect">
            <a:avLst/>
          </a:prstGeom>
          <a:noFill/>
          <a:ln/>
        </p:spPr>
        <p:txBody>
          <a:bodyPr wrap="square" lIns="0" tIns="0" rIns="0" bIns="0" rtlCol="0" anchor="ctr"/>
          <a:lstStyle/>
          <a:p>
            <a:pPr algn="ctr" indent="0" marL="0">
              <a:lnSpc>
                <a:spcPct val="100000"/>
              </a:lnSpc>
              <a:buNone/>
            </a:pPr>
            <a:r>
              <a:rPr lang="en-US" sz="850" b="1" spc="120" kern="0" dirty="0">
                <a:solidFill>
                  <a:srgbClr val="D97706"/>
                </a:solidFill>
                <a:latin typeface="Calibri" pitchFamily="34" charset="0"/>
                <a:ea typeface="Calibri" pitchFamily="34" charset="-122"/>
                <a:cs typeface="Calibri" pitchFamily="34" charset="-120"/>
              </a:rPr>
              <a:t>SDC HACKATHON 2026  ·  DOMAIN 2</a:t>
            </a:r>
            <a:endParaRPr lang="en-US" sz="850" dirty="0"/>
          </a:p>
        </p:txBody>
      </p:sp>
      <p:sp>
        <p:nvSpPr>
          <p:cNvPr id="5" name="Text 3"/>
          <p:cNvSpPr/>
          <p:nvPr/>
        </p:nvSpPr>
        <p:spPr>
          <a:xfrm>
            <a:off x="640080" y="932688"/>
            <a:ext cx="6492240" cy="658368"/>
          </a:xfrm>
          <a:prstGeom prst="rect">
            <a:avLst/>
          </a:prstGeom>
          <a:noFill/>
          <a:ln/>
        </p:spPr>
        <p:txBody>
          <a:bodyPr wrap="square" lIns="0" tIns="0" rIns="0" bIns="0" rtlCol="0" anchor="t"/>
          <a:lstStyle/>
          <a:p>
            <a:pPr algn="l" indent="0" marL="0">
              <a:lnSpc>
                <a:spcPct val="90000"/>
              </a:lnSpc>
              <a:buNone/>
            </a:pPr>
            <a:r>
              <a:rPr lang="en-US" sz="4100" b="1" dirty="0">
                <a:solidFill>
                  <a:srgbClr val="F7F2E8"/>
                </a:solidFill>
                <a:latin typeface="Cambria" pitchFamily="34" charset="0"/>
                <a:ea typeface="Cambria" pitchFamily="34" charset="-122"/>
                <a:cs typeface="Cambria" pitchFamily="34" charset="-120"/>
              </a:rPr>
              <a:t>Every order</a:t>
            </a:r>
            <a:endParaRPr lang="en-US" sz="4100" dirty="0"/>
          </a:p>
        </p:txBody>
      </p:sp>
      <p:sp>
        <p:nvSpPr>
          <p:cNvPr id="6" name="Text 4"/>
          <p:cNvSpPr/>
          <p:nvPr/>
        </p:nvSpPr>
        <p:spPr>
          <a:xfrm>
            <a:off x="640080" y="1609344"/>
            <a:ext cx="6492240" cy="713232"/>
          </a:xfrm>
          <a:prstGeom prst="rect">
            <a:avLst/>
          </a:prstGeom>
          <a:noFill/>
          <a:ln/>
        </p:spPr>
        <p:txBody>
          <a:bodyPr wrap="square" lIns="0" tIns="0" rIns="0" bIns="0" rtlCol="0" anchor="t"/>
          <a:lstStyle/>
          <a:p>
            <a:pPr algn="l" indent="0" marL="0">
              <a:lnSpc>
                <a:spcPct val="90000"/>
              </a:lnSpc>
              <a:buNone/>
            </a:pPr>
            <a:r>
              <a:rPr lang="en-US" sz="4100" b="1" dirty="0">
                <a:solidFill>
                  <a:srgbClr val="F7F2E8"/>
                </a:solidFill>
                <a:latin typeface="Cambria" pitchFamily="34" charset="0"/>
                <a:ea typeface="Cambria" pitchFamily="34" charset="-122"/>
                <a:cs typeface="Cambria" pitchFamily="34" charset="-120"/>
              </a:rPr>
              <a:t>starts as a message.</a:t>
            </a:r>
            <a:endParaRPr lang="en-US" sz="4100" dirty="0"/>
          </a:p>
        </p:txBody>
      </p:sp>
      <p:sp>
        <p:nvSpPr>
          <p:cNvPr id="7" name="Text 5"/>
          <p:cNvSpPr/>
          <p:nvPr/>
        </p:nvSpPr>
        <p:spPr>
          <a:xfrm>
            <a:off x="640080" y="2468880"/>
            <a:ext cx="6492240" cy="548640"/>
          </a:xfrm>
          <a:prstGeom prst="rect">
            <a:avLst/>
          </a:prstGeom>
          <a:noFill/>
          <a:ln/>
        </p:spPr>
        <p:txBody>
          <a:bodyPr wrap="square" lIns="0" tIns="0" rIns="0" bIns="0" rtlCol="0" anchor="t"/>
          <a:lstStyle/>
          <a:p>
            <a:pPr algn="l" indent="0" marL="0">
              <a:lnSpc>
                <a:spcPct val="95000"/>
              </a:lnSpc>
              <a:buNone/>
            </a:pPr>
            <a:r>
              <a:rPr lang="en-US" sz="3000" b="1" dirty="0">
                <a:solidFill>
                  <a:srgbClr val="D97706"/>
                </a:solidFill>
                <a:latin typeface="Cambria" pitchFamily="34" charset="0"/>
                <a:ea typeface="Cambria" pitchFamily="34" charset="-122"/>
                <a:cs typeface="Cambria" pitchFamily="34" charset="-120"/>
              </a:rPr>
              <a:t>Make sure it becomes one.</a:t>
            </a:r>
            <a:endParaRPr lang="en-US" sz="3000" dirty="0"/>
          </a:p>
        </p:txBody>
      </p:sp>
      <p:sp>
        <p:nvSpPr>
          <p:cNvPr id="8" name="Text 6"/>
          <p:cNvSpPr/>
          <p:nvPr/>
        </p:nvSpPr>
        <p:spPr>
          <a:xfrm>
            <a:off x="640080" y="3291840"/>
            <a:ext cx="5989320" cy="1188720"/>
          </a:xfrm>
          <a:prstGeom prst="rect">
            <a:avLst/>
          </a:prstGeom>
          <a:noFill/>
          <a:ln/>
        </p:spPr>
        <p:txBody>
          <a:bodyPr wrap="square" lIns="0" tIns="0" rIns="0" bIns="0" rtlCol="0" anchor="t"/>
          <a:lstStyle/>
          <a:p>
            <a:pPr algn="l" indent="0" marL="0">
              <a:lnSpc>
                <a:spcPct val="108000"/>
              </a:lnSpc>
              <a:buNone/>
            </a:pPr>
            <a:r>
              <a:rPr lang="en-US" sz="1550" dirty="0">
                <a:solidFill>
                  <a:srgbClr val="D9CBB9"/>
                </a:solidFill>
                <a:latin typeface="Calibri" pitchFamily="34" charset="0"/>
                <a:ea typeface="Calibri" pitchFamily="34" charset="-122"/>
                <a:cs typeface="Calibri" pitchFamily="34" charset="-120"/>
              </a:rPr>
              <a:t>SmartOrder Hub turns WhatsApp, email and spreadsheet orders into one reviewable order desk. AI reads the message. Rules check the business. The owner approves.</a:t>
            </a:r>
            <a:endParaRPr lang="en-US" sz="1550" dirty="0"/>
          </a:p>
        </p:txBody>
      </p:sp>
      <p:sp>
        <p:nvSpPr>
          <p:cNvPr id="9" name="Text 7"/>
          <p:cNvSpPr/>
          <p:nvPr/>
        </p:nvSpPr>
        <p:spPr>
          <a:xfrm>
            <a:off x="640080" y="4983480"/>
            <a:ext cx="3657600" cy="310896"/>
          </a:xfrm>
          <a:prstGeom prst="rect">
            <a:avLst/>
          </a:prstGeom>
          <a:noFill/>
          <a:ln/>
        </p:spPr>
        <p:txBody>
          <a:bodyPr wrap="square" lIns="0" tIns="0" rIns="0" bIns="0" rtlCol="0" anchor="t"/>
          <a:lstStyle/>
          <a:p>
            <a:pPr algn="l" indent="0" marL="0">
              <a:lnSpc>
                <a:spcPct val="100000"/>
              </a:lnSpc>
              <a:buNone/>
            </a:pPr>
            <a:r>
              <a:rPr lang="en-US" sz="1500" b="1" dirty="0">
                <a:solidFill>
                  <a:srgbClr val="F7F2E8"/>
                </a:solidFill>
                <a:latin typeface="Calibri" pitchFamily="34" charset="0"/>
                <a:ea typeface="Calibri" pitchFamily="34" charset="-122"/>
                <a:cs typeface="Calibri" pitchFamily="34" charset="-120"/>
              </a:rPr>
              <a:t>Empathy Coders</a:t>
            </a:r>
            <a:endParaRPr lang="en-US" sz="1500" dirty="0"/>
          </a:p>
        </p:txBody>
      </p:sp>
      <p:sp>
        <p:nvSpPr>
          <p:cNvPr id="10" name="Text 8"/>
          <p:cNvSpPr/>
          <p:nvPr/>
        </p:nvSpPr>
        <p:spPr>
          <a:xfrm>
            <a:off x="640080" y="5321808"/>
            <a:ext cx="5669280" cy="256032"/>
          </a:xfrm>
          <a:prstGeom prst="rect">
            <a:avLst/>
          </a:prstGeom>
          <a:noFill/>
          <a:ln/>
        </p:spPr>
        <p:txBody>
          <a:bodyPr wrap="square" lIns="0" tIns="0" rIns="0" bIns="0" rtlCol="0" anchor="t"/>
          <a:lstStyle/>
          <a:p>
            <a:pPr algn="l" indent="0" marL="0">
              <a:lnSpc>
                <a:spcPct val="100000"/>
              </a:lnSpc>
              <a:buNone/>
            </a:pPr>
            <a:r>
              <a:rPr lang="en-US" sz="1050" dirty="0">
                <a:solidFill>
                  <a:srgbClr val="A89888"/>
                </a:solidFill>
                <a:latin typeface="Calibri" pitchFamily="34" charset="0"/>
                <a:ea typeface="Calibri" pitchFamily="34" charset="-122"/>
                <a:cs typeface="Calibri" pitchFamily="34" charset="-120"/>
              </a:rPr>
              <a:t>Orbyte Smart SME Challenge  ·  Less busywork, better business</a:t>
            </a:r>
            <a:endParaRPr lang="en-US" sz="1050" dirty="0"/>
          </a:p>
        </p:txBody>
      </p:sp>
      <p:sp>
        <p:nvSpPr>
          <p:cNvPr id="11" name="Text 9"/>
          <p:cNvSpPr/>
          <p:nvPr/>
        </p:nvSpPr>
        <p:spPr>
          <a:xfrm>
            <a:off x="640080" y="6272784"/>
            <a:ext cx="6035040" cy="219456"/>
          </a:xfrm>
          <a:prstGeom prst="rect">
            <a:avLst/>
          </a:prstGeom>
          <a:noFill/>
          <a:ln/>
        </p:spPr>
        <p:txBody>
          <a:bodyPr wrap="square" lIns="0" tIns="0" rIns="0" bIns="0" rtlCol="0" anchor="t"/>
          <a:lstStyle/>
          <a:p>
            <a:pPr algn="l" indent="0" marL="0">
              <a:lnSpc>
                <a:spcPct val="100000"/>
              </a:lnSpc>
              <a:buNone/>
            </a:pPr>
            <a:r>
              <a:rPr lang="en-US" sz="820" dirty="0">
                <a:solidFill>
                  <a:srgbClr val="7F7265"/>
                </a:solidFill>
                <a:latin typeface="Calibri" pitchFamily="34" charset="0"/>
                <a:ea typeface="Calibri" pitchFamily="34" charset="-122"/>
                <a:cs typeface="Calibri" pitchFamily="34" charset="-120"/>
              </a:rPr>
              <a:t>Synthetic data only. No real payments, purchase orders or statutory filings.</a:t>
            </a:r>
            <a:endParaRPr lang="en-US" sz="820" dirty="0"/>
          </a:p>
        </p:txBody>
      </p:sp>
      <p:sp>
        <p:nvSpPr>
          <p:cNvPr id="12" name="Shape 10"/>
          <p:cNvSpPr/>
          <p:nvPr/>
        </p:nvSpPr>
        <p:spPr>
          <a:xfrm>
            <a:off x="7635240" y="960120"/>
            <a:ext cx="3246120" cy="841248"/>
          </a:xfrm>
          <a:prstGeom prst="roundRect">
            <a:avLst>
              <a:gd name="adj" fmla="val 10870"/>
            </a:avLst>
          </a:prstGeom>
          <a:solidFill>
            <a:srgbClr val="FFFDF8"/>
          </a:solidFill>
          <a:ln w="10160">
            <a:solidFill>
              <a:srgbClr val="D8C8B2"/>
            </a:solidFill>
            <a:prstDash val="solid"/>
          </a:ln>
          <a:effectLst>
            <a:outerShdw sx="100000" sy="100000" kx="0" ky="0" algn="bl" rotWithShape="0" blurRad="31750" dist="50800" dir="2700000">
              <a:srgbClr val="4A3B2A">
                <a:alpha val="10000"/>
              </a:srgbClr>
            </a:outerShdw>
          </a:effectLst>
        </p:spPr>
        <p:txBody>
          <a:bodyPr/>
          <a:p/>
        </p:txBody>
      </p:sp>
      <p:sp>
        <p:nvSpPr>
          <p:cNvPr id="13" name="Shape 11"/>
          <p:cNvSpPr/>
          <p:nvPr/>
        </p:nvSpPr>
        <p:spPr>
          <a:xfrm>
            <a:off x="7781544" y="1143000"/>
            <a:ext cx="420624" cy="420624"/>
          </a:xfrm>
          <a:prstGeom prst="roundRect">
            <a:avLst>
              <a:gd name="adj" fmla="val 50000"/>
            </a:avLst>
          </a:prstGeom>
          <a:solidFill>
            <a:srgbClr val="F3EAD9"/>
          </a:solidFill>
          <a:ln w="12700">
            <a:solidFill>
              <a:srgbClr val="F3EAD9"/>
            </a:solidFill>
            <a:prstDash val="solid"/>
          </a:ln>
        </p:spPr>
        <p:txBody>
          <a:bodyPr/>
          <a:p/>
        </p:txBody>
      </p:sp>
      <p:pic>
        <p:nvPicPr>
          <p:cNvPr id="14" name="Image 0" descr="/private/tmp/soh-deck/icons/MessageCircle-green.png">    </p:cNvPr>
          <p:cNvPicPr>
            <a:picLocks noChangeAspect="1"/>
          </p:cNvPicPr>
          <p:nvPr/>
        </p:nvPicPr>
        <p:blipFill>
          <a:blip r:embed="rId1"/>
          <a:stretch>
            <a:fillRect/>
          </a:stretch>
        </p:blipFill>
        <p:spPr>
          <a:xfrm>
            <a:off x="7865669" y="1227125"/>
            <a:ext cx="252374" cy="252374"/>
          </a:xfrm>
          <a:prstGeom prst="rect">
            <a:avLst/>
          </a:prstGeom>
        </p:spPr>
      </p:pic>
      <p:sp>
        <p:nvSpPr>
          <p:cNvPr id="15" name="Text 12"/>
          <p:cNvSpPr/>
          <p:nvPr/>
        </p:nvSpPr>
        <p:spPr>
          <a:xfrm>
            <a:off x="8330184" y="1078992"/>
            <a:ext cx="2331720" cy="182880"/>
          </a:xfrm>
          <a:prstGeom prst="rect">
            <a:avLst/>
          </a:prstGeom>
          <a:noFill/>
          <a:ln/>
        </p:spPr>
        <p:txBody>
          <a:bodyPr wrap="square" lIns="0" tIns="0" rIns="0" bIns="0" rtlCol="0" anchor="t"/>
          <a:lstStyle/>
          <a:p>
            <a:pPr algn="l" indent="0" marL="0">
              <a:lnSpc>
                <a:spcPct val="100000"/>
              </a:lnSpc>
              <a:buNone/>
            </a:pPr>
            <a:r>
              <a:rPr lang="en-US" sz="870" b="1" dirty="0">
                <a:solidFill>
                  <a:srgbClr val="1B1714"/>
                </a:solidFill>
                <a:latin typeface="Calibri" pitchFamily="34" charset="0"/>
                <a:ea typeface="Calibri" pitchFamily="34" charset="-122"/>
                <a:cs typeface="Calibri" pitchFamily="34" charset="-120"/>
              </a:rPr>
              <a:t>WhatsApp  ·  Aisyah</a:t>
            </a:r>
            <a:endParaRPr lang="en-US" sz="870" dirty="0"/>
          </a:p>
        </p:txBody>
      </p:sp>
      <p:sp>
        <p:nvSpPr>
          <p:cNvPr id="16" name="Text 13"/>
          <p:cNvSpPr/>
          <p:nvPr/>
        </p:nvSpPr>
        <p:spPr>
          <a:xfrm>
            <a:off x="8330184" y="1289304"/>
            <a:ext cx="2331720" cy="384048"/>
          </a:xfrm>
          <a:prstGeom prst="rect">
            <a:avLst/>
          </a:prstGeom>
          <a:noFill/>
          <a:ln/>
        </p:spPr>
        <p:txBody>
          <a:bodyPr wrap="square" lIns="0" tIns="0" rIns="0" bIns="0" rtlCol="0" anchor="t"/>
          <a:lstStyle/>
          <a:p>
            <a:pPr algn="l" indent="0" marL="0">
              <a:lnSpc>
                <a:spcPct val="96000"/>
              </a:lnSpc>
              <a:buNone/>
            </a:pPr>
            <a:r>
              <a:rPr lang="en-US" sz="850" dirty="0">
                <a:solidFill>
                  <a:srgbClr val="6B6258"/>
                </a:solidFill>
                <a:latin typeface="Calibri" pitchFamily="34" charset="0"/>
                <a:ea typeface="Calibri" pitchFamily="34" charset="-122"/>
                <a:cs typeface="Calibri" pitchFamily="34" charset="-120"/>
              </a:rPr>
              <a:t>240 kopi 3-in-1 + 30 kuih lapis. Deliver 28 Oct before 3pm.</a:t>
            </a:r>
            <a:endParaRPr lang="en-US" sz="850" dirty="0"/>
          </a:p>
        </p:txBody>
      </p:sp>
      <p:sp>
        <p:nvSpPr>
          <p:cNvPr id="17" name="Shape 14"/>
          <p:cNvSpPr/>
          <p:nvPr/>
        </p:nvSpPr>
        <p:spPr>
          <a:xfrm>
            <a:off x="7882128" y="2011680"/>
            <a:ext cx="3246120" cy="841248"/>
          </a:xfrm>
          <a:prstGeom prst="roundRect">
            <a:avLst>
              <a:gd name="adj" fmla="val 10870"/>
            </a:avLst>
          </a:prstGeom>
          <a:solidFill>
            <a:srgbClr val="FFFDF8"/>
          </a:solidFill>
          <a:ln w="10160">
            <a:solidFill>
              <a:srgbClr val="D8C8B2"/>
            </a:solidFill>
            <a:prstDash val="solid"/>
          </a:ln>
          <a:effectLst>
            <a:outerShdw sx="100000" sy="100000" kx="0" ky="0" algn="bl" rotWithShape="0" blurRad="31750" dist="50800" dir="2700000">
              <a:srgbClr val="4A3B2A">
                <a:alpha val="10000"/>
              </a:srgbClr>
            </a:outerShdw>
          </a:effectLst>
        </p:spPr>
        <p:txBody>
          <a:bodyPr/>
          <a:p/>
        </p:txBody>
      </p:sp>
      <p:sp>
        <p:nvSpPr>
          <p:cNvPr id="18" name="Shape 15"/>
          <p:cNvSpPr/>
          <p:nvPr/>
        </p:nvSpPr>
        <p:spPr>
          <a:xfrm>
            <a:off x="8028432" y="2194560"/>
            <a:ext cx="420624" cy="420624"/>
          </a:xfrm>
          <a:prstGeom prst="roundRect">
            <a:avLst>
              <a:gd name="adj" fmla="val 50000"/>
            </a:avLst>
          </a:prstGeom>
          <a:solidFill>
            <a:srgbClr val="F3EAD9"/>
          </a:solidFill>
          <a:ln w="12700">
            <a:solidFill>
              <a:srgbClr val="F3EAD9"/>
            </a:solidFill>
            <a:prstDash val="solid"/>
          </a:ln>
        </p:spPr>
        <p:txBody>
          <a:bodyPr/>
          <a:p/>
        </p:txBody>
      </p:sp>
      <p:pic>
        <p:nvPicPr>
          <p:cNvPr id="19" name="Image 1" descr="/private/tmp/soh-deck/icons/Mail-blue.png">    </p:cNvPr>
          <p:cNvPicPr>
            <a:picLocks noChangeAspect="1"/>
          </p:cNvPicPr>
          <p:nvPr/>
        </p:nvPicPr>
        <p:blipFill>
          <a:blip r:embed="rId2"/>
          <a:stretch>
            <a:fillRect/>
          </a:stretch>
        </p:blipFill>
        <p:spPr>
          <a:xfrm>
            <a:off x="8112557" y="2278685"/>
            <a:ext cx="252374" cy="252374"/>
          </a:xfrm>
          <a:prstGeom prst="rect">
            <a:avLst/>
          </a:prstGeom>
        </p:spPr>
      </p:pic>
      <p:sp>
        <p:nvSpPr>
          <p:cNvPr id="20" name="Text 16"/>
          <p:cNvSpPr/>
          <p:nvPr/>
        </p:nvSpPr>
        <p:spPr>
          <a:xfrm>
            <a:off x="8577072" y="2130552"/>
            <a:ext cx="2331720" cy="182880"/>
          </a:xfrm>
          <a:prstGeom prst="rect">
            <a:avLst/>
          </a:prstGeom>
          <a:noFill/>
          <a:ln/>
        </p:spPr>
        <p:txBody>
          <a:bodyPr wrap="square" lIns="0" tIns="0" rIns="0" bIns="0" rtlCol="0" anchor="t"/>
          <a:lstStyle/>
          <a:p>
            <a:pPr algn="l" indent="0" marL="0">
              <a:lnSpc>
                <a:spcPct val="100000"/>
              </a:lnSpc>
              <a:buNone/>
            </a:pPr>
            <a:r>
              <a:rPr lang="en-US" sz="870" b="1" dirty="0">
                <a:solidFill>
                  <a:srgbClr val="1B1714"/>
                </a:solidFill>
                <a:latin typeface="Calibri" pitchFamily="34" charset="0"/>
                <a:ea typeface="Calibri" pitchFamily="34" charset="-122"/>
                <a:cs typeface="Calibri" pitchFamily="34" charset="-120"/>
              </a:rPr>
              <a:t>Email  ·  Sarah</a:t>
            </a:r>
            <a:endParaRPr lang="en-US" sz="870" dirty="0"/>
          </a:p>
        </p:txBody>
      </p:sp>
      <p:sp>
        <p:nvSpPr>
          <p:cNvPr id="21" name="Text 17"/>
          <p:cNvSpPr/>
          <p:nvPr/>
        </p:nvSpPr>
        <p:spPr>
          <a:xfrm>
            <a:off x="8577072" y="2340864"/>
            <a:ext cx="2331720" cy="384048"/>
          </a:xfrm>
          <a:prstGeom prst="rect">
            <a:avLst/>
          </a:prstGeom>
          <a:noFill/>
          <a:ln/>
        </p:spPr>
        <p:txBody>
          <a:bodyPr wrap="square" lIns="0" tIns="0" rIns="0" bIns="0" rtlCol="0" anchor="t"/>
          <a:lstStyle/>
          <a:p>
            <a:pPr algn="l" indent="0" marL="0">
              <a:lnSpc>
                <a:spcPct val="96000"/>
              </a:lnSpc>
              <a:buNone/>
            </a:pPr>
            <a:r>
              <a:rPr lang="en-US" sz="850" dirty="0">
                <a:solidFill>
                  <a:srgbClr val="6B6258"/>
                </a:solidFill>
                <a:latin typeface="Calibri" pitchFamily="34" charset="0"/>
                <a:ea typeface="Calibri" pitchFamily="34" charset="-122"/>
                <a:cs typeface="Calibri" pitchFamily="34" charset="-120"/>
              </a:rPr>
              <a:t>200 nasi lemak + 100 kaya toast. Delivery 27 Oct, 11:30am.</a:t>
            </a:r>
            <a:endParaRPr lang="en-US" sz="850" dirty="0"/>
          </a:p>
        </p:txBody>
      </p:sp>
      <p:sp>
        <p:nvSpPr>
          <p:cNvPr id="22" name="Shape 18"/>
          <p:cNvSpPr/>
          <p:nvPr/>
        </p:nvSpPr>
        <p:spPr>
          <a:xfrm>
            <a:off x="8129016" y="3063240"/>
            <a:ext cx="3246120" cy="841248"/>
          </a:xfrm>
          <a:prstGeom prst="roundRect">
            <a:avLst>
              <a:gd name="adj" fmla="val 10870"/>
            </a:avLst>
          </a:prstGeom>
          <a:solidFill>
            <a:srgbClr val="FFFDF8"/>
          </a:solidFill>
          <a:ln w="10160">
            <a:solidFill>
              <a:srgbClr val="D8C8B2"/>
            </a:solidFill>
            <a:prstDash val="solid"/>
          </a:ln>
          <a:effectLst>
            <a:outerShdw sx="100000" sy="100000" kx="0" ky="0" algn="bl" rotWithShape="0" blurRad="31750" dist="50800" dir="2700000">
              <a:srgbClr val="4A3B2A">
                <a:alpha val="10000"/>
              </a:srgbClr>
            </a:outerShdw>
          </a:effectLst>
        </p:spPr>
        <p:txBody>
          <a:bodyPr/>
          <a:p/>
        </p:txBody>
      </p:sp>
      <p:sp>
        <p:nvSpPr>
          <p:cNvPr id="23" name="Shape 19"/>
          <p:cNvSpPr/>
          <p:nvPr/>
        </p:nvSpPr>
        <p:spPr>
          <a:xfrm>
            <a:off x="8275320" y="3246120"/>
            <a:ext cx="420624" cy="420624"/>
          </a:xfrm>
          <a:prstGeom prst="roundRect">
            <a:avLst>
              <a:gd name="adj" fmla="val 50000"/>
            </a:avLst>
          </a:prstGeom>
          <a:solidFill>
            <a:srgbClr val="F3EAD9"/>
          </a:solidFill>
          <a:ln w="12700">
            <a:solidFill>
              <a:srgbClr val="F3EAD9"/>
            </a:solidFill>
            <a:prstDash val="solid"/>
          </a:ln>
        </p:spPr>
        <p:txBody>
          <a:bodyPr/>
          <a:p/>
        </p:txBody>
      </p:sp>
      <p:pic>
        <p:nvPicPr>
          <p:cNvPr id="24" name="Image 2" descr="/private/tmp/soh-deck/icons/FileSpreadsheet-amber.png">    </p:cNvPr>
          <p:cNvPicPr>
            <a:picLocks noChangeAspect="1"/>
          </p:cNvPicPr>
          <p:nvPr/>
        </p:nvPicPr>
        <p:blipFill>
          <a:blip r:embed="rId3"/>
          <a:stretch>
            <a:fillRect/>
          </a:stretch>
        </p:blipFill>
        <p:spPr>
          <a:xfrm>
            <a:off x="8359445" y="3330245"/>
            <a:ext cx="252374" cy="252374"/>
          </a:xfrm>
          <a:prstGeom prst="rect">
            <a:avLst/>
          </a:prstGeom>
        </p:spPr>
      </p:pic>
      <p:sp>
        <p:nvSpPr>
          <p:cNvPr id="25" name="Text 20"/>
          <p:cNvSpPr/>
          <p:nvPr/>
        </p:nvSpPr>
        <p:spPr>
          <a:xfrm>
            <a:off x="8823960" y="3182112"/>
            <a:ext cx="2331720" cy="182880"/>
          </a:xfrm>
          <a:prstGeom prst="rect">
            <a:avLst/>
          </a:prstGeom>
          <a:noFill/>
          <a:ln/>
        </p:spPr>
        <p:txBody>
          <a:bodyPr wrap="square" lIns="0" tIns="0" rIns="0" bIns="0" rtlCol="0" anchor="t"/>
          <a:lstStyle/>
          <a:p>
            <a:pPr algn="l" indent="0" marL="0">
              <a:lnSpc>
                <a:spcPct val="100000"/>
              </a:lnSpc>
              <a:buNone/>
            </a:pPr>
            <a:r>
              <a:rPr lang="en-US" sz="870" b="1" dirty="0">
                <a:solidFill>
                  <a:srgbClr val="1B1714"/>
                </a:solidFill>
                <a:latin typeface="Calibri" pitchFamily="34" charset="0"/>
                <a:ea typeface="Calibri" pitchFamily="34" charset="-122"/>
                <a:cs typeface="Calibri" pitchFamily="34" charset="-120"/>
              </a:rPr>
              <a:t>Spreadsheet  ·  Mr Lee</a:t>
            </a:r>
            <a:endParaRPr lang="en-US" sz="870" dirty="0"/>
          </a:p>
        </p:txBody>
      </p:sp>
      <p:sp>
        <p:nvSpPr>
          <p:cNvPr id="26" name="Text 21"/>
          <p:cNvSpPr/>
          <p:nvPr/>
        </p:nvSpPr>
        <p:spPr>
          <a:xfrm>
            <a:off x="8823960" y="3392424"/>
            <a:ext cx="2331720" cy="384048"/>
          </a:xfrm>
          <a:prstGeom prst="rect">
            <a:avLst/>
          </a:prstGeom>
          <a:noFill/>
          <a:ln/>
        </p:spPr>
        <p:txBody>
          <a:bodyPr wrap="square" lIns="0" tIns="0" rIns="0" bIns="0" rtlCol="0" anchor="t"/>
          <a:lstStyle/>
          <a:p>
            <a:pPr algn="l" indent="0" marL="0">
              <a:lnSpc>
                <a:spcPct val="96000"/>
              </a:lnSpc>
              <a:buNone/>
            </a:pPr>
            <a:r>
              <a:rPr lang="en-US" sz="850" dirty="0">
                <a:solidFill>
                  <a:srgbClr val="6B6258"/>
                </a:solidFill>
                <a:latin typeface="Calibri" pitchFamily="34" charset="0"/>
                <a:ea typeface="Calibri" pitchFamily="34" charset="-122"/>
                <a:cs typeface="Calibri" pitchFamily="34" charset="-120"/>
              </a:rPr>
              <a:t>12 nasi lemak + 20 kaya toast. Address missing.</a:t>
            </a:r>
            <a:endParaRPr lang="en-US" sz="850" dirty="0"/>
          </a:p>
        </p:txBody>
      </p:sp>
      <p:pic>
        <p:nvPicPr>
          <p:cNvPr id="27" name="Image 3" descr="/private/tmp/soh-deck/icons/ArrowRight-amber.png">    </p:cNvPr>
          <p:cNvPicPr>
            <a:picLocks noChangeAspect="1"/>
          </p:cNvPicPr>
          <p:nvPr/>
        </p:nvPicPr>
        <p:blipFill>
          <a:blip r:embed="rId4"/>
          <a:stretch>
            <a:fillRect/>
          </a:stretch>
        </p:blipFill>
        <p:spPr>
          <a:xfrm>
            <a:off x="9253728" y="4087368"/>
            <a:ext cx="256032" cy="256032"/>
          </a:xfrm>
          <a:prstGeom prst="rect">
            <a:avLst/>
          </a:prstGeom>
        </p:spPr>
      </p:pic>
      <p:sp>
        <p:nvSpPr>
          <p:cNvPr id="28" name="Shape 22"/>
          <p:cNvSpPr/>
          <p:nvPr/>
        </p:nvSpPr>
        <p:spPr>
          <a:xfrm>
            <a:off x="7635240" y="4526280"/>
            <a:ext cx="3703320" cy="1261872"/>
          </a:xfrm>
          <a:prstGeom prst="roundRect">
            <a:avLst>
              <a:gd name="adj" fmla="val 8696"/>
            </a:avLst>
          </a:prstGeom>
          <a:solidFill>
            <a:srgbClr val="2D2620"/>
          </a:solidFill>
          <a:ln w="10160">
            <a:solidFill>
              <a:srgbClr val="5A4939"/>
            </a:solidFill>
            <a:prstDash val="solid"/>
          </a:ln>
          <a:effectLst>
            <a:outerShdw sx="100000" sy="100000" kx="0" ky="0" algn="bl" rotWithShape="0" blurRad="31750" dist="50800" dir="2700000">
              <a:srgbClr val="4A3B2A">
                <a:alpha val="10000"/>
              </a:srgbClr>
            </a:outerShdw>
          </a:effectLst>
        </p:spPr>
        <p:txBody>
          <a:bodyPr/>
          <a:p/>
        </p:txBody>
      </p:sp>
      <p:sp>
        <p:nvSpPr>
          <p:cNvPr id="29" name="Shape 23"/>
          <p:cNvSpPr/>
          <p:nvPr/>
        </p:nvSpPr>
        <p:spPr>
          <a:xfrm>
            <a:off x="7818120" y="4663440"/>
            <a:ext cx="1417320" cy="228600"/>
          </a:xfrm>
          <a:prstGeom prst="roundRect">
            <a:avLst>
              <a:gd name="adj" fmla="val 50000"/>
            </a:avLst>
          </a:prstGeom>
          <a:solidFill>
            <a:srgbClr val="3E3328"/>
          </a:solidFill>
          <a:ln w="7620">
            <a:solidFill>
              <a:srgbClr val="5A4939"/>
            </a:solidFill>
            <a:prstDash val="solid"/>
          </a:ln>
        </p:spPr>
        <p:txBody>
          <a:bodyPr/>
          <a:p/>
        </p:txBody>
      </p:sp>
      <p:sp>
        <p:nvSpPr>
          <p:cNvPr id="30" name="Text 24"/>
          <p:cNvSpPr/>
          <p:nvPr/>
        </p:nvSpPr>
        <p:spPr>
          <a:xfrm>
            <a:off x="7909560" y="4681728"/>
            <a:ext cx="1234440" cy="201168"/>
          </a:xfrm>
          <a:prstGeom prst="rect">
            <a:avLst/>
          </a:prstGeom>
          <a:noFill/>
          <a:ln/>
        </p:spPr>
        <p:txBody>
          <a:bodyPr wrap="square" lIns="0" tIns="0" rIns="0" bIns="0" rtlCol="0" anchor="ctr"/>
          <a:lstStyle/>
          <a:p>
            <a:pPr algn="ctr" indent="0" marL="0">
              <a:lnSpc>
                <a:spcPct val="100000"/>
              </a:lnSpc>
              <a:buNone/>
            </a:pPr>
            <a:r>
              <a:rPr lang="en-US" sz="720" b="1" spc="120" kern="0" dirty="0">
                <a:solidFill>
                  <a:srgbClr val="D97706"/>
                </a:solidFill>
                <a:latin typeface="Calibri" pitchFamily="34" charset="0"/>
                <a:ea typeface="Calibri" pitchFamily="34" charset="-122"/>
                <a:cs typeface="Calibri" pitchFamily="34" charset="-120"/>
              </a:rPr>
              <a:t>READY TO REVIEW</a:t>
            </a:r>
            <a:endParaRPr lang="en-US" sz="720" dirty="0"/>
          </a:p>
        </p:txBody>
      </p:sp>
      <p:sp>
        <p:nvSpPr>
          <p:cNvPr id="31" name="Text 25"/>
          <p:cNvSpPr/>
          <p:nvPr/>
        </p:nvSpPr>
        <p:spPr>
          <a:xfrm>
            <a:off x="7818120" y="4983480"/>
            <a:ext cx="3246120" cy="219456"/>
          </a:xfrm>
          <a:prstGeom prst="rect">
            <a:avLst/>
          </a:prstGeom>
          <a:noFill/>
          <a:ln/>
        </p:spPr>
        <p:txBody>
          <a:bodyPr wrap="square" lIns="0" tIns="0" rIns="0" bIns="0" rtlCol="0" anchor="t"/>
          <a:lstStyle/>
          <a:p>
            <a:pPr algn="l" indent="0" marL="0">
              <a:lnSpc>
                <a:spcPct val="100000"/>
              </a:lnSpc>
              <a:buNone/>
            </a:pPr>
            <a:r>
              <a:rPr lang="en-US" sz="1020" b="1" dirty="0">
                <a:solidFill>
                  <a:srgbClr val="F7F2E8"/>
                </a:solidFill>
                <a:latin typeface="Calibri" pitchFamily="34" charset="0"/>
                <a:ea typeface="Calibri" pitchFamily="34" charset="-122"/>
                <a:cs typeface="Calibri" pitchFamily="34" charset="-120"/>
              </a:rPr>
              <a:t>ORD-0001  ·  Aisyah Rahman</a:t>
            </a:r>
            <a:endParaRPr lang="en-US" sz="1020" dirty="0"/>
          </a:p>
        </p:txBody>
      </p:sp>
      <p:sp>
        <p:nvSpPr>
          <p:cNvPr id="32" name="Text 26"/>
          <p:cNvSpPr/>
          <p:nvPr/>
        </p:nvSpPr>
        <p:spPr>
          <a:xfrm>
            <a:off x="7818120" y="5239512"/>
            <a:ext cx="3246120" cy="201168"/>
          </a:xfrm>
          <a:prstGeom prst="rect">
            <a:avLst/>
          </a:prstGeom>
          <a:noFill/>
          <a:ln/>
        </p:spPr>
        <p:txBody>
          <a:bodyPr wrap="square" lIns="0" tIns="0" rIns="0" bIns="0" rtlCol="0" anchor="t"/>
          <a:lstStyle/>
          <a:p>
            <a:pPr algn="l" indent="0" marL="0">
              <a:lnSpc>
                <a:spcPct val="100000"/>
              </a:lnSpc>
              <a:buNone/>
            </a:pPr>
            <a:r>
              <a:rPr lang="en-US" sz="860" dirty="0">
                <a:solidFill>
                  <a:srgbClr val="C9BBAA"/>
                </a:solidFill>
                <a:latin typeface="Calibri" pitchFamily="34" charset="0"/>
                <a:ea typeface="Calibri" pitchFamily="34" charset="-122"/>
                <a:cs typeface="Calibri" pitchFamily="34" charset="-120"/>
              </a:rPr>
              <a:t>RM 828.00  ·  Medium risk  ·  2 items short</a:t>
            </a:r>
            <a:endParaRPr lang="en-US" sz="860" dirty="0"/>
          </a:p>
        </p:txBody>
      </p:sp>
      <p:sp>
        <p:nvSpPr>
          <p:cNvPr id="33" name="Shape 27"/>
          <p:cNvSpPr/>
          <p:nvPr/>
        </p:nvSpPr>
        <p:spPr>
          <a:xfrm>
            <a:off x="10012680" y="5440680"/>
            <a:ext cx="1078992" cy="237744"/>
          </a:xfrm>
          <a:prstGeom prst="roundRect">
            <a:avLst>
              <a:gd name="adj" fmla="val 50000"/>
            </a:avLst>
          </a:prstGeom>
          <a:solidFill>
            <a:srgbClr val="2F6B4F"/>
          </a:solidFill>
          <a:ln w="7620">
            <a:solidFill>
              <a:srgbClr val="2F6B4F"/>
            </a:solidFill>
            <a:prstDash val="solid"/>
          </a:ln>
        </p:spPr>
        <p:txBody>
          <a:bodyPr/>
          <a:p/>
        </p:txBody>
      </p:sp>
      <p:sp>
        <p:nvSpPr>
          <p:cNvPr id="34" name="Text 28"/>
          <p:cNvSpPr/>
          <p:nvPr/>
        </p:nvSpPr>
        <p:spPr>
          <a:xfrm>
            <a:off x="10104120" y="5458968"/>
            <a:ext cx="896112" cy="210312"/>
          </a:xfrm>
          <a:prstGeom prst="rect">
            <a:avLst/>
          </a:prstGeom>
          <a:noFill/>
          <a:ln/>
        </p:spPr>
        <p:txBody>
          <a:bodyPr wrap="square" lIns="0" tIns="0" rIns="0" bIns="0" rtlCol="0" anchor="ctr"/>
          <a:lstStyle/>
          <a:p>
            <a:pPr algn="ctr" indent="0" marL="0">
              <a:lnSpc>
                <a:spcPct val="100000"/>
              </a:lnSpc>
              <a:buNone/>
            </a:pPr>
            <a:r>
              <a:rPr lang="en-US" sz="750" b="1" spc="120" kern="0" dirty="0">
                <a:solidFill>
                  <a:srgbClr val="FFFFFF"/>
                </a:solidFill>
                <a:latin typeface="Calibri" pitchFamily="34" charset="0"/>
                <a:ea typeface="Calibri" pitchFamily="34" charset="-122"/>
                <a:cs typeface="Calibri" pitchFamily="34" charset="-120"/>
              </a:rPr>
              <a:t>CONFIRM</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THE PROBLEM</a:t>
            </a:r>
            <a:endParaRPr lang="en-US" sz="900" dirty="0"/>
          </a:p>
        </p:txBody>
      </p:sp>
      <p:sp>
        <p:nvSpPr>
          <p:cNvPr id="3" name="Text 1"/>
          <p:cNvSpPr/>
          <p:nvPr/>
        </p:nvSpPr>
        <p:spPr>
          <a:xfrm>
            <a:off x="640080" y="640080"/>
            <a:ext cx="10881360" cy="1280160"/>
          </a:xfrm>
          <a:prstGeom prst="rect">
            <a:avLst/>
          </a:prstGeom>
          <a:noFill/>
          <a:ln/>
        </p:spPr>
        <p:txBody>
          <a:bodyPr wrap="square" lIns="0" tIns="0" rIns="0" bIns="0" rtlCol="0" anchor="t"/>
          <a:lstStyle/>
          <a:p>
            <a:pPr algn="l" indent="0" marL="0">
              <a:lnSpc>
                <a:spcPct val="94000"/>
              </a:lnSpc>
              <a:buNone/>
            </a:pPr>
            <a:r>
              <a:rPr lang="en-US" sz="3400" b="1" dirty="0">
                <a:solidFill>
                  <a:srgbClr val="1B1714"/>
                </a:solidFill>
                <a:latin typeface="Cambria" pitchFamily="34" charset="0"/>
                <a:ea typeface="Cambria" pitchFamily="34" charset="-122"/>
                <a:cs typeface="Cambria" pitchFamily="34" charset="-120"/>
              </a:rPr>
              <a:t>One order. Six messages.</a:t>
            </a:r>
            <a:endParaRPr lang="en-US" sz="3400" dirty="0"/>
          </a:p>
          <a:p>
            <a:pPr algn="l" indent="0" marL="0">
              <a:lnSpc>
                <a:spcPct val="94000"/>
              </a:lnSpc>
              <a:buNone/>
            </a:pPr>
            <a:r>
              <a:rPr lang="en-US" sz="3400" b="1" dirty="0">
                <a:solidFill>
                  <a:srgbClr val="1B1714"/>
                </a:solidFill>
                <a:latin typeface="Cambria" pitchFamily="34" charset="0"/>
                <a:ea typeface="Cambria" pitchFamily="34" charset="-122"/>
                <a:cs typeface="Cambria" pitchFamily="34" charset="-120"/>
              </a:rPr>
              <a:t>Three places to check.</a:t>
            </a:r>
            <a:endParaRPr lang="en-US" sz="3400" dirty="0"/>
          </a:p>
        </p:txBody>
      </p:sp>
      <p:sp>
        <p:nvSpPr>
          <p:cNvPr id="4" name="Text 2"/>
          <p:cNvSpPr/>
          <p:nvPr/>
        </p:nvSpPr>
        <p:spPr>
          <a:xfrm>
            <a:off x="640080" y="2084832"/>
            <a:ext cx="4892040" cy="1508760"/>
          </a:xfrm>
          <a:prstGeom prst="rect">
            <a:avLst/>
          </a:prstGeom>
          <a:noFill/>
          <a:ln/>
        </p:spPr>
        <p:txBody>
          <a:bodyPr wrap="square" lIns="0" tIns="0" rIns="0" bIns="0" rtlCol="0" anchor="t"/>
          <a:lstStyle/>
          <a:p>
            <a:pPr algn="l" indent="0" marL="0">
              <a:lnSpc>
                <a:spcPct val="108000"/>
              </a:lnSpc>
              <a:buNone/>
            </a:pPr>
            <a:r>
              <a:rPr lang="en-US" sz="1420" dirty="0">
                <a:solidFill>
                  <a:srgbClr val="6B6258"/>
                </a:solidFill>
                <a:latin typeface="Calibri" pitchFamily="34" charset="0"/>
                <a:ea typeface="Calibri" pitchFamily="34" charset="-122"/>
                <a:cs typeface="Calibri" pitchFamily="34" charset="-120"/>
              </a:rPr>
              <a:t>A small coffee supplier takes orders on WhatsApp, receives POs by email and keeps stock in a spreadsheet. The owner re-types the same order, checks stock from memory, guesses supplier lead time, then decides whether the margin is worth it.</a:t>
            </a:r>
            <a:endParaRPr lang="en-US" sz="1420" dirty="0"/>
          </a:p>
        </p:txBody>
      </p:sp>
      <p:sp>
        <p:nvSpPr>
          <p:cNvPr id="5" name="Text 3"/>
          <p:cNvSpPr/>
          <p:nvPr/>
        </p:nvSpPr>
        <p:spPr>
          <a:xfrm>
            <a:off x="640080" y="3730752"/>
            <a:ext cx="4800600" cy="731520"/>
          </a:xfrm>
          <a:prstGeom prst="rect">
            <a:avLst/>
          </a:prstGeom>
          <a:noFill/>
          <a:ln/>
        </p:spPr>
        <p:txBody>
          <a:bodyPr wrap="square" lIns="0" tIns="0" rIns="0" bIns="0" rtlCol="0" anchor="t"/>
          <a:lstStyle/>
          <a:p>
            <a:pPr algn="l" indent="0" marL="0">
              <a:lnSpc>
                <a:spcPct val="100000"/>
              </a:lnSpc>
              <a:buNone/>
            </a:pPr>
            <a:r>
              <a:rPr lang="en-US" sz="1650" b="1" dirty="0">
                <a:solidFill>
                  <a:srgbClr val="1B1714"/>
                </a:solidFill>
                <a:latin typeface="Cambria" pitchFamily="34" charset="0"/>
                <a:ea typeface="Cambria" pitchFamily="34" charset="-122"/>
                <a:cs typeface="Cambria" pitchFamily="34" charset="-120"/>
              </a:rPr>
              <a:t>One missed message becomes a missed sale.</a:t>
            </a:r>
            <a:endParaRPr lang="en-US" sz="1650" dirty="0"/>
          </a:p>
          <a:p>
            <a:pPr algn="l" indent="0" marL="0">
              <a:lnSpc>
                <a:spcPct val="100000"/>
              </a:lnSpc>
              <a:buNone/>
            </a:pPr>
            <a:r>
              <a:rPr lang="en-US" sz="1650" b="1" dirty="0">
                <a:solidFill>
                  <a:srgbClr val="1B1714"/>
                </a:solidFill>
                <a:latin typeface="Cambria" pitchFamily="34" charset="0"/>
                <a:ea typeface="Cambria" pitchFamily="34" charset="-122"/>
                <a:cs typeface="Cambria" pitchFamily="34" charset="-120"/>
              </a:rPr>
              <a:t>One copy error becomes a wrong delivery.</a:t>
            </a:r>
            <a:endParaRPr lang="en-US" sz="1650" dirty="0"/>
          </a:p>
        </p:txBody>
      </p:sp>
      <p:sp>
        <p:nvSpPr>
          <p:cNvPr id="6" name="Shape 4"/>
          <p:cNvSpPr/>
          <p:nvPr/>
        </p:nvSpPr>
        <p:spPr>
          <a:xfrm>
            <a:off x="640080" y="4919472"/>
            <a:ext cx="4892040" cy="841248"/>
          </a:xfrm>
          <a:prstGeom prst="roundRect">
            <a:avLst>
              <a:gd name="adj" fmla="val 13043"/>
            </a:avLst>
          </a:prstGeom>
          <a:solidFill>
            <a:srgbClr val="F1E6D4"/>
          </a:solidFill>
          <a:ln w="10160">
            <a:solidFill>
              <a:srgbClr val="E2CFB4"/>
            </a:solidFill>
            <a:prstDash val="solid"/>
          </a:ln>
          <a:effectLst>
            <a:outerShdw sx="100000" sy="100000" kx="0" ky="0" algn="bl" rotWithShape="0" blurRad="31750" dist="50800" dir="2700000">
              <a:srgbClr val="4A3B2A">
                <a:alpha val="10000"/>
              </a:srgbClr>
            </a:outerShdw>
          </a:effectLst>
        </p:spPr>
        <p:txBody>
          <a:bodyPr/>
          <a:p/>
        </p:txBody>
      </p:sp>
      <p:sp>
        <p:nvSpPr>
          <p:cNvPr id="7" name="Shape 5"/>
          <p:cNvSpPr/>
          <p:nvPr/>
        </p:nvSpPr>
        <p:spPr>
          <a:xfrm>
            <a:off x="822960" y="5102352"/>
            <a:ext cx="420624" cy="420624"/>
          </a:xfrm>
          <a:prstGeom prst="roundRect">
            <a:avLst>
              <a:gd name="adj" fmla="val 50000"/>
            </a:avLst>
          </a:prstGeom>
          <a:solidFill>
            <a:srgbClr val="F7E9D2"/>
          </a:solidFill>
          <a:ln w="12700">
            <a:solidFill>
              <a:srgbClr val="F7E9D2"/>
            </a:solidFill>
            <a:prstDash val="solid"/>
          </a:ln>
        </p:spPr>
        <p:txBody>
          <a:bodyPr/>
          <a:p/>
        </p:txBody>
      </p:sp>
      <p:pic>
        <p:nvPicPr>
          <p:cNvPr id="8" name="Image 0" descr="/private/tmp/soh-deck/icons/Clock-amber.png">    </p:cNvPr>
          <p:cNvPicPr>
            <a:picLocks noChangeAspect="1"/>
          </p:cNvPicPr>
          <p:nvPr/>
        </p:nvPicPr>
        <p:blipFill>
          <a:blip r:embed="rId1"/>
          <a:stretch>
            <a:fillRect/>
          </a:stretch>
        </p:blipFill>
        <p:spPr>
          <a:xfrm>
            <a:off x="907085" y="5186477"/>
            <a:ext cx="252374" cy="252374"/>
          </a:xfrm>
          <a:prstGeom prst="rect">
            <a:avLst/>
          </a:prstGeom>
        </p:spPr>
      </p:pic>
      <p:sp>
        <p:nvSpPr>
          <p:cNvPr id="9" name="Text 6"/>
          <p:cNvSpPr/>
          <p:nvPr/>
        </p:nvSpPr>
        <p:spPr>
          <a:xfrm>
            <a:off x="1389888" y="5129784"/>
            <a:ext cx="3886200" cy="228600"/>
          </a:xfrm>
          <a:prstGeom prst="rect">
            <a:avLst/>
          </a:prstGeom>
          <a:noFill/>
          <a:ln/>
        </p:spPr>
        <p:txBody>
          <a:bodyPr wrap="square" lIns="0" tIns="0" rIns="0" bIns="0" rtlCol="0" anchor="t"/>
          <a:lstStyle/>
          <a:p>
            <a:pPr algn="l" indent="0" marL="0">
              <a:lnSpc>
                <a:spcPct val="100000"/>
              </a:lnSpc>
              <a:buNone/>
            </a:pPr>
            <a:r>
              <a:rPr lang="en-US" sz="1150" b="1" dirty="0">
                <a:solidFill>
                  <a:srgbClr val="1B1714"/>
                </a:solidFill>
                <a:latin typeface="Calibri" pitchFamily="34" charset="0"/>
                <a:ea typeface="Calibri" pitchFamily="34" charset="-122"/>
                <a:cs typeface="Calibri" pitchFamily="34" charset="-120"/>
              </a:rPr>
              <a:t>The work is recurring. The cost compounds.</a:t>
            </a:r>
            <a:endParaRPr lang="en-US" sz="1150" dirty="0"/>
          </a:p>
        </p:txBody>
      </p:sp>
      <p:sp>
        <p:nvSpPr>
          <p:cNvPr id="10" name="Text 7"/>
          <p:cNvSpPr/>
          <p:nvPr/>
        </p:nvSpPr>
        <p:spPr>
          <a:xfrm>
            <a:off x="1389888" y="5376672"/>
            <a:ext cx="3886200" cy="182880"/>
          </a:xfrm>
          <a:prstGeom prst="rect">
            <a:avLst/>
          </a:prstGeom>
          <a:noFill/>
          <a:ln/>
        </p:spPr>
        <p:txBody>
          <a:bodyPr wrap="square" lIns="0" tIns="0" rIns="0" bIns="0" rtlCol="0" anchor="t"/>
          <a:lstStyle/>
          <a:p>
            <a:pPr algn="l" indent="0" marL="0">
              <a:lnSpc>
                <a:spcPct val="100000"/>
              </a:lnSpc>
              <a:buNone/>
            </a:pPr>
            <a:r>
              <a:rPr lang="en-US" sz="880" dirty="0">
                <a:solidFill>
                  <a:srgbClr val="6B6258"/>
                </a:solidFill>
                <a:latin typeface="Calibri" pitchFamily="34" charset="0"/>
                <a:ea typeface="Calibri" pitchFamily="34" charset="-122"/>
                <a:cs typeface="Calibri" pitchFamily="34" charset="-120"/>
              </a:rPr>
              <a:t>Not a one-off admin task — an evening routine.</a:t>
            </a:r>
            <a:endParaRPr lang="en-US" sz="880" dirty="0"/>
          </a:p>
        </p:txBody>
      </p:sp>
      <p:sp>
        <p:nvSpPr>
          <p:cNvPr id="11" name="Shape 8"/>
          <p:cNvSpPr/>
          <p:nvPr/>
        </p:nvSpPr>
        <p:spPr>
          <a:xfrm>
            <a:off x="5989320" y="1572768"/>
            <a:ext cx="5440680" cy="1243584"/>
          </a:xfrm>
          <a:prstGeom prst="roundRect">
            <a:avLst>
              <a:gd name="adj" fmla="val 8824"/>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2" name="Shape 9"/>
          <p:cNvSpPr/>
          <p:nvPr/>
        </p:nvSpPr>
        <p:spPr>
          <a:xfrm>
            <a:off x="6217920" y="1901952"/>
            <a:ext cx="566928" cy="566928"/>
          </a:xfrm>
          <a:prstGeom prst="roundRect">
            <a:avLst>
              <a:gd name="adj" fmla="val 50000"/>
            </a:avLst>
          </a:prstGeom>
          <a:solidFill>
            <a:srgbClr val="E3EBF5"/>
          </a:solidFill>
          <a:ln w="12700">
            <a:solidFill>
              <a:srgbClr val="E3EBF5"/>
            </a:solidFill>
            <a:prstDash val="solid"/>
          </a:ln>
        </p:spPr>
        <p:txBody>
          <a:bodyPr/>
          <a:p/>
        </p:txBody>
      </p:sp>
      <p:pic>
        <p:nvPicPr>
          <p:cNvPr id="13" name="Image 1" descr="/private/tmp/soh-deck/icons/MessageCircle-blue.png">    </p:cNvPr>
          <p:cNvPicPr>
            <a:picLocks noChangeAspect="1"/>
          </p:cNvPicPr>
          <p:nvPr/>
        </p:nvPicPr>
        <p:blipFill>
          <a:blip r:embed="rId2"/>
          <a:stretch>
            <a:fillRect/>
          </a:stretch>
        </p:blipFill>
        <p:spPr>
          <a:xfrm>
            <a:off x="6331306" y="2015338"/>
            <a:ext cx="340157" cy="340157"/>
          </a:xfrm>
          <a:prstGeom prst="rect">
            <a:avLst/>
          </a:prstGeom>
        </p:spPr>
      </p:pic>
      <p:sp>
        <p:nvSpPr>
          <p:cNvPr id="14" name="Text 10"/>
          <p:cNvSpPr/>
          <p:nvPr/>
        </p:nvSpPr>
        <p:spPr>
          <a:xfrm>
            <a:off x="6949440" y="1792224"/>
            <a:ext cx="4206240" cy="228600"/>
          </a:xfrm>
          <a:prstGeom prst="rect">
            <a:avLst/>
          </a:prstGeom>
          <a:noFill/>
          <a:ln/>
        </p:spPr>
        <p:txBody>
          <a:bodyPr wrap="square" lIns="0" tIns="0" rIns="0" bIns="0" rtlCol="0" anchor="t"/>
          <a:lstStyle/>
          <a:p>
            <a:pPr algn="l" indent="0" marL="0">
              <a:lnSpc>
                <a:spcPct val="100000"/>
              </a:lnSpc>
              <a:buNone/>
            </a:pPr>
            <a:r>
              <a:rPr lang="en-US" sz="1350" b="1" dirty="0">
                <a:solidFill>
                  <a:srgbClr val="1B1714"/>
                </a:solidFill>
                <a:latin typeface="Calibri" pitchFamily="34" charset="0"/>
                <a:ea typeface="Calibri" pitchFamily="34" charset="-122"/>
                <a:cs typeface="Calibri" pitchFamily="34" charset="-120"/>
              </a:rPr>
              <a:t>Orders hide in conversations</a:t>
            </a:r>
            <a:endParaRPr lang="en-US" sz="1350" dirty="0"/>
          </a:p>
        </p:txBody>
      </p:sp>
      <p:sp>
        <p:nvSpPr>
          <p:cNvPr id="15" name="Text 11"/>
          <p:cNvSpPr/>
          <p:nvPr/>
        </p:nvSpPr>
        <p:spPr>
          <a:xfrm>
            <a:off x="6949440" y="2084832"/>
            <a:ext cx="4160520" cy="502920"/>
          </a:xfrm>
          <a:prstGeom prst="rect">
            <a:avLst/>
          </a:prstGeom>
          <a:noFill/>
          <a:ln/>
        </p:spPr>
        <p:txBody>
          <a:bodyPr wrap="square" lIns="0" tIns="0" rIns="0" bIns="0" rtlCol="0" anchor="t"/>
          <a:lstStyle/>
          <a:p>
            <a:pPr algn="l" indent="0" marL="0">
              <a:lnSpc>
                <a:spcPct val="100000"/>
              </a:lnSpc>
              <a:buNone/>
            </a:pPr>
            <a:r>
              <a:rPr lang="en-US" sz="1020" dirty="0">
                <a:solidFill>
                  <a:srgbClr val="6B6258"/>
                </a:solidFill>
                <a:latin typeface="Calibri" pitchFamily="34" charset="0"/>
                <a:ea typeface="Calibri" pitchFamily="34" charset="-122"/>
                <a:cs typeface="Calibri" pitchFamily="34" charset="-120"/>
              </a:rPr>
              <a:t>Chats, DMs and inboxes are not an order desk. The order is somewhere between the small talk.</a:t>
            </a:r>
            <a:endParaRPr lang="en-US" sz="1020" dirty="0"/>
          </a:p>
        </p:txBody>
      </p:sp>
      <p:sp>
        <p:nvSpPr>
          <p:cNvPr id="16" name="Shape 12"/>
          <p:cNvSpPr/>
          <p:nvPr/>
        </p:nvSpPr>
        <p:spPr>
          <a:xfrm>
            <a:off x="5989320" y="3054096"/>
            <a:ext cx="5440680" cy="1243584"/>
          </a:xfrm>
          <a:prstGeom prst="roundRect">
            <a:avLst>
              <a:gd name="adj" fmla="val 8824"/>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7" name="Shape 13"/>
          <p:cNvSpPr/>
          <p:nvPr/>
        </p:nvSpPr>
        <p:spPr>
          <a:xfrm>
            <a:off x="6217920" y="3383280"/>
            <a:ext cx="566928" cy="566928"/>
          </a:xfrm>
          <a:prstGeom prst="roundRect">
            <a:avLst>
              <a:gd name="adj" fmla="val 50000"/>
            </a:avLst>
          </a:prstGeom>
          <a:solidFill>
            <a:srgbClr val="F6E3C4"/>
          </a:solidFill>
          <a:ln w="12700">
            <a:solidFill>
              <a:srgbClr val="F6E3C4"/>
            </a:solidFill>
            <a:prstDash val="solid"/>
          </a:ln>
        </p:spPr>
        <p:txBody>
          <a:bodyPr/>
          <a:p/>
        </p:txBody>
      </p:sp>
      <p:pic>
        <p:nvPicPr>
          <p:cNvPr id="18" name="Image 2" descr="/private/tmp/soh-deck/icons/FileSpreadsheet-amber.png">    </p:cNvPr>
          <p:cNvPicPr>
            <a:picLocks noChangeAspect="1"/>
          </p:cNvPicPr>
          <p:nvPr/>
        </p:nvPicPr>
        <p:blipFill>
          <a:blip r:embed="rId3"/>
          <a:stretch>
            <a:fillRect/>
          </a:stretch>
        </p:blipFill>
        <p:spPr>
          <a:xfrm>
            <a:off x="6331306" y="3496666"/>
            <a:ext cx="340157" cy="340157"/>
          </a:xfrm>
          <a:prstGeom prst="rect">
            <a:avLst/>
          </a:prstGeom>
        </p:spPr>
      </p:pic>
      <p:sp>
        <p:nvSpPr>
          <p:cNvPr id="19" name="Text 14"/>
          <p:cNvSpPr/>
          <p:nvPr/>
        </p:nvSpPr>
        <p:spPr>
          <a:xfrm>
            <a:off x="6949440" y="3273552"/>
            <a:ext cx="4206240" cy="228600"/>
          </a:xfrm>
          <a:prstGeom prst="rect">
            <a:avLst/>
          </a:prstGeom>
          <a:noFill/>
          <a:ln/>
        </p:spPr>
        <p:txBody>
          <a:bodyPr wrap="square" lIns="0" tIns="0" rIns="0" bIns="0" rtlCol="0" anchor="t"/>
          <a:lstStyle/>
          <a:p>
            <a:pPr algn="l" indent="0" marL="0">
              <a:lnSpc>
                <a:spcPct val="100000"/>
              </a:lnSpc>
              <a:buNone/>
            </a:pPr>
            <a:r>
              <a:rPr lang="en-US" sz="1350" b="1" dirty="0">
                <a:solidFill>
                  <a:srgbClr val="1B1714"/>
                </a:solidFill>
                <a:latin typeface="Calibri" pitchFamily="34" charset="0"/>
                <a:ea typeface="Calibri" pitchFamily="34" charset="-122"/>
                <a:cs typeface="Calibri" pitchFamily="34" charset="-120"/>
              </a:rPr>
              <a:t>The same data is re-typed</a:t>
            </a:r>
            <a:endParaRPr lang="en-US" sz="1350" dirty="0"/>
          </a:p>
        </p:txBody>
      </p:sp>
      <p:sp>
        <p:nvSpPr>
          <p:cNvPr id="20" name="Text 15"/>
          <p:cNvSpPr/>
          <p:nvPr/>
        </p:nvSpPr>
        <p:spPr>
          <a:xfrm>
            <a:off x="6949440" y="3566160"/>
            <a:ext cx="4160520" cy="502920"/>
          </a:xfrm>
          <a:prstGeom prst="rect">
            <a:avLst/>
          </a:prstGeom>
          <a:noFill/>
          <a:ln/>
        </p:spPr>
        <p:txBody>
          <a:bodyPr wrap="square" lIns="0" tIns="0" rIns="0" bIns="0" rtlCol="0" anchor="t"/>
          <a:lstStyle/>
          <a:p>
            <a:pPr algn="l" indent="0" marL="0">
              <a:lnSpc>
                <a:spcPct val="100000"/>
              </a:lnSpc>
              <a:buNone/>
            </a:pPr>
            <a:r>
              <a:rPr lang="en-US" sz="1020" dirty="0">
                <a:solidFill>
                  <a:srgbClr val="6B6258"/>
                </a:solidFill>
                <a:latin typeface="Calibri" pitchFamily="34" charset="0"/>
                <a:ea typeface="Calibri" pitchFamily="34" charset="-122"/>
                <a:cs typeface="Calibri" pitchFamily="34" charset="-120"/>
              </a:rPr>
              <a:t>Every copy is a chance to get quantity, price, address or delivery date wrong.</a:t>
            </a:r>
            <a:endParaRPr lang="en-US" sz="1020" dirty="0"/>
          </a:p>
        </p:txBody>
      </p:sp>
      <p:sp>
        <p:nvSpPr>
          <p:cNvPr id="21" name="Shape 16"/>
          <p:cNvSpPr/>
          <p:nvPr/>
        </p:nvSpPr>
        <p:spPr>
          <a:xfrm>
            <a:off x="5989320" y="4535424"/>
            <a:ext cx="5440680" cy="1243584"/>
          </a:xfrm>
          <a:prstGeom prst="roundRect">
            <a:avLst>
              <a:gd name="adj" fmla="val 8824"/>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22" name="Shape 17"/>
          <p:cNvSpPr/>
          <p:nvPr/>
        </p:nvSpPr>
        <p:spPr>
          <a:xfrm>
            <a:off x="6217920" y="4864608"/>
            <a:ext cx="566928" cy="566928"/>
          </a:xfrm>
          <a:prstGeom prst="roundRect">
            <a:avLst>
              <a:gd name="adj" fmla="val 50000"/>
            </a:avLst>
          </a:prstGeom>
          <a:solidFill>
            <a:srgbClr val="F4DED8"/>
          </a:solidFill>
          <a:ln w="12700">
            <a:solidFill>
              <a:srgbClr val="F4DED8"/>
            </a:solidFill>
            <a:prstDash val="solid"/>
          </a:ln>
        </p:spPr>
        <p:txBody>
          <a:bodyPr/>
          <a:p/>
        </p:txBody>
      </p:sp>
      <p:pic>
        <p:nvPicPr>
          <p:cNvPr id="23" name="Image 3" descr="/private/tmp/soh-deck/icons/AlertTriangle-red.png">    </p:cNvPr>
          <p:cNvPicPr>
            <a:picLocks noChangeAspect="1"/>
          </p:cNvPicPr>
          <p:nvPr/>
        </p:nvPicPr>
        <p:blipFill>
          <a:blip r:embed="rId4"/>
          <a:stretch>
            <a:fillRect/>
          </a:stretch>
        </p:blipFill>
        <p:spPr>
          <a:xfrm>
            <a:off x="6331306" y="4977994"/>
            <a:ext cx="340157" cy="340157"/>
          </a:xfrm>
          <a:prstGeom prst="rect">
            <a:avLst/>
          </a:prstGeom>
        </p:spPr>
      </p:pic>
      <p:sp>
        <p:nvSpPr>
          <p:cNvPr id="24" name="Text 18"/>
          <p:cNvSpPr/>
          <p:nvPr/>
        </p:nvSpPr>
        <p:spPr>
          <a:xfrm>
            <a:off x="6949440" y="4754880"/>
            <a:ext cx="4206240" cy="228600"/>
          </a:xfrm>
          <a:prstGeom prst="rect">
            <a:avLst/>
          </a:prstGeom>
          <a:noFill/>
          <a:ln/>
        </p:spPr>
        <p:txBody>
          <a:bodyPr wrap="square" lIns="0" tIns="0" rIns="0" bIns="0" rtlCol="0" anchor="t"/>
          <a:lstStyle/>
          <a:p>
            <a:pPr algn="l" indent="0" marL="0">
              <a:lnSpc>
                <a:spcPct val="100000"/>
              </a:lnSpc>
              <a:buNone/>
            </a:pPr>
            <a:r>
              <a:rPr lang="en-US" sz="1350" b="1" dirty="0">
                <a:solidFill>
                  <a:srgbClr val="1B1714"/>
                </a:solidFill>
                <a:latin typeface="Calibri" pitchFamily="34" charset="0"/>
                <a:ea typeface="Calibri" pitchFamily="34" charset="-122"/>
                <a:cs typeface="Calibri" pitchFamily="34" charset="-120"/>
              </a:rPr>
              <a:t>Stock and margin are checked late</a:t>
            </a:r>
            <a:endParaRPr lang="en-US" sz="1350" dirty="0"/>
          </a:p>
        </p:txBody>
      </p:sp>
      <p:sp>
        <p:nvSpPr>
          <p:cNvPr id="25" name="Text 19"/>
          <p:cNvSpPr/>
          <p:nvPr/>
        </p:nvSpPr>
        <p:spPr>
          <a:xfrm>
            <a:off x="6949440" y="5047488"/>
            <a:ext cx="4160520" cy="502920"/>
          </a:xfrm>
          <a:prstGeom prst="rect">
            <a:avLst/>
          </a:prstGeom>
          <a:noFill/>
          <a:ln/>
        </p:spPr>
        <p:txBody>
          <a:bodyPr wrap="square" lIns="0" tIns="0" rIns="0" bIns="0" rtlCol="0" anchor="t"/>
          <a:lstStyle/>
          <a:p>
            <a:pPr algn="l" indent="0" marL="0">
              <a:lnSpc>
                <a:spcPct val="100000"/>
              </a:lnSpc>
              <a:buNone/>
            </a:pPr>
            <a:r>
              <a:rPr lang="en-US" sz="1020" dirty="0">
                <a:solidFill>
                  <a:srgbClr val="6B6258"/>
                </a:solidFill>
                <a:latin typeface="Calibri" pitchFamily="34" charset="0"/>
                <a:ea typeface="Calibri" pitchFamily="34" charset="-122"/>
                <a:cs typeface="Calibri" pitchFamily="34" charset="-120"/>
              </a:rPr>
              <a:t>The promise is made before the business knows it can keep it — or whether it should.</a:t>
            </a:r>
            <a:endParaRPr lang="en-US" sz="1020" dirty="0"/>
          </a:p>
        </p:txBody>
      </p:sp>
      <p:sp>
        <p:nvSpPr>
          <p:cNvPr id="26" name="Text 20"/>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27" name="Text 21"/>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THE PRODUCT THESIS</a:t>
            </a:r>
            <a:endParaRPr lang="en-US" sz="900" dirty="0"/>
          </a:p>
        </p:txBody>
      </p:sp>
      <p:sp>
        <p:nvSpPr>
          <p:cNvPr id="3" name="Text 1"/>
          <p:cNvSpPr/>
          <p:nvPr/>
        </p:nvSpPr>
        <p:spPr>
          <a:xfrm>
            <a:off x="640080" y="640080"/>
            <a:ext cx="10881360" cy="960120"/>
          </a:xfrm>
          <a:prstGeom prst="rect">
            <a:avLst/>
          </a:prstGeom>
          <a:noFill/>
          <a:ln/>
        </p:spPr>
        <p:txBody>
          <a:bodyPr wrap="square" lIns="0" tIns="0" rIns="0" bIns="0" rtlCol="0" anchor="t"/>
          <a:lstStyle/>
          <a:p>
            <a:pPr algn="l" indent="0" marL="0">
              <a:lnSpc>
                <a:spcPct val="94000"/>
              </a:lnSpc>
              <a:buNone/>
            </a:pPr>
            <a:r>
              <a:rPr lang="en-US" sz="3500" b="1" dirty="0">
                <a:solidFill>
                  <a:srgbClr val="1B1714"/>
                </a:solidFill>
                <a:latin typeface="Cambria" pitchFamily="34" charset="0"/>
                <a:ea typeface="Cambria" pitchFamily="34" charset="-122"/>
                <a:cs typeface="Cambria" pitchFamily="34" charset="-120"/>
              </a:rPr>
              <a:t>The missing layer is the handoff.</a:t>
            </a:r>
            <a:endParaRPr lang="en-US" sz="3500" dirty="0"/>
          </a:p>
        </p:txBody>
      </p:sp>
      <p:sp>
        <p:nvSpPr>
          <p:cNvPr id="4" name="Text 2"/>
          <p:cNvSpPr/>
          <p:nvPr/>
        </p:nvSpPr>
        <p:spPr>
          <a:xfrm>
            <a:off x="640080" y="1426464"/>
            <a:ext cx="9966960" cy="274320"/>
          </a:xfrm>
          <a:prstGeom prst="rect">
            <a:avLst/>
          </a:prstGeom>
          <a:noFill/>
          <a:ln/>
        </p:spPr>
        <p:txBody>
          <a:bodyPr wrap="square" lIns="0" tIns="0" rIns="0" bIns="0" rtlCol="0" anchor="t"/>
          <a:lstStyle/>
          <a:p>
            <a:pPr algn="l" indent="0" marL="0">
              <a:lnSpc>
                <a:spcPct val="100000"/>
              </a:lnSpc>
              <a:buNone/>
            </a:pPr>
            <a:r>
              <a:rPr lang="en-US" sz="1400" dirty="0">
                <a:solidFill>
                  <a:srgbClr val="6B6258"/>
                </a:solidFill>
                <a:latin typeface="Calibri" pitchFamily="34" charset="0"/>
                <a:ea typeface="Calibri" pitchFamily="34" charset="-122"/>
                <a:cs typeface="Calibri" pitchFamily="34" charset="-120"/>
              </a:rPr>
              <a:t>The message is not the problem. Everything between reading it and promising it is.</a:t>
            </a:r>
            <a:endParaRPr lang="en-US" sz="1400" dirty="0"/>
          </a:p>
        </p:txBody>
      </p:sp>
      <p:sp>
        <p:nvSpPr>
          <p:cNvPr id="5" name="Shape 3"/>
          <p:cNvSpPr/>
          <p:nvPr/>
        </p:nvSpPr>
        <p:spPr>
          <a:xfrm>
            <a:off x="640080" y="1965960"/>
            <a:ext cx="2048256" cy="2395728"/>
          </a:xfrm>
          <a:prstGeom prst="roundRect">
            <a:avLst>
              <a:gd name="adj" fmla="val 6250"/>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6" name="Text 4"/>
          <p:cNvSpPr/>
          <p:nvPr/>
        </p:nvSpPr>
        <p:spPr>
          <a:xfrm>
            <a:off x="804672" y="2112264"/>
            <a:ext cx="566928" cy="274320"/>
          </a:xfrm>
          <a:prstGeom prst="rect">
            <a:avLst/>
          </a:prstGeom>
          <a:noFill/>
          <a:ln/>
        </p:spPr>
        <p:txBody>
          <a:bodyPr wrap="square" lIns="0" tIns="0" rIns="0" bIns="0" rtlCol="0" anchor="t"/>
          <a:lstStyle/>
          <a:p>
            <a:pPr algn="l" indent="0" marL="0">
              <a:lnSpc>
                <a:spcPct val="100000"/>
              </a:lnSpc>
              <a:buNone/>
            </a:pPr>
            <a:r>
              <a:rPr lang="en-US" sz="1500" b="1" dirty="0">
                <a:solidFill>
                  <a:srgbClr val="D97706"/>
                </a:solidFill>
                <a:latin typeface="Calibri" pitchFamily="34" charset="0"/>
                <a:ea typeface="Calibri" pitchFamily="34" charset="-122"/>
                <a:cs typeface="Calibri" pitchFamily="34" charset="-120"/>
              </a:rPr>
              <a:t>01</a:t>
            </a:r>
            <a:endParaRPr lang="en-US" sz="1500" dirty="0"/>
          </a:p>
        </p:txBody>
      </p:sp>
      <p:sp>
        <p:nvSpPr>
          <p:cNvPr id="7" name="Shape 5"/>
          <p:cNvSpPr/>
          <p:nvPr/>
        </p:nvSpPr>
        <p:spPr>
          <a:xfrm>
            <a:off x="2084832" y="2084832"/>
            <a:ext cx="420624" cy="420624"/>
          </a:xfrm>
          <a:prstGeom prst="roundRect">
            <a:avLst>
              <a:gd name="adj" fmla="val 50000"/>
            </a:avLst>
          </a:prstGeom>
          <a:solidFill>
            <a:srgbClr val="F1E7D8"/>
          </a:solidFill>
          <a:ln w="12700">
            <a:solidFill>
              <a:srgbClr val="F1E7D8"/>
            </a:solidFill>
            <a:prstDash val="solid"/>
          </a:ln>
        </p:spPr>
        <p:txBody>
          <a:bodyPr/>
          <a:p/>
        </p:txBody>
      </p:sp>
      <p:pic>
        <p:nvPicPr>
          <p:cNvPr id="8" name="Image 0" descr="/private/tmp/soh-deck/icons/Inbox-ink.png">    </p:cNvPr>
          <p:cNvPicPr>
            <a:picLocks noChangeAspect="1"/>
          </p:cNvPicPr>
          <p:nvPr/>
        </p:nvPicPr>
        <p:blipFill>
          <a:blip r:embed="rId1"/>
          <a:stretch>
            <a:fillRect/>
          </a:stretch>
        </p:blipFill>
        <p:spPr>
          <a:xfrm>
            <a:off x="2168957" y="2168957"/>
            <a:ext cx="252374" cy="252374"/>
          </a:xfrm>
          <a:prstGeom prst="rect">
            <a:avLst/>
          </a:prstGeom>
        </p:spPr>
      </p:pic>
      <p:sp>
        <p:nvSpPr>
          <p:cNvPr id="9" name="Text 6"/>
          <p:cNvSpPr/>
          <p:nvPr/>
        </p:nvSpPr>
        <p:spPr>
          <a:xfrm>
            <a:off x="804672" y="2688336"/>
            <a:ext cx="1719072" cy="256032"/>
          </a:xfrm>
          <a:prstGeom prst="rect">
            <a:avLst/>
          </a:prstGeom>
          <a:noFill/>
          <a:ln/>
        </p:spPr>
        <p:txBody>
          <a:bodyPr wrap="square" lIns="0" tIns="0" rIns="0" bIns="0" rtlCol="0" anchor="t"/>
          <a:lstStyle/>
          <a:p>
            <a:pPr algn="l" indent="0" marL="0">
              <a:lnSpc>
                <a:spcPct val="100000"/>
              </a:lnSpc>
              <a:buNone/>
            </a:pPr>
            <a:r>
              <a:rPr lang="en-US" sz="1700" b="1" dirty="0">
                <a:solidFill>
                  <a:srgbClr val="1B1714"/>
                </a:solidFill>
                <a:latin typeface="Cambria" pitchFamily="34" charset="0"/>
                <a:ea typeface="Cambria" pitchFamily="34" charset="-122"/>
                <a:cs typeface="Cambria" pitchFamily="34" charset="-120"/>
              </a:rPr>
              <a:t>Trigger</a:t>
            </a:r>
            <a:endParaRPr lang="en-US" sz="1700" dirty="0"/>
          </a:p>
        </p:txBody>
      </p:sp>
      <p:sp>
        <p:nvSpPr>
          <p:cNvPr id="10" name="Text 7"/>
          <p:cNvSpPr/>
          <p:nvPr/>
        </p:nvSpPr>
        <p:spPr>
          <a:xfrm>
            <a:off x="804672" y="3017520"/>
            <a:ext cx="1700784" cy="987552"/>
          </a:xfrm>
          <a:prstGeom prst="rect">
            <a:avLst/>
          </a:prstGeom>
          <a:noFill/>
          <a:ln/>
        </p:spPr>
        <p:txBody>
          <a:bodyPr wrap="square" lIns="0" tIns="0" rIns="0" bIns="0" rtlCol="0" anchor="t"/>
          <a:lstStyle/>
          <a:p>
            <a:pPr algn="l" indent="0" marL="0">
              <a:lnSpc>
                <a:spcPct val="100000"/>
              </a:lnSpc>
              <a:buNone/>
            </a:pPr>
            <a:r>
              <a:rPr lang="en-US" sz="920" dirty="0">
                <a:solidFill>
                  <a:srgbClr val="6B6258"/>
                </a:solidFill>
                <a:latin typeface="Calibri" pitchFamily="34" charset="0"/>
                <a:ea typeface="Calibri" pitchFamily="34" charset="-122"/>
                <a:cs typeface="Calibri" pitchFamily="34" charset="-120"/>
              </a:rPr>
              <a:t>WhatsApp, email, spreadsheet or manual entry.</a:t>
            </a:r>
            <a:endParaRPr lang="en-US" sz="920" dirty="0"/>
          </a:p>
        </p:txBody>
      </p:sp>
      <p:sp>
        <p:nvSpPr>
          <p:cNvPr id="11" name="Shape 8"/>
          <p:cNvSpPr/>
          <p:nvPr/>
        </p:nvSpPr>
        <p:spPr>
          <a:xfrm>
            <a:off x="2834640" y="1965960"/>
            <a:ext cx="2048256" cy="2395728"/>
          </a:xfrm>
          <a:prstGeom prst="roundRect">
            <a:avLst>
              <a:gd name="adj" fmla="val 6250"/>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2" name="Text 9"/>
          <p:cNvSpPr/>
          <p:nvPr/>
        </p:nvSpPr>
        <p:spPr>
          <a:xfrm>
            <a:off x="2999232" y="2112264"/>
            <a:ext cx="566928" cy="274320"/>
          </a:xfrm>
          <a:prstGeom prst="rect">
            <a:avLst/>
          </a:prstGeom>
          <a:noFill/>
          <a:ln/>
        </p:spPr>
        <p:txBody>
          <a:bodyPr wrap="square" lIns="0" tIns="0" rIns="0" bIns="0" rtlCol="0" anchor="t"/>
          <a:lstStyle/>
          <a:p>
            <a:pPr algn="l" indent="0" marL="0">
              <a:lnSpc>
                <a:spcPct val="100000"/>
              </a:lnSpc>
              <a:buNone/>
            </a:pPr>
            <a:r>
              <a:rPr lang="en-US" sz="1500" b="1" dirty="0">
                <a:solidFill>
                  <a:srgbClr val="D97706"/>
                </a:solidFill>
                <a:latin typeface="Calibri" pitchFamily="34" charset="0"/>
                <a:ea typeface="Calibri" pitchFamily="34" charset="-122"/>
                <a:cs typeface="Calibri" pitchFamily="34" charset="-120"/>
              </a:rPr>
              <a:t>02</a:t>
            </a:r>
            <a:endParaRPr lang="en-US" sz="1500" dirty="0"/>
          </a:p>
        </p:txBody>
      </p:sp>
      <p:sp>
        <p:nvSpPr>
          <p:cNvPr id="13" name="Shape 10"/>
          <p:cNvSpPr/>
          <p:nvPr/>
        </p:nvSpPr>
        <p:spPr>
          <a:xfrm>
            <a:off x="4279392" y="2084832"/>
            <a:ext cx="420624" cy="420624"/>
          </a:xfrm>
          <a:prstGeom prst="roundRect">
            <a:avLst>
              <a:gd name="adj" fmla="val 50000"/>
            </a:avLst>
          </a:prstGeom>
          <a:solidFill>
            <a:srgbClr val="F1E7D8"/>
          </a:solidFill>
          <a:ln w="12700">
            <a:solidFill>
              <a:srgbClr val="F1E7D8"/>
            </a:solidFill>
            <a:prstDash val="solid"/>
          </a:ln>
        </p:spPr>
        <p:txBody>
          <a:bodyPr/>
          <a:p/>
        </p:txBody>
      </p:sp>
      <p:pic>
        <p:nvPicPr>
          <p:cNvPr id="14" name="Image 1" descr="/private/tmp/soh-deck/icons/Sparkles-ink.png">    </p:cNvPr>
          <p:cNvPicPr>
            <a:picLocks noChangeAspect="1"/>
          </p:cNvPicPr>
          <p:nvPr/>
        </p:nvPicPr>
        <p:blipFill>
          <a:blip r:embed="rId2"/>
          <a:stretch>
            <a:fillRect/>
          </a:stretch>
        </p:blipFill>
        <p:spPr>
          <a:xfrm>
            <a:off x="4363517" y="2168957"/>
            <a:ext cx="252374" cy="252374"/>
          </a:xfrm>
          <a:prstGeom prst="rect">
            <a:avLst/>
          </a:prstGeom>
        </p:spPr>
      </p:pic>
      <p:sp>
        <p:nvSpPr>
          <p:cNvPr id="15" name="Text 11"/>
          <p:cNvSpPr/>
          <p:nvPr/>
        </p:nvSpPr>
        <p:spPr>
          <a:xfrm>
            <a:off x="2999232" y="2688336"/>
            <a:ext cx="1719072" cy="256032"/>
          </a:xfrm>
          <a:prstGeom prst="rect">
            <a:avLst/>
          </a:prstGeom>
          <a:noFill/>
          <a:ln/>
        </p:spPr>
        <p:txBody>
          <a:bodyPr wrap="square" lIns="0" tIns="0" rIns="0" bIns="0" rtlCol="0" anchor="t"/>
          <a:lstStyle/>
          <a:p>
            <a:pPr algn="l" indent="0" marL="0">
              <a:lnSpc>
                <a:spcPct val="100000"/>
              </a:lnSpc>
              <a:buNone/>
            </a:pPr>
            <a:r>
              <a:rPr lang="en-US" sz="1700" b="1" dirty="0">
                <a:solidFill>
                  <a:srgbClr val="1B1714"/>
                </a:solidFill>
                <a:latin typeface="Cambria" pitchFamily="34" charset="0"/>
                <a:ea typeface="Cambria" pitchFamily="34" charset="-122"/>
                <a:cs typeface="Cambria" pitchFamily="34" charset="-120"/>
              </a:rPr>
              <a:t>Extract</a:t>
            </a:r>
            <a:endParaRPr lang="en-US" sz="1700" dirty="0"/>
          </a:p>
        </p:txBody>
      </p:sp>
      <p:sp>
        <p:nvSpPr>
          <p:cNvPr id="16" name="Text 12"/>
          <p:cNvSpPr/>
          <p:nvPr/>
        </p:nvSpPr>
        <p:spPr>
          <a:xfrm>
            <a:off x="2999232" y="3017520"/>
            <a:ext cx="1700784" cy="987552"/>
          </a:xfrm>
          <a:prstGeom prst="rect">
            <a:avLst/>
          </a:prstGeom>
          <a:noFill/>
          <a:ln/>
        </p:spPr>
        <p:txBody>
          <a:bodyPr wrap="square" lIns="0" tIns="0" rIns="0" bIns="0" rtlCol="0" anchor="t"/>
          <a:lstStyle/>
          <a:p>
            <a:pPr algn="l" indent="0" marL="0">
              <a:lnSpc>
                <a:spcPct val="100000"/>
              </a:lnSpc>
              <a:buNone/>
            </a:pPr>
            <a:r>
              <a:rPr lang="en-US" sz="920" dirty="0">
                <a:solidFill>
                  <a:srgbClr val="6B6258"/>
                </a:solidFill>
                <a:latin typeface="Calibri" pitchFamily="34" charset="0"/>
                <a:ea typeface="Calibri" pitchFamily="34" charset="-122"/>
                <a:cs typeface="Calibri" pitchFamily="34" charset="-120"/>
              </a:rPr>
              <a:t>AI reads customer, items, address, date and industry fields.</a:t>
            </a:r>
            <a:endParaRPr lang="en-US" sz="920" dirty="0"/>
          </a:p>
        </p:txBody>
      </p:sp>
      <p:sp>
        <p:nvSpPr>
          <p:cNvPr id="17" name="Shape 13"/>
          <p:cNvSpPr/>
          <p:nvPr/>
        </p:nvSpPr>
        <p:spPr>
          <a:xfrm>
            <a:off x="5029200" y="1965960"/>
            <a:ext cx="2048256" cy="2395728"/>
          </a:xfrm>
          <a:prstGeom prst="roundRect">
            <a:avLst>
              <a:gd name="adj" fmla="val 6250"/>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8" name="Text 14"/>
          <p:cNvSpPr/>
          <p:nvPr/>
        </p:nvSpPr>
        <p:spPr>
          <a:xfrm>
            <a:off x="5193792" y="2112264"/>
            <a:ext cx="566928" cy="274320"/>
          </a:xfrm>
          <a:prstGeom prst="rect">
            <a:avLst/>
          </a:prstGeom>
          <a:noFill/>
          <a:ln/>
        </p:spPr>
        <p:txBody>
          <a:bodyPr wrap="square" lIns="0" tIns="0" rIns="0" bIns="0" rtlCol="0" anchor="t"/>
          <a:lstStyle/>
          <a:p>
            <a:pPr algn="l" indent="0" marL="0">
              <a:lnSpc>
                <a:spcPct val="100000"/>
              </a:lnSpc>
              <a:buNone/>
            </a:pPr>
            <a:r>
              <a:rPr lang="en-US" sz="1500" b="1" dirty="0">
                <a:solidFill>
                  <a:srgbClr val="D97706"/>
                </a:solidFill>
                <a:latin typeface="Calibri" pitchFamily="34" charset="0"/>
                <a:ea typeface="Calibri" pitchFamily="34" charset="-122"/>
                <a:cs typeface="Calibri" pitchFamily="34" charset="-120"/>
              </a:rPr>
              <a:t>03</a:t>
            </a:r>
            <a:endParaRPr lang="en-US" sz="1500" dirty="0"/>
          </a:p>
        </p:txBody>
      </p:sp>
      <p:sp>
        <p:nvSpPr>
          <p:cNvPr id="19" name="Shape 15"/>
          <p:cNvSpPr/>
          <p:nvPr/>
        </p:nvSpPr>
        <p:spPr>
          <a:xfrm>
            <a:off x="6473952" y="2084832"/>
            <a:ext cx="420624" cy="420624"/>
          </a:xfrm>
          <a:prstGeom prst="roundRect">
            <a:avLst>
              <a:gd name="adj" fmla="val 50000"/>
            </a:avLst>
          </a:prstGeom>
          <a:solidFill>
            <a:srgbClr val="F1E7D8"/>
          </a:solidFill>
          <a:ln w="12700">
            <a:solidFill>
              <a:srgbClr val="F1E7D8"/>
            </a:solidFill>
            <a:prstDash val="solid"/>
          </a:ln>
        </p:spPr>
        <p:txBody>
          <a:bodyPr/>
          <a:p/>
        </p:txBody>
      </p:sp>
      <p:pic>
        <p:nvPicPr>
          <p:cNvPr id="20" name="Image 2" descr="/private/tmp/soh-deck/icons/Calculator-ink.png">    </p:cNvPr>
          <p:cNvPicPr>
            <a:picLocks noChangeAspect="1"/>
          </p:cNvPicPr>
          <p:nvPr/>
        </p:nvPicPr>
        <p:blipFill>
          <a:blip r:embed="rId3"/>
          <a:stretch>
            <a:fillRect/>
          </a:stretch>
        </p:blipFill>
        <p:spPr>
          <a:xfrm>
            <a:off x="6558077" y="2168957"/>
            <a:ext cx="252374" cy="252374"/>
          </a:xfrm>
          <a:prstGeom prst="rect">
            <a:avLst/>
          </a:prstGeom>
        </p:spPr>
      </p:pic>
      <p:sp>
        <p:nvSpPr>
          <p:cNvPr id="21" name="Text 16"/>
          <p:cNvSpPr/>
          <p:nvPr/>
        </p:nvSpPr>
        <p:spPr>
          <a:xfrm>
            <a:off x="5193792" y="2688336"/>
            <a:ext cx="1719072" cy="256032"/>
          </a:xfrm>
          <a:prstGeom prst="rect">
            <a:avLst/>
          </a:prstGeom>
          <a:noFill/>
          <a:ln/>
        </p:spPr>
        <p:txBody>
          <a:bodyPr wrap="square" lIns="0" tIns="0" rIns="0" bIns="0" rtlCol="0" anchor="t"/>
          <a:lstStyle/>
          <a:p>
            <a:pPr algn="l" indent="0" marL="0">
              <a:lnSpc>
                <a:spcPct val="100000"/>
              </a:lnSpc>
              <a:buNone/>
            </a:pPr>
            <a:r>
              <a:rPr lang="en-US" sz="1700" b="1" dirty="0">
                <a:solidFill>
                  <a:srgbClr val="1B1714"/>
                </a:solidFill>
                <a:latin typeface="Cambria" pitchFamily="34" charset="0"/>
                <a:ea typeface="Cambria" pitchFamily="34" charset="-122"/>
                <a:cs typeface="Cambria" pitchFamily="34" charset="-120"/>
              </a:rPr>
              <a:t>Check</a:t>
            </a:r>
            <a:endParaRPr lang="en-US" sz="1700" dirty="0"/>
          </a:p>
        </p:txBody>
      </p:sp>
      <p:sp>
        <p:nvSpPr>
          <p:cNvPr id="22" name="Text 17"/>
          <p:cNvSpPr/>
          <p:nvPr/>
        </p:nvSpPr>
        <p:spPr>
          <a:xfrm>
            <a:off x="5193792" y="3017520"/>
            <a:ext cx="1700784" cy="987552"/>
          </a:xfrm>
          <a:prstGeom prst="rect">
            <a:avLst/>
          </a:prstGeom>
          <a:noFill/>
          <a:ln/>
        </p:spPr>
        <p:txBody>
          <a:bodyPr wrap="square" lIns="0" tIns="0" rIns="0" bIns="0" rtlCol="0" anchor="t"/>
          <a:lstStyle/>
          <a:p>
            <a:pPr algn="l" indent="0" marL="0">
              <a:lnSpc>
                <a:spcPct val="100000"/>
              </a:lnSpc>
              <a:buNone/>
            </a:pPr>
            <a:r>
              <a:rPr lang="en-US" sz="920" dirty="0">
                <a:solidFill>
                  <a:srgbClr val="6B6258"/>
                </a:solidFill>
                <a:latin typeface="Calibri" pitchFamily="34" charset="0"/>
                <a:ea typeface="Calibri" pitchFamily="34" charset="-122"/>
                <a:cs typeface="Calibri" pitchFamily="34" charset="-120"/>
              </a:rPr>
              <a:t>Rules test stock, supplier lead time, revenue, cost, margin and completeness.</a:t>
            </a:r>
            <a:endParaRPr lang="en-US" sz="920" dirty="0"/>
          </a:p>
        </p:txBody>
      </p:sp>
      <p:sp>
        <p:nvSpPr>
          <p:cNvPr id="23" name="Shape 18"/>
          <p:cNvSpPr/>
          <p:nvPr/>
        </p:nvSpPr>
        <p:spPr>
          <a:xfrm>
            <a:off x="7223760" y="1965960"/>
            <a:ext cx="2048256" cy="2395728"/>
          </a:xfrm>
          <a:prstGeom prst="roundRect">
            <a:avLst>
              <a:gd name="adj" fmla="val 6250"/>
            </a:avLst>
          </a:prstGeom>
          <a:solidFill>
            <a:srgbClr val="1B1714"/>
          </a:solidFill>
          <a:ln w="10160">
            <a:solidFill>
              <a:srgbClr val="1B1714"/>
            </a:solidFill>
            <a:prstDash val="solid"/>
          </a:ln>
          <a:effectLst>
            <a:outerShdw sx="100000" sy="100000" kx="0" ky="0" algn="bl" rotWithShape="0" blurRad="31750" dist="50800" dir="2700000">
              <a:srgbClr val="4A3B2A">
                <a:alpha val="10000"/>
              </a:srgbClr>
            </a:outerShdw>
          </a:effectLst>
        </p:spPr>
        <p:txBody>
          <a:bodyPr/>
          <a:p/>
        </p:txBody>
      </p:sp>
      <p:sp>
        <p:nvSpPr>
          <p:cNvPr id="24" name="Text 19"/>
          <p:cNvSpPr/>
          <p:nvPr/>
        </p:nvSpPr>
        <p:spPr>
          <a:xfrm>
            <a:off x="7388352" y="2112264"/>
            <a:ext cx="566928" cy="274320"/>
          </a:xfrm>
          <a:prstGeom prst="rect">
            <a:avLst/>
          </a:prstGeom>
          <a:noFill/>
          <a:ln/>
        </p:spPr>
        <p:txBody>
          <a:bodyPr wrap="square" lIns="0" tIns="0" rIns="0" bIns="0" rtlCol="0" anchor="t"/>
          <a:lstStyle/>
          <a:p>
            <a:pPr algn="l" indent="0" marL="0">
              <a:lnSpc>
                <a:spcPct val="100000"/>
              </a:lnSpc>
              <a:buNone/>
            </a:pPr>
            <a:r>
              <a:rPr lang="en-US" sz="1500" b="1" dirty="0">
                <a:solidFill>
                  <a:srgbClr val="D97706"/>
                </a:solidFill>
                <a:latin typeface="Calibri" pitchFamily="34" charset="0"/>
                <a:ea typeface="Calibri" pitchFamily="34" charset="-122"/>
                <a:cs typeface="Calibri" pitchFamily="34" charset="-120"/>
              </a:rPr>
              <a:t>04</a:t>
            </a:r>
            <a:endParaRPr lang="en-US" sz="1500" dirty="0"/>
          </a:p>
        </p:txBody>
      </p:sp>
      <p:sp>
        <p:nvSpPr>
          <p:cNvPr id="25" name="Shape 20"/>
          <p:cNvSpPr/>
          <p:nvPr/>
        </p:nvSpPr>
        <p:spPr>
          <a:xfrm>
            <a:off x="8668512" y="2084832"/>
            <a:ext cx="420624" cy="420624"/>
          </a:xfrm>
          <a:prstGeom prst="roundRect">
            <a:avLst>
              <a:gd name="adj" fmla="val 50000"/>
            </a:avLst>
          </a:prstGeom>
          <a:solidFill>
            <a:srgbClr val="3A3026"/>
          </a:solidFill>
          <a:ln w="12700">
            <a:solidFill>
              <a:srgbClr val="3A3026"/>
            </a:solidFill>
            <a:prstDash val="solid"/>
          </a:ln>
        </p:spPr>
        <p:txBody>
          <a:bodyPr/>
          <a:p/>
        </p:txBody>
      </p:sp>
      <p:pic>
        <p:nvPicPr>
          <p:cNvPr id="26" name="Image 3" descr="/private/tmp/soh-deck/icons/UserCheck-amber.png">    </p:cNvPr>
          <p:cNvPicPr>
            <a:picLocks noChangeAspect="1"/>
          </p:cNvPicPr>
          <p:nvPr/>
        </p:nvPicPr>
        <p:blipFill>
          <a:blip r:embed="rId4"/>
          <a:stretch>
            <a:fillRect/>
          </a:stretch>
        </p:blipFill>
        <p:spPr>
          <a:xfrm>
            <a:off x="8752637" y="2168957"/>
            <a:ext cx="252374" cy="252374"/>
          </a:xfrm>
          <a:prstGeom prst="rect">
            <a:avLst/>
          </a:prstGeom>
        </p:spPr>
      </p:pic>
      <p:sp>
        <p:nvSpPr>
          <p:cNvPr id="27" name="Text 21"/>
          <p:cNvSpPr/>
          <p:nvPr/>
        </p:nvSpPr>
        <p:spPr>
          <a:xfrm>
            <a:off x="7388352" y="2688336"/>
            <a:ext cx="1719072" cy="256032"/>
          </a:xfrm>
          <a:prstGeom prst="rect">
            <a:avLst/>
          </a:prstGeom>
          <a:noFill/>
          <a:ln/>
        </p:spPr>
        <p:txBody>
          <a:bodyPr wrap="square" lIns="0" tIns="0" rIns="0" bIns="0" rtlCol="0" anchor="t"/>
          <a:lstStyle/>
          <a:p>
            <a:pPr algn="l" indent="0" marL="0">
              <a:lnSpc>
                <a:spcPct val="100000"/>
              </a:lnSpc>
              <a:buNone/>
            </a:pPr>
            <a:r>
              <a:rPr lang="en-US" sz="1700" b="1" dirty="0">
                <a:solidFill>
                  <a:srgbClr val="F7F2E8"/>
                </a:solidFill>
                <a:latin typeface="Cambria" pitchFamily="34" charset="0"/>
                <a:ea typeface="Cambria" pitchFamily="34" charset="-122"/>
                <a:cs typeface="Cambria" pitchFamily="34" charset="-120"/>
              </a:rPr>
              <a:t>Approve</a:t>
            </a:r>
            <a:endParaRPr lang="en-US" sz="1700" dirty="0"/>
          </a:p>
        </p:txBody>
      </p:sp>
      <p:sp>
        <p:nvSpPr>
          <p:cNvPr id="28" name="Text 22"/>
          <p:cNvSpPr/>
          <p:nvPr/>
        </p:nvSpPr>
        <p:spPr>
          <a:xfrm>
            <a:off x="7388352" y="3017520"/>
            <a:ext cx="1700784" cy="987552"/>
          </a:xfrm>
          <a:prstGeom prst="rect">
            <a:avLst/>
          </a:prstGeom>
          <a:noFill/>
          <a:ln/>
        </p:spPr>
        <p:txBody>
          <a:bodyPr wrap="square" lIns="0" tIns="0" rIns="0" bIns="0" rtlCol="0" anchor="t"/>
          <a:lstStyle/>
          <a:p>
            <a:pPr algn="l" indent="0" marL="0">
              <a:lnSpc>
                <a:spcPct val="100000"/>
              </a:lnSpc>
              <a:buNone/>
            </a:pPr>
            <a:r>
              <a:rPr lang="en-US" sz="920" dirty="0">
                <a:solidFill>
                  <a:srgbClr val="CDBFAE"/>
                </a:solidFill>
                <a:latin typeface="Calibri" pitchFamily="34" charset="0"/>
                <a:ea typeface="Calibri" pitchFamily="34" charset="-122"/>
                <a:cs typeface="Calibri" pitchFamily="34" charset="-120"/>
              </a:rPr>
              <a:t>Owner accepts, rejects, asks for information or overrides with a reason.</a:t>
            </a:r>
            <a:endParaRPr lang="en-US" sz="920" dirty="0"/>
          </a:p>
        </p:txBody>
      </p:sp>
      <p:sp>
        <p:nvSpPr>
          <p:cNvPr id="29" name="Shape 23"/>
          <p:cNvSpPr/>
          <p:nvPr/>
        </p:nvSpPr>
        <p:spPr>
          <a:xfrm>
            <a:off x="7388352" y="3941064"/>
            <a:ext cx="676656" cy="210312"/>
          </a:xfrm>
          <a:prstGeom prst="roundRect">
            <a:avLst>
              <a:gd name="adj" fmla="val 50000"/>
            </a:avLst>
          </a:prstGeom>
          <a:solidFill>
            <a:srgbClr val="D97706"/>
          </a:solidFill>
          <a:ln w="7620">
            <a:solidFill>
              <a:srgbClr val="D97706"/>
            </a:solidFill>
            <a:prstDash val="solid"/>
          </a:ln>
        </p:spPr>
        <p:txBody>
          <a:bodyPr/>
          <a:p/>
        </p:txBody>
      </p:sp>
      <p:sp>
        <p:nvSpPr>
          <p:cNvPr id="30" name="Text 24"/>
          <p:cNvSpPr/>
          <p:nvPr/>
        </p:nvSpPr>
        <p:spPr>
          <a:xfrm>
            <a:off x="7479792" y="3959352"/>
            <a:ext cx="493776" cy="182880"/>
          </a:xfrm>
          <a:prstGeom prst="rect">
            <a:avLst/>
          </a:prstGeom>
          <a:noFill/>
          <a:ln/>
        </p:spPr>
        <p:txBody>
          <a:bodyPr wrap="square" lIns="0" tIns="0" rIns="0" bIns="0" rtlCol="0" anchor="ctr"/>
          <a:lstStyle/>
          <a:p>
            <a:pPr algn="ctr" indent="0" marL="0">
              <a:lnSpc>
                <a:spcPct val="100000"/>
              </a:lnSpc>
              <a:buNone/>
            </a:pPr>
            <a:r>
              <a:rPr lang="en-US" sz="670" b="1" spc="120" kern="0" dirty="0">
                <a:solidFill>
                  <a:srgbClr val="1B1714"/>
                </a:solidFill>
                <a:latin typeface="Calibri" pitchFamily="34" charset="0"/>
                <a:ea typeface="Calibri" pitchFamily="34" charset="-122"/>
                <a:cs typeface="Calibri" pitchFamily="34" charset="-120"/>
              </a:rPr>
              <a:t>HUMAN</a:t>
            </a:r>
            <a:endParaRPr lang="en-US" sz="670" dirty="0"/>
          </a:p>
        </p:txBody>
      </p:sp>
      <p:sp>
        <p:nvSpPr>
          <p:cNvPr id="31" name="Shape 25"/>
          <p:cNvSpPr/>
          <p:nvPr/>
        </p:nvSpPr>
        <p:spPr>
          <a:xfrm>
            <a:off x="9418320" y="1965960"/>
            <a:ext cx="2048256" cy="2395728"/>
          </a:xfrm>
          <a:prstGeom prst="roundRect">
            <a:avLst>
              <a:gd name="adj" fmla="val 6250"/>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32" name="Text 26"/>
          <p:cNvSpPr/>
          <p:nvPr/>
        </p:nvSpPr>
        <p:spPr>
          <a:xfrm>
            <a:off x="9582912" y="2112264"/>
            <a:ext cx="566928" cy="274320"/>
          </a:xfrm>
          <a:prstGeom prst="rect">
            <a:avLst/>
          </a:prstGeom>
          <a:noFill/>
          <a:ln/>
        </p:spPr>
        <p:txBody>
          <a:bodyPr wrap="square" lIns="0" tIns="0" rIns="0" bIns="0" rtlCol="0" anchor="t"/>
          <a:lstStyle/>
          <a:p>
            <a:pPr algn="l" indent="0" marL="0">
              <a:lnSpc>
                <a:spcPct val="100000"/>
              </a:lnSpc>
              <a:buNone/>
            </a:pPr>
            <a:r>
              <a:rPr lang="en-US" sz="1500" b="1" dirty="0">
                <a:solidFill>
                  <a:srgbClr val="D97706"/>
                </a:solidFill>
                <a:latin typeface="Calibri" pitchFamily="34" charset="0"/>
                <a:ea typeface="Calibri" pitchFamily="34" charset="-122"/>
                <a:cs typeface="Calibri" pitchFamily="34" charset="-120"/>
              </a:rPr>
              <a:t>05</a:t>
            </a:r>
            <a:endParaRPr lang="en-US" sz="1500" dirty="0"/>
          </a:p>
        </p:txBody>
      </p:sp>
      <p:sp>
        <p:nvSpPr>
          <p:cNvPr id="33" name="Shape 27"/>
          <p:cNvSpPr/>
          <p:nvPr/>
        </p:nvSpPr>
        <p:spPr>
          <a:xfrm>
            <a:off x="10863072" y="2084832"/>
            <a:ext cx="420624" cy="420624"/>
          </a:xfrm>
          <a:prstGeom prst="roundRect">
            <a:avLst>
              <a:gd name="adj" fmla="val 50000"/>
            </a:avLst>
          </a:prstGeom>
          <a:solidFill>
            <a:srgbClr val="F1E7D8"/>
          </a:solidFill>
          <a:ln w="12700">
            <a:solidFill>
              <a:srgbClr val="F1E7D8"/>
            </a:solidFill>
            <a:prstDash val="solid"/>
          </a:ln>
        </p:spPr>
        <p:txBody>
          <a:bodyPr/>
          <a:p/>
        </p:txBody>
      </p:sp>
      <p:pic>
        <p:nvPicPr>
          <p:cNvPr id="34" name="Image 4" descr="/private/tmp/soh-deck/icons/History-ink.png">    </p:cNvPr>
          <p:cNvPicPr>
            <a:picLocks noChangeAspect="1"/>
          </p:cNvPicPr>
          <p:nvPr/>
        </p:nvPicPr>
        <p:blipFill>
          <a:blip r:embed="rId5"/>
          <a:stretch>
            <a:fillRect/>
          </a:stretch>
        </p:blipFill>
        <p:spPr>
          <a:xfrm>
            <a:off x="10947197" y="2168957"/>
            <a:ext cx="252374" cy="252374"/>
          </a:xfrm>
          <a:prstGeom prst="rect">
            <a:avLst/>
          </a:prstGeom>
        </p:spPr>
      </p:pic>
      <p:sp>
        <p:nvSpPr>
          <p:cNvPr id="35" name="Text 28"/>
          <p:cNvSpPr/>
          <p:nvPr/>
        </p:nvSpPr>
        <p:spPr>
          <a:xfrm>
            <a:off x="9582912" y="2688336"/>
            <a:ext cx="1719072" cy="256032"/>
          </a:xfrm>
          <a:prstGeom prst="rect">
            <a:avLst/>
          </a:prstGeom>
          <a:noFill/>
          <a:ln/>
        </p:spPr>
        <p:txBody>
          <a:bodyPr wrap="square" lIns="0" tIns="0" rIns="0" bIns="0" rtlCol="0" anchor="t"/>
          <a:lstStyle/>
          <a:p>
            <a:pPr algn="l" indent="0" marL="0">
              <a:lnSpc>
                <a:spcPct val="100000"/>
              </a:lnSpc>
              <a:buNone/>
            </a:pPr>
            <a:r>
              <a:rPr lang="en-US" sz="1700" b="1" dirty="0">
                <a:solidFill>
                  <a:srgbClr val="1B1714"/>
                </a:solidFill>
                <a:latin typeface="Cambria" pitchFamily="34" charset="0"/>
                <a:ea typeface="Cambria" pitchFamily="34" charset="-122"/>
                <a:cs typeface="Cambria" pitchFamily="34" charset="-120"/>
              </a:rPr>
              <a:t>Log</a:t>
            </a:r>
            <a:endParaRPr lang="en-US" sz="1700" dirty="0"/>
          </a:p>
        </p:txBody>
      </p:sp>
      <p:sp>
        <p:nvSpPr>
          <p:cNvPr id="36" name="Text 29"/>
          <p:cNvSpPr/>
          <p:nvPr/>
        </p:nvSpPr>
        <p:spPr>
          <a:xfrm>
            <a:off x="9582912" y="3017520"/>
            <a:ext cx="1700784" cy="987552"/>
          </a:xfrm>
          <a:prstGeom prst="rect">
            <a:avLst/>
          </a:prstGeom>
          <a:noFill/>
          <a:ln/>
        </p:spPr>
        <p:txBody>
          <a:bodyPr wrap="square" lIns="0" tIns="0" rIns="0" bIns="0" rtlCol="0" anchor="t"/>
          <a:lstStyle/>
          <a:p>
            <a:pPr algn="l" indent="0" marL="0">
              <a:lnSpc>
                <a:spcPct val="100000"/>
              </a:lnSpc>
              <a:buNone/>
            </a:pPr>
            <a:r>
              <a:rPr lang="en-US" sz="920" dirty="0">
                <a:solidFill>
                  <a:srgbClr val="6B6258"/>
                </a:solidFill>
                <a:latin typeface="Calibri" pitchFamily="34" charset="0"/>
                <a:ea typeface="Calibri" pitchFamily="34" charset="-122"/>
                <a:cs typeface="Calibri" pitchFamily="34" charset="-120"/>
              </a:rPr>
              <a:t>Order record, purchase drafts, activity trail and CSV/Excel export.</a:t>
            </a:r>
            <a:endParaRPr lang="en-US" sz="920" dirty="0"/>
          </a:p>
        </p:txBody>
      </p:sp>
      <p:sp>
        <p:nvSpPr>
          <p:cNvPr id="37" name="Shape 30"/>
          <p:cNvSpPr/>
          <p:nvPr/>
        </p:nvSpPr>
        <p:spPr>
          <a:xfrm>
            <a:off x="640080" y="4800600"/>
            <a:ext cx="3493008" cy="640080"/>
          </a:xfrm>
          <a:prstGeom prst="roundRect">
            <a:avLst>
              <a:gd name="adj" fmla="val 17143"/>
            </a:avLst>
          </a:prstGeom>
          <a:solidFill>
            <a:srgbClr val="F1E7D8"/>
          </a:solidFill>
          <a:ln w="10160">
            <a:solidFill>
              <a:srgbClr val="E2CFB4"/>
            </a:solidFill>
            <a:prstDash val="solid"/>
          </a:ln>
        </p:spPr>
        <p:txBody>
          <a:bodyPr/>
          <a:p/>
        </p:txBody>
      </p:sp>
      <p:sp>
        <p:nvSpPr>
          <p:cNvPr id="38" name="Shape 31"/>
          <p:cNvSpPr/>
          <p:nvPr/>
        </p:nvSpPr>
        <p:spPr>
          <a:xfrm>
            <a:off x="786384" y="4910328"/>
            <a:ext cx="402336" cy="402336"/>
          </a:xfrm>
          <a:prstGeom prst="roundRect">
            <a:avLst>
              <a:gd name="adj" fmla="val 50000"/>
            </a:avLst>
          </a:prstGeom>
          <a:solidFill>
            <a:srgbClr val="F7E9D2"/>
          </a:solidFill>
          <a:ln w="12700">
            <a:solidFill>
              <a:srgbClr val="F7E9D2"/>
            </a:solidFill>
            <a:prstDash val="solid"/>
          </a:ln>
        </p:spPr>
        <p:txBody>
          <a:bodyPr/>
          <a:p/>
        </p:txBody>
      </p:sp>
      <p:pic>
        <p:nvPicPr>
          <p:cNvPr id="39" name="Image 5" descr="/private/tmp/soh-deck/icons/Sparkles-amber.png">    </p:cNvPr>
          <p:cNvPicPr>
            <a:picLocks noChangeAspect="1"/>
          </p:cNvPicPr>
          <p:nvPr/>
        </p:nvPicPr>
        <p:blipFill>
          <a:blip r:embed="rId6"/>
          <a:stretch>
            <a:fillRect/>
          </a:stretch>
        </p:blipFill>
        <p:spPr>
          <a:xfrm>
            <a:off x="866851" y="4990795"/>
            <a:ext cx="241402" cy="241402"/>
          </a:xfrm>
          <a:prstGeom prst="rect">
            <a:avLst/>
          </a:prstGeom>
        </p:spPr>
      </p:pic>
      <p:sp>
        <p:nvSpPr>
          <p:cNvPr id="40" name="Text 32"/>
          <p:cNvSpPr/>
          <p:nvPr/>
        </p:nvSpPr>
        <p:spPr>
          <a:xfrm>
            <a:off x="1335024" y="4956048"/>
            <a:ext cx="2633472" cy="201168"/>
          </a:xfrm>
          <a:prstGeom prst="rect">
            <a:avLst/>
          </a:prstGeom>
          <a:noFill/>
          <a:ln/>
        </p:spPr>
        <p:txBody>
          <a:bodyPr wrap="square" lIns="0" tIns="0" rIns="0" bIns="0" rtlCol="0" anchor="t"/>
          <a:lstStyle/>
          <a:p>
            <a:pPr algn="l" indent="0" marL="0">
              <a:lnSpc>
                <a:spcPct val="100000"/>
              </a:lnSpc>
              <a:buNone/>
            </a:pPr>
            <a:r>
              <a:rPr lang="en-US" sz="1050" b="1" dirty="0">
                <a:solidFill>
                  <a:srgbClr val="1B1714"/>
                </a:solidFill>
                <a:latin typeface="Calibri" pitchFamily="34" charset="0"/>
                <a:ea typeface="Calibri" pitchFamily="34" charset="-122"/>
                <a:cs typeface="Calibri" pitchFamily="34" charset="-120"/>
              </a:rPr>
              <a:t>AI only where it adds value</a:t>
            </a:r>
            <a:endParaRPr lang="en-US" sz="1050" dirty="0"/>
          </a:p>
        </p:txBody>
      </p:sp>
      <p:sp>
        <p:nvSpPr>
          <p:cNvPr id="41" name="Shape 33"/>
          <p:cNvSpPr/>
          <p:nvPr/>
        </p:nvSpPr>
        <p:spPr>
          <a:xfrm>
            <a:off x="4343400" y="4800600"/>
            <a:ext cx="3493008" cy="640080"/>
          </a:xfrm>
          <a:prstGeom prst="roundRect">
            <a:avLst>
              <a:gd name="adj" fmla="val 17143"/>
            </a:avLst>
          </a:prstGeom>
          <a:solidFill>
            <a:srgbClr val="F1E7D8"/>
          </a:solidFill>
          <a:ln w="10160">
            <a:solidFill>
              <a:srgbClr val="E2CFB4"/>
            </a:solidFill>
            <a:prstDash val="solid"/>
          </a:ln>
        </p:spPr>
        <p:txBody>
          <a:bodyPr/>
          <a:p/>
        </p:txBody>
      </p:sp>
      <p:sp>
        <p:nvSpPr>
          <p:cNvPr id="42" name="Shape 34"/>
          <p:cNvSpPr/>
          <p:nvPr/>
        </p:nvSpPr>
        <p:spPr>
          <a:xfrm>
            <a:off x="4489704" y="4910328"/>
            <a:ext cx="402336" cy="402336"/>
          </a:xfrm>
          <a:prstGeom prst="roundRect">
            <a:avLst>
              <a:gd name="adj" fmla="val 50000"/>
            </a:avLst>
          </a:prstGeom>
          <a:solidFill>
            <a:srgbClr val="F7E9D2"/>
          </a:solidFill>
          <a:ln w="12700">
            <a:solidFill>
              <a:srgbClr val="F7E9D2"/>
            </a:solidFill>
            <a:prstDash val="solid"/>
          </a:ln>
        </p:spPr>
        <p:txBody>
          <a:bodyPr/>
          <a:p/>
        </p:txBody>
      </p:sp>
      <p:pic>
        <p:nvPicPr>
          <p:cNvPr id="43" name="Image 6" descr="/private/tmp/soh-deck/icons/Calculator-amber.png">    </p:cNvPr>
          <p:cNvPicPr>
            <a:picLocks noChangeAspect="1"/>
          </p:cNvPicPr>
          <p:nvPr/>
        </p:nvPicPr>
        <p:blipFill>
          <a:blip r:embed="rId7"/>
          <a:stretch>
            <a:fillRect/>
          </a:stretch>
        </p:blipFill>
        <p:spPr>
          <a:xfrm>
            <a:off x="4570171" y="4990795"/>
            <a:ext cx="241402" cy="241402"/>
          </a:xfrm>
          <a:prstGeom prst="rect">
            <a:avLst/>
          </a:prstGeom>
        </p:spPr>
      </p:pic>
      <p:sp>
        <p:nvSpPr>
          <p:cNvPr id="44" name="Text 35"/>
          <p:cNvSpPr/>
          <p:nvPr/>
        </p:nvSpPr>
        <p:spPr>
          <a:xfrm>
            <a:off x="5038344" y="4956048"/>
            <a:ext cx="2633472" cy="201168"/>
          </a:xfrm>
          <a:prstGeom prst="rect">
            <a:avLst/>
          </a:prstGeom>
          <a:noFill/>
          <a:ln/>
        </p:spPr>
        <p:txBody>
          <a:bodyPr wrap="square" lIns="0" tIns="0" rIns="0" bIns="0" rtlCol="0" anchor="t"/>
          <a:lstStyle/>
          <a:p>
            <a:pPr algn="l" indent="0" marL="0">
              <a:lnSpc>
                <a:spcPct val="100000"/>
              </a:lnSpc>
              <a:buNone/>
            </a:pPr>
            <a:r>
              <a:rPr lang="en-US" sz="1050" b="1" dirty="0">
                <a:solidFill>
                  <a:srgbClr val="1B1714"/>
                </a:solidFill>
                <a:latin typeface="Calibri" pitchFamily="34" charset="0"/>
                <a:ea typeface="Calibri" pitchFamily="34" charset="-122"/>
                <a:cs typeface="Calibri" pitchFamily="34" charset="-120"/>
              </a:rPr>
              <a:t>Deterministic business math</a:t>
            </a:r>
            <a:endParaRPr lang="en-US" sz="1050" dirty="0"/>
          </a:p>
        </p:txBody>
      </p:sp>
      <p:sp>
        <p:nvSpPr>
          <p:cNvPr id="45" name="Shape 36"/>
          <p:cNvSpPr/>
          <p:nvPr/>
        </p:nvSpPr>
        <p:spPr>
          <a:xfrm>
            <a:off x="8046720" y="4800600"/>
            <a:ext cx="3493008" cy="640080"/>
          </a:xfrm>
          <a:prstGeom prst="roundRect">
            <a:avLst>
              <a:gd name="adj" fmla="val 17143"/>
            </a:avLst>
          </a:prstGeom>
          <a:solidFill>
            <a:srgbClr val="F1E7D8"/>
          </a:solidFill>
          <a:ln w="10160">
            <a:solidFill>
              <a:srgbClr val="E2CFB4"/>
            </a:solidFill>
            <a:prstDash val="solid"/>
          </a:ln>
        </p:spPr>
        <p:txBody>
          <a:bodyPr/>
          <a:p/>
        </p:txBody>
      </p:sp>
      <p:sp>
        <p:nvSpPr>
          <p:cNvPr id="46" name="Shape 37"/>
          <p:cNvSpPr/>
          <p:nvPr/>
        </p:nvSpPr>
        <p:spPr>
          <a:xfrm>
            <a:off x="8193024" y="4910328"/>
            <a:ext cx="402336" cy="402336"/>
          </a:xfrm>
          <a:prstGeom prst="roundRect">
            <a:avLst>
              <a:gd name="adj" fmla="val 50000"/>
            </a:avLst>
          </a:prstGeom>
          <a:solidFill>
            <a:srgbClr val="F7E9D2"/>
          </a:solidFill>
          <a:ln w="12700">
            <a:solidFill>
              <a:srgbClr val="F7E9D2"/>
            </a:solidFill>
            <a:prstDash val="solid"/>
          </a:ln>
        </p:spPr>
        <p:txBody>
          <a:bodyPr/>
          <a:p/>
        </p:txBody>
      </p:sp>
      <p:pic>
        <p:nvPicPr>
          <p:cNvPr id="47" name="Image 7" descr="/private/tmp/soh-deck/icons/History-amber.png">    </p:cNvPr>
          <p:cNvPicPr>
            <a:picLocks noChangeAspect="1"/>
          </p:cNvPicPr>
          <p:nvPr/>
        </p:nvPicPr>
        <p:blipFill>
          <a:blip r:embed="rId8"/>
          <a:stretch>
            <a:fillRect/>
          </a:stretch>
        </p:blipFill>
        <p:spPr>
          <a:xfrm>
            <a:off x="8273491" y="4990795"/>
            <a:ext cx="241402" cy="241402"/>
          </a:xfrm>
          <a:prstGeom prst="rect">
            <a:avLst/>
          </a:prstGeom>
        </p:spPr>
      </p:pic>
      <p:sp>
        <p:nvSpPr>
          <p:cNvPr id="48" name="Text 38"/>
          <p:cNvSpPr/>
          <p:nvPr/>
        </p:nvSpPr>
        <p:spPr>
          <a:xfrm>
            <a:off x="8741664" y="4956048"/>
            <a:ext cx="2633472" cy="201168"/>
          </a:xfrm>
          <a:prstGeom prst="rect">
            <a:avLst/>
          </a:prstGeom>
          <a:noFill/>
          <a:ln/>
        </p:spPr>
        <p:txBody>
          <a:bodyPr wrap="square" lIns="0" tIns="0" rIns="0" bIns="0" rtlCol="0" anchor="t"/>
          <a:lstStyle/>
          <a:p>
            <a:pPr algn="l" indent="0" marL="0">
              <a:lnSpc>
                <a:spcPct val="100000"/>
              </a:lnSpc>
              <a:buNone/>
            </a:pPr>
            <a:r>
              <a:rPr lang="en-US" sz="1050" b="1" dirty="0">
                <a:solidFill>
                  <a:srgbClr val="1B1714"/>
                </a:solidFill>
                <a:latin typeface="Calibri" pitchFamily="34" charset="0"/>
                <a:ea typeface="Calibri" pitchFamily="34" charset="-122"/>
                <a:cs typeface="Calibri" pitchFamily="34" charset="-120"/>
              </a:rPr>
              <a:t>Every action is logged</a:t>
            </a:r>
            <a:endParaRPr lang="en-US" sz="1050" dirty="0"/>
          </a:p>
        </p:txBody>
      </p:sp>
      <p:sp>
        <p:nvSpPr>
          <p:cNvPr id="49" name="Text 39"/>
          <p:cNvSpPr/>
          <p:nvPr/>
        </p:nvSpPr>
        <p:spPr>
          <a:xfrm>
            <a:off x="640080" y="5824728"/>
            <a:ext cx="10515600" cy="201168"/>
          </a:xfrm>
          <a:prstGeom prst="rect">
            <a:avLst/>
          </a:prstGeom>
          <a:noFill/>
          <a:ln/>
        </p:spPr>
        <p:txBody>
          <a:bodyPr wrap="square" lIns="0" tIns="0" rIns="0" bIns="0" rtlCol="0" anchor="t"/>
          <a:lstStyle/>
          <a:p>
            <a:pPr algn="l" indent="0" marL="0">
              <a:lnSpc>
                <a:spcPct val="100000"/>
              </a:lnSpc>
              <a:buNone/>
            </a:pPr>
            <a:r>
              <a:rPr lang="en-US" sz="880" i="1" dirty="0">
                <a:solidFill>
                  <a:srgbClr val="8C8073"/>
                </a:solidFill>
                <a:latin typeface="Calibri" pitchFamily="34" charset="0"/>
                <a:ea typeface="Calibri" pitchFamily="34" charset="-122"/>
                <a:cs typeface="Calibri" pitchFamily="34" charset="-120"/>
              </a:rPr>
              <a:t>Domain 2 must-have:  trigger → data → logic → approval → logged outcome</a:t>
            </a:r>
            <a:endParaRPr lang="en-US" sz="880" dirty="0"/>
          </a:p>
        </p:txBody>
      </p:sp>
      <p:sp>
        <p:nvSpPr>
          <p:cNvPr id="50" name="Text 40"/>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51" name="Text 41"/>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THE ORDER DESK</a:t>
            </a:r>
            <a:endParaRPr lang="en-US" sz="900" dirty="0"/>
          </a:p>
        </p:txBody>
      </p:sp>
      <p:sp>
        <p:nvSpPr>
          <p:cNvPr id="3" name="Text 1"/>
          <p:cNvSpPr/>
          <p:nvPr/>
        </p:nvSpPr>
        <p:spPr>
          <a:xfrm>
            <a:off x="640080" y="640080"/>
            <a:ext cx="10881360" cy="1298448"/>
          </a:xfrm>
          <a:prstGeom prst="rect">
            <a:avLst/>
          </a:prstGeom>
          <a:noFill/>
          <a:ln/>
        </p:spPr>
        <p:txBody>
          <a:bodyPr wrap="square" lIns="0" tIns="0" rIns="0" bIns="0" rtlCol="0" anchor="t"/>
          <a:lstStyle/>
          <a:p>
            <a:pPr algn="l" indent="0" marL="0">
              <a:lnSpc>
                <a:spcPct val="94000"/>
              </a:lnSpc>
              <a:buNone/>
            </a:pPr>
            <a:r>
              <a:rPr lang="en-US" sz="3300" b="1" dirty="0">
                <a:solidFill>
                  <a:srgbClr val="1B1714"/>
                </a:solidFill>
                <a:latin typeface="Cambria" pitchFamily="34" charset="0"/>
                <a:ea typeface="Cambria" pitchFamily="34" charset="-122"/>
                <a:cs typeface="Cambria" pitchFamily="34" charset="-120"/>
              </a:rPr>
              <a:t>One order desk. Every channel.</a:t>
            </a:r>
            <a:endParaRPr lang="en-US" sz="3300" dirty="0"/>
          </a:p>
          <a:p>
            <a:pPr algn="l" indent="0" marL="0">
              <a:lnSpc>
                <a:spcPct val="94000"/>
              </a:lnSpc>
              <a:buNone/>
            </a:pPr>
            <a:r>
              <a:rPr lang="en-US" sz="3300" b="1" dirty="0">
                <a:solidFill>
                  <a:srgbClr val="1B1714"/>
                </a:solidFill>
                <a:latin typeface="Cambria" pitchFamily="34" charset="0"/>
                <a:ea typeface="Cambria" pitchFamily="34" charset="-122"/>
                <a:cs typeface="Cambria" pitchFamily="34" charset="-120"/>
              </a:rPr>
              <a:t>One decision.</a:t>
            </a:r>
            <a:endParaRPr lang="en-US" sz="3300" dirty="0"/>
          </a:p>
        </p:txBody>
      </p:sp>
      <p:sp>
        <p:nvSpPr>
          <p:cNvPr id="4" name="Text 2"/>
          <p:cNvSpPr/>
          <p:nvPr/>
        </p:nvSpPr>
        <p:spPr>
          <a:xfrm>
            <a:off x="640080" y="1783080"/>
            <a:ext cx="1115568" cy="420624"/>
          </a:xfrm>
          <a:prstGeom prst="rect">
            <a:avLst/>
          </a:prstGeom>
          <a:noFill/>
          <a:ln/>
        </p:spPr>
        <p:txBody>
          <a:bodyPr wrap="square" lIns="0" tIns="0" rIns="0" bIns="0" rtlCol="0" anchor="t"/>
          <a:lstStyle/>
          <a:p>
            <a:pPr algn="l" indent="0" marL="0">
              <a:lnSpc>
                <a:spcPct val="100000"/>
              </a:lnSpc>
              <a:buNone/>
            </a:pPr>
            <a:r>
              <a:rPr lang="en-US" sz="2700" b="1" dirty="0">
                <a:solidFill>
                  <a:srgbClr val="1B1714"/>
                </a:solidFill>
                <a:latin typeface="Cambria" pitchFamily="34" charset="0"/>
                <a:ea typeface="Cambria" pitchFamily="34" charset="-122"/>
                <a:cs typeface="Cambria" pitchFamily="34" charset="-120"/>
              </a:rPr>
              <a:t>34</a:t>
            </a:r>
            <a:endParaRPr lang="en-US" sz="2700" dirty="0"/>
          </a:p>
        </p:txBody>
      </p:sp>
      <p:sp>
        <p:nvSpPr>
          <p:cNvPr id="5" name="Text 3"/>
          <p:cNvSpPr/>
          <p:nvPr/>
        </p:nvSpPr>
        <p:spPr>
          <a:xfrm>
            <a:off x="640080" y="2212848"/>
            <a:ext cx="1133856" cy="310896"/>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messages scanned</a:t>
            </a:r>
            <a:endParaRPr lang="en-US" sz="860" dirty="0"/>
          </a:p>
        </p:txBody>
      </p:sp>
      <p:sp>
        <p:nvSpPr>
          <p:cNvPr id="6" name="Text 4"/>
          <p:cNvSpPr/>
          <p:nvPr/>
        </p:nvSpPr>
        <p:spPr>
          <a:xfrm>
            <a:off x="1901952" y="1783080"/>
            <a:ext cx="1115568" cy="420624"/>
          </a:xfrm>
          <a:prstGeom prst="rect">
            <a:avLst/>
          </a:prstGeom>
          <a:noFill/>
          <a:ln/>
        </p:spPr>
        <p:txBody>
          <a:bodyPr wrap="square" lIns="0" tIns="0" rIns="0" bIns="0" rtlCol="0" anchor="t"/>
          <a:lstStyle/>
          <a:p>
            <a:pPr algn="l" indent="0" marL="0">
              <a:lnSpc>
                <a:spcPct val="100000"/>
              </a:lnSpc>
              <a:buNone/>
            </a:pPr>
            <a:r>
              <a:rPr lang="en-US" sz="2700" b="1" dirty="0">
                <a:solidFill>
                  <a:srgbClr val="1B1714"/>
                </a:solidFill>
                <a:latin typeface="Cambria" pitchFamily="34" charset="0"/>
                <a:ea typeface="Cambria" pitchFamily="34" charset="-122"/>
                <a:cs typeface="Cambria" pitchFamily="34" charset="-120"/>
              </a:rPr>
              <a:t>15</a:t>
            </a:r>
            <a:endParaRPr lang="en-US" sz="2700" dirty="0"/>
          </a:p>
        </p:txBody>
      </p:sp>
      <p:sp>
        <p:nvSpPr>
          <p:cNvPr id="7" name="Text 5"/>
          <p:cNvSpPr/>
          <p:nvPr/>
        </p:nvSpPr>
        <p:spPr>
          <a:xfrm>
            <a:off x="1901952" y="2212848"/>
            <a:ext cx="1133856" cy="310896"/>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orders created</a:t>
            </a:r>
            <a:endParaRPr lang="en-US" sz="860" dirty="0"/>
          </a:p>
        </p:txBody>
      </p:sp>
      <p:sp>
        <p:nvSpPr>
          <p:cNvPr id="8" name="Text 6"/>
          <p:cNvSpPr/>
          <p:nvPr/>
        </p:nvSpPr>
        <p:spPr>
          <a:xfrm>
            <a:off x="3163824" y="1783080"/>
            <a:ext cx="1115568" cy="420624"/>
          </a:xfrm>
          <a:prstGeom prst="rect">
            <a:avLst/>
          </a:prstGeom>
          <a:noFill/>
          <a:ln/>
        </p:spPr>
        <p:txBody>
          <a:bodyPr wrap="square" lIns="0" tIns="0" rIns="0" bIns="0" rtlCol="0" anchor="t"/>
          <a:lstStyle/>
          <a:p>
            <a:pPr algn="l" indent="0" marL="0">
              <a:lnSpc>
                <a:spcPct val="100000"/>
              </a:lnSpc>
              <a:buNone/>
            </a:pPr>
            <a:r>
              <a:rPr lang="en-US" sz="2700" b="1" dirty="0">
                <a:solidFill>
                  <a:srgbClr val="1B1714"/>
                </a:solidFill>
                <a:latin typeface="Cambria" pitchFamily="34" charset="0"/>
                <a:ea typeface="Cambria" pitchFamily="34" charset="-122"/>
                <a:cs typeface="Cambria" pitchFamily="34" charset="-120"/>
              </a:rPr>
              <a:t>19</a:t>
            </a:r>
            <a:endParaRPr lang="en-US" sz="2700" dirty="0"/>
          </a:p>
        </p:txBody>
      </p:sp>
      <p:sp>
        <p:nvSpPr>
          <p:cNvPr id="9" name="Text 7"/>
          <p:cNvSpPr/>
          <p:nvPr/>
        </p:nvSpPr>
        <p:spPr>
          <a:xfrm>
            <a:off x="3163824" y="2212848"/>
            <a:ext cx="1133856" cy="310896"/>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filtered out</a:t>
            </a:r>
            <a:endParaRPr lang="en-US" sz="860" dirty="0"/>
          </a:p>
        </p:txBody>
      </p:sp>
      <p:sp>
        <p:nvSpPr>
          <p:cNvPr id="10" name="Shape 8"/>
          <p:cNvSpPr/>
          <p:nvPr/>
        </p:nvSpPr>
        <p:spPr>
          <a:xfrm>
            <a:off x="640080" y="2834640"/>
            <a:ext cx="347472" cy="347472"/>
          </a:xfrm>
          <a:prstGeom prst="roundRect">
            <a:avLst>
              <a:gd name="adj" fmla="val 50000"/>
            </a:avLst>
          </a:prstGeom>
          <a:solidFill>
            <a:srgbClr val="DFEDE4"/>
          </a:solidFill>
          <a:ln w="12700">
            <a:solidFill>
              <a:srgbClr val="DFEDE4"/>
            </a:solidFill>
            <a:prstDash val="solid"/>
          </a:ln>
        </p:spPr>
        <p:txBody>
          <a:bodyPr/>
          <a:p/>
        </p:txBody>
      </p:sp>
      <p:pic>
        <p:nvPicPr>
          <p:cNvPr id="11" name="Image 0" descr="/private/tmp/soh-deck/icons/BadgeCheck-green.png">    </p:cNvPr>
          <p:cNvPicPr>
            <a:picLocks noChangeAspect="1"/>
          </p:cNvPicPr>
          <p:nvPr/>
        </p:nvPicPr>
        <p:blipFill>
          <a:blip r:embed="rId1"/>
          <a:stretch>
            <a:fillRect/>
          </a:stretch>
        </p:blipFill>
        <p:spPr>
          <a:xfrm>
            <a:off x="709574" y="2904134"/>
            <a:ext cx="208483" cy="208483"/>
          </a:xfrm>
          <a:prstGeom prst="rect">
            <a:avLst/>
          </a:prstGeom>
        </p:spPr>
      </p:pic>
      <p:sp>
        <p:nvSpPr>
          <p:cNvPr id="12" name="Text 9"/>
          <p:cNvSpPr/>
          <p:nvPr/>
        </p:nvSpPr>
        <p:spPr>
          <a:xfrm>
            <a:off x="1097280" y="2816352"/>
            <a:ext cx="3246120" cy="201168"/>
          </a:xfrm>
          <a:prstGeom prst="rect">
            <a:avLst/>
          </a:prstGeom>
          <a:noFill/>
          <a:ln/>
        </p:spPr>
        <p:txBody>
          <a:bodyPr wrap="square" lIns="0" tIns="0" rIns="0" bIns="0" rtlCol="0" anchor="t"/>
          <a:lstStyle/>
          <a:p>
            <a:pPr algn="l" indent="0" marL="0">
              <a:lnSpc>
                <a:spcPct val="100000"/>
              </a:lnSpc>
              <a:buNone/>
            </a:pPr>
            <a:r>
              <a:rPr lang="en-US" sz="1070" b="1" dirty="0">
                <a:solidFill>
                  <a:srgbClr val="1B1714"/>
                </a:solidFill>
                <a:latin typeface="Calibri" pitchFamily="34" charset="0"/>
                <a:ea typeface="Calibri" pitchFamily="34" charset="-122"/>
                <a:cs typeface="Calibri" pitchFamily="34" charset="-120"/>
              </a:rPr>
              <a:t>Every row is decision-ready</a:t>
            </a:r>
            <a:endParaRPr lang="en-US" sz="1070" dirty="0"/>
          </a:p>
        </p:txBody>
      </p:sp>
      <p:sp>
        <p:nvSpPr>
          <p:cNvPr id="13" name="Text 10"/>
          <p:cNvSpPr/>
          <p:nvPr/>
        </p:nvSpPr>
        <p:spPr>
          <a:xfrm>
            <a:off x="1097280" y="3035808"/>
            <a:ext cx="3246120" cy="384048"/>
          </a:xfrm>
          <a:prstGeom prst="rect">
            <a:avLst/>
          </a:prstGeom>
          <a:noFill/>
          <a:ln/>
        </p:spPr>
        <p:txBody>
          <a:bodyPr wrap="square" lIns="0" tIns="0" rIns="0" bIns="0" rtlCol="0" anchor="t"/>
          <a:lstStyle/>
          <a:p>
            <a:pPr algn="l" indent="0" marL="0">
              <a:lnSpc>
                <a:spcPct val="98000"/>
              </a:lnSpc>
              <a:buNone/>
            </a:pPr>
            <a:r>
              <a:rPr lang="en-US" sz="890" dirty="0">
                <a:solidFill>
                  <a:srgbClr val="6B6258"/>
                </a:solidFill>
                <a:latin typeface="Calibri" pitchFamily="34" charset="0"/>
                <a:ea typeface="Calibri" pitchFamily="34" charset="-122"/>
                <a:cs typeface="Calibri" pitchFamily="34" charset="-120"/>
              </a:rPr>
              <a:t>Customer, items, total, delivery, stock signal, margin, risk and recommendation.</a:t>
            </a:r>
            <a:endParaRPr lang="en-US" sz="890" dirty="0"/>
          </a:p>
        </p:txBody>
      </p:sp>
      <p:sp>
        <p:nvSpPr>
          <p:cNvPr id="14" name="Shape 11"/>
          <p:cNvSpPr/>
          <p:nvPr/>
        </p:nvSpPr>
        <p:spPr>
          <a:xfrm>
            <a:off x="640080" y="3675888"/>
            <a:ext cx="347472" cy="347472"/>
          </a:xfrm>
          <a:prstGeom prst="roundRect">
            <a:avLst>
              <a:gd name="adj" fmla="val 50000"/>
            </a:avLst>
          </a:prstGeom>
          <a:solidFill>
            <a:srgbClr val="DFEDE4"/>
          </a:solidFill>
          <a:ln w="12700">
            <a:solidFill>
              <a:srgbClr val="DFEDE4"/>
            </a:solidFill>
            <a:prstDash val="solid"/>
          </a:ln>
        </p:spPr>
        <p:txBody>
          <a:bodyPr/>
          <a:p/>
        </p:txBody>
      </p:sp>
      <p:pic>
        <p:nvPicPr>
          <p:cNvPr id="15" name="Image 1" descr="/private/tmp/soh-deck/icons/BadgeCheck-green.png">    </p:cNvPr>
          <p:cNvPicPr>
            <a:picLocks noChangeAspect="1"/>
          </p:cNvPicPr>
          <p:nvPr/>
        </p:nvPicPr>
        <p:blipFill>
          <a:blip r:embed="rId2"/>
          <a:stretch>
            <a:fillRect/>
          </a:stretch>
        </p:blipFill>
        <p:spPr>
          <a:xfrm>
            <a:off x="709574" y="3745382"/>
            <a:ext cx="208483" cy="208483"/>
          </a:xfrm>
          <a:prstGeom prst="rect">
            <a:avLst/>
          </a:prstGeom>
        </p:spPr>
      </p:pic>
      <p:sp>
        <p:nvSpPr>
          <p:cNvPr id="16" name="Text 12"/>
          <p:cNvSpPr/>
          <p:nvPr/>
        </p:nvSpPr>
        <p:spPr>
          <a:xfrm>
            <a:off x="1097280" y="3657600"/>
            <a:ext cx="3246120" cy="201168"/>
          </a:xfrm>
          <a:prstGeom prst="rect">
            <a:avLst/>
          </a:prstGeom>
          <a:noFill/>
          <a:ln/>
        </p:spPr>
        <p:txBody>
          <a:bodyPr wrap="square" lIns="0" tIns="0" rIns="0" bIns="0" rtlCol="0" anchor="t"/>
          <a:lstStyle/>
          <a:p>
            <a:pPr algn="l" indent="0" marL="0">
              <a:lnSpc>
                <a:spcPct val="100000"/>
              </a:lnSpc>
              <a:buNone/>
            </a:pPr>
            <a:r>
              <a:rPr lang="en-US" sz="1070" b="1" dirty="0">
                <a:solidFill>
                  <a:srgbClr val="1B1714"/>
                </a:solidFill>
                <a:latin typeface="Calibri" pitchFamily="34" charset="0"/>
                <a:ea typeface="Calibri" pitchFamily="34" charset="-122"/>
                <a:cs typeface="Calibri" pitchFamily="34" charset="-120"/>
              </a:rPr>
              <a:t>Owner confirms on the right</a:t>
            </a:r>
            <a:endParaRPr lang="en-US" sz="1070" dirty="0"/>
          </a:p>
        </p:txBody>
      </p:sp>
      <p:sp>
        <p:nvSpPr>
          <p:cNvPr id="17" name="Text 13"/>
          <p:cNvSpPr/>
          <p:nvPr/>
        </p:nvSpPr>
        <p:spPr>
          <a:xfrm>
            <a:off x="1097280" y="3877056"/>
            <a:ext cx="3246120" cy="384048"/>
          </a:xfrm>
          <a:prstGeom prst="rect">
            <a:avLst/>
          </a:prstGeom>
          <a:noFill/>
          <a:ln/>
        </p:spPr>
        <p:txBody>
          <a:bodyPr wrap="square" lIns="0" tIns="0" rIns="0" bIns="0" rtlCol="0" anchor="t"/>
          <a:lstStyle/>
          <a:p>
            <a:pPr algn="l" indent="0" marL="0">
              <a:lnSpc>
                <a:spcPct val="98000"/>
              </a:lnSpc>
              <a:buNone/>
            </a:pPr>
            <a:r>
              <a:rPr lang="en-US" sz="890" dirty="0">
                <a:solidFill>
                  <a:srgbClr val="6B6258"/>
                </a:solidFill>
                <a:latin typeface="Calibri" pitchFamily="34" charset="0"/>
                <a:ea typeface="Calibri" pitchFamily="34" charset="-122"/>
                <a:cs typeface="Calibri" pitchFamily="34" charset="-120"/>
              </a:rPr>
              <a:t>Staff can review everything; only the owner can approve, reject or request information.</a:t>
            </a:r>
            <a:endParaRPr lang="en-US" sz="890" dirty="0"/>
          </a:p>
        </p:txBody>
      </p:sp>
      <p:sp>
        <p:nvSpPr>
          <p:cNvPr id="18" name="Shape 14"/>
          <p:cNvSpPr/>
          <p:nvPr/>
        </p:nvSpPr>
        <p:spPr>
          <a:xfrm>
            <a:off x="640080" y="4517136"/>
            <a:ext cx="347472" cy="347472"/>
          </a:xfrm>
          <a:prstGeom prst="roundRect">
            <a:avLst>
              <a:gd name="adj" fmla="val 50000"/>
            </a:avLst>
          </a:prstGeom>
          <a:solidFill>
            <a:srgbClr val="DFEDE4"/>
          </a:solidFill>
          <a:ln w="12700">
            <a:solidFill>
              <a:srgbClr val="DFEDE4"/>
            </a:solidFill>
            <a:prstDash val="solid"/>
          </a:ln>
        </p:spPr>
        <p:txBody>
          <a:bodyPr/>
          <a:p/>
        </p:txBody>
      </p:sp>
      <p:pic>
        <p:nvPicPr>
          <p:cNvPr id="19" name="Image 2" descr="/private/tmp/soh-deck/icons/BadgeCheck-green.png">    </p:cNvPr>
          <p:cNvPicPr>
            <a:picLocks noChangeAspect="1"/>
          </p:cNvPicPr>
          <p:nvPr/>
        </p:nvPicPr>
        <p:blipFill>
          <a:blip r:embed="rId3"/>
          <a:stretch>
            <a:fillRect/>
          </a:stretch>
        </p:blipFill>
        <p:spPr>
          <a:xfrm>
            <a:off x="709574" y="4586630"/>
            <a:ext cx="208483" cy="208483"/>
          </a:xfrm>
          <a:prstGeom prst="rect">
            <a:avLst/>
          </a:prstGeom>
        </p:spPr>
      </p:pic>
      <p:sp>
        <p:nvSpPr>
          <p:cNvPr id="20" name="Text 15"/>
          <p:cNvSpPr/>
          <p:nvPr/>
        </p:nvSpPr>
        <p:spPr>
          <a:xfrm>
            <a:off x="1097280" y="4498848"/>
            <a:ext cx="3246120" cy="201168"/>
          </a:xfrm>
          <a:prstGeom prst="rect">
            <a:avLst/>
          </a:prstGeom>
          <a:noFill/>
          <a:ln/>
        </p:spPr>
        <p:txBody>
          <a:bodyPr wrap="square" lIns="0" tIns="0" rIns="0" bIns="0" rtlCol="0" anchor="t"/>
          <a:lstStyle/>
          <a:p>
            <a:pPr algn="l" indent="0" marL="0">
              <a:lnSpc>
                <a:spcPct val="100000"/>
              </a:lnSpc>
              <a:buNone/>
            </a:pPr>
            <a:r>
              <a:rPr lang="en-US" sz="1070" b="1" dirty="0">
                <a:solidFill>
                  <a:srgbClr val="1B1714"/>
                </a:solidFill>
                <a:latin typeface="Calibri" pitchFamily="34" charset="0"/>
                <a:ea typeface="Calibri" pitchFamily="34" charset="-122"/>
                <a:cs typeface="Calibri" pitchFamily="34" charset="-120"/>
              </a:rPr>
              <a:t>Risk updates after every intake</a:t>
            </a:r>
            <a:endParaRPr lang="en-US" sz="1070" dirty="0"/>
          </a:p>
        </p:txBody>
      </p:sp>
      <p:sp>
        <p:nvSpPr>
          <p:cNvPr id="21" name="Text 16"/>
          <p:cNvSpPr/>
          <p:nvPr/>
        </p:nvSpPr>
        <p:spPr>
          <a:xfrm>
            <a:off x="1097280" y="4718304"/>
            <a:ext cx="3246120" cy="384048"/>
          </a:xfrm>
          <a:prstGeom prst="rect">
            <a:avLst/>
          </a:prstGeom>
          <a:noFill/>
          <a:ln/>
        </p:spPr>
        <p:txBody>
          <a:bodyPr wrap="square" lIns="0" tIns="0" rIns="0" bIns="0" rtlCol="0" anchor="t"/>
          <a:lstStyle/>
          <a:p>
            <a:pPr algn="l" indent="0" marL="0">
              <a:lnSpc>
                <a:spcPct val="98000"/>
              </a:lnSpc>
              <a:buNone/>
            </a:pPr>
            <a:r>
              <a:rPr lang="en-US" sz="890" dirty="0">
                <a:solidFill>
                  <a:srgbClr val="6B6258"/>
                </a:solidFill>
                <a:latin typeface="Calibri" pitchFamily="34" charset="0"/>
                <a:ea typeface="Calibri" pitchFamily="34" charset="-122"/>
                <a:cs typeface="Calibri" pitchFamily="34" charset="-120"/>
              </a:rPr>
              <a:t>Two donuts show risk band mix and the factors driving the score.</a:t>
            </a:r>
            <a:endParaRPr lang="en-US" sz="890" dirty="0"/>
          </a:p>
        </p:txBody>
      </p:sp>
      <p:sp>
        <p:nvSpPr>
          <p:cNvPr id="22" name="Shape 17"/>
          <p:cNvSpPr/>
          <p:nvPr/>
        </p:nvSpPr>
        <p:spPr>
          <a:xfrm>
            <a:off x="4709160" y="1554480"/>
            <a:ext cx="6903720" cy="4557141"/>
          </a:xfrm>
          <a:prstGeom prst="roundRect">
            <a:avLst>
              <a:gd name="adj" fmla="val 2408"/>
            </a:avLst>
          </a:prstGeom>
          <a:solidFill>
            <a:srgbClr val="FFFDF8"/>
          </a:solidFill>
          <a:ln w="1270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23" name="Shape 18"/>
          <p:cNvSpPr/>
          <p:nvPr/>
        </p:nvSpPr>
        <p:spPr>
          <a:xfrm>
            <a:off x="4718304" y="1563624"/>
            <a:ext cx="6885432" cy="256032"/>
          </a:xfrm>
          <a:prstGeom prst="rect">
            <a:avLst/>
          </a:prstGeom>
          <a:solidFill>
            <a:srgbClr val="F0E8DB"/>
          </a:solidFill>
          <a:ln w="12700">
            <a:solidFill>
              <a:srgbClr val="F0E8DB"/>
            </a:solidFill>
            <a:prstDash val="solid"/>
          </a:ln>
        </p:spPr>
        <p:txBody>
          <a:bodyPr/>
          <a:p/>
        </p:txBody>
      </p:sp>
      <p:sp>
        <p:nvSpPr>
          <p:cNvPr id="24" name="Shape 19"/>
          <p:cNvSpPr/>
          <p:nvPr/>
        </p:nvSpPr>
        <p:spPr>
          <a:xfrm>
            <a:off x="4818888" y="1645920"/>
            <a:ext cx="50292" cy="50292"/>
          </a:xfrm>
          <a:prstGeom prst="ellipse">
            <a:avLst/>
          </a:prstGeom>
          <a:solidFill>
            <a:srgbClr val="C86B4A"/>
          </a:solidFill>
          <a:ln w="12700">
            <a:solidFill>
              <a:srgbClr val="C86B4A"/>
            </a:solidFill>
            <a:prstDash val="solid"/>
          </a:ln>
        </p:spPr>
        <p:txBody>
          <a:bodyPr/>
          <a:p/>
        </p:txBody>
      </p:sp>
      <p:sp>
        <p:nvSpPr>
          <p:cNvPr id="25" name="Shape 20"/>
          <p:cNvSpPr/>
          <p:nvPr/>
        </p:nvSpPr>
        <p:spPr>
          <a:xfrm>
            <a:off x="4937760" y="1645920"/>
            <a:ext cx="50292" cy="50292"/>
          </a:xfrm>
          <a:prstGeom prst="ellipse">
            <a:avLst/>
          </a:prstGeom>
          <a:solidFill>
            <a:srgbClr val="D3A54A"/>
          </a:solidFill>
          <a:ln w="12700">
            <a:solidFill>
              <a:srgbClr val="D3A54A"/>
            </a:solidFill>
            <a:prstDash val="solid"/>
          </a:ln>
        </p:spPr>
        <p:txBody>
          <a:bodyPr/>
          <a:p/>
        </p:txBody>
      </p:sp>
      <p:sp>
        <p:nvSpPr>
          <p:cNvPr id="26" name="Shape 21"/>
          <p:cNvSpPr/>
          <p:nvPr/>
        </p:nvSpPr>
        <p:spPr>
          <a:xfrm>
            <a:off x="5056632" y="1645920"/>
            <a:ext cx="50292" cy="50292"/>
          </a:xfrm>
          <a:prstGeom prst="ellipse">
            <a:avLst/>
          </a:prstGeom>
          <a:solidFill>
            <a:srgbClr val="7FA27E"/>
          </a:solidFill>
          <a:ln w="12700">
            <a:solidFill>
              <a:srgbClr val="7FA27E"/>
            </a:solidFill>
            <a:prstDash val="solid"/>
          </a:ln>
        </p:spPr>
        <p:txBody>
          <a:bodyPr/>
          <a:p/>
        </p:txBody>
      </p:sp>
      <p:sp>
        <p:nvSpPr>
          <p:cNvPr id="27" name="Text 22"/>
          <p:cNvSpPr/>
          <p:nvPr/>
        </p:nvSpPr>
        <p:spPr>
          <a:xfrm>
            <a:off x="5212080" y="1604772"/>
            <a:ext cx="6217920" cy="146304"/>
          </a:xfrm>
          <a:prstGeom prst="rect">
            <a:avLst/>
          </a:prstGeom>
          <a:noFill/>
          <a:ln/>
        </p:spPr>
        <p:txBody>
          <a:bodyPr wrap="square" lIns="0" tIns="0" rIns="0" bIns="0" rtlCol="0" anchor="ctr"/>
          <a:lstStyle/>
          <a:p>
            <a:pPr algn="l" indent="0" marL="0">
              <a:lnSpc>
                <a:spcPct val="100000"/>
              </a:lnSpc>
              <a:buNone/>
            </a:pPr>
            <a:r>
              <a:rPr lang="en-US" sz="680" dirty="0">
                <a:solidFill>
                  <a:srgbClr val="8C8073"/>
                </a:solidFill>
                <a:latin typeface="Calibri" pitchFamily="34" charset="0"/>
                <a:ea typeface="Calibri" pitchFamily="34" charset="-122"/>
                <a:cs typeface="Calibri" pitchFamily="34" charset="-120"/>
              </a:rPr>
              <a:t>smartorderhub.local  /  order desk</a:t>
            </a:r>
            <a:endParaRPr lang="en-US" sz="680" dirty="0"/>
          </a:p>
        </p:txBody>
      </p:sp>
      <p:pic>
        <p:nvPicPr>
          <p:cNvPr id="28" name="Image 3" descr="/private/tmp/soh-deck/assets/shot-desk.png">    </p:cNvPr>
          <p:cNvPicPr>
            <a:picLocks noChangeAspect="1"/>
          </p:cNvPicPr>
          <p:nvPr/>
        </p:nvPicPr>
        <p:blipFill>
          <a:blip r:embed="rId4"/>
          <a:stretch>
            <a:fillRect/>
          </a:stretch>
        </p:blipFill>
        <p:spPr>
          <a:xfrm>
            <a:off x="4764024" y="1837944"/>
            <a:ext cx="6793992" cy="4246245"/>
          </a:xfrm>
          <a:prstGeom prst="rect">
            <a:avLst/>
          </a:prstGeom>
        </p:spPr>
      </p:pic>
      <p:sp>
        <p:nvSpPr>
          <p:cNvPr id="29" name="Shape 23"/>
          <p:cNvSpPr/>
          <p:nvPr/>
        </p:nvSpPr>
        <p:spPr>
          <a:xfrm>
            <a:off x="640080" y="6199632"/>
            <a:ext cx="91440" cy="91440"/>
          </a:xfrm>
          <a:prstGeom prst="ellipse">
            <a:avLst/>
          </a:prstGeom>
          <a:solidFill>
            <a:srgbClr val="2F6B4F"/>
          </a:solidFill>
          <a:ln w="12700">
            <a:solidFill>
              <a:srgbClr val="2F6B4F"/>
            </a:solidFill>
            <a:prstDash val="solid"/>
          </a:ln>
        </p:spPr>
        <p:txBody>
          <a:bodyPr/>
          <a:p/>
        </p:txBody>
      </p:sp>
      <p:sp>
        <p:nvSpPr>
          <p:cNvPr id="30" name="Text 24"/>
          <p:cNvSpPr/>
          <p:nvPr/>
        </p:nvSpPr>
        <p:spPr>
          <a:xfrm>
            <a:off x="777240" y="6144768"/>
            <a:ext cx="749808" cy="164592"/>
          </a:xfrm>
          <a:prstGeom prst="rect">
            <a:avLst/>
          </a:prstGeom>
          <a:noFill/>
          <a:ln/>
        </p:spPr>
        <p:txBody>
          <a:bodyPr wrap="square" lIns="0" tIns="0" rIns="0" bIns="0" rtlCol="0" anchor="t"/>
          <a:lstStyle/>
          <a:p>
            <a:pPr algn="l" indent="0" marL="0">
              <a:lnSpc>
                <a:spcPct val="100000"/>
              </a:lnSpc>
              <a:buNone/>
            </a:pPr>
            <a:r>
              <a:rPr lang="en-US" sz="720" dirty="0">
                <a:solidFill>
                  <a:srgbClr val="6B6258"/>
                </a:solidFill>
                <a:latin typeface="Calibri" pitchFamily="34" charset="0"/>
                <a:ea typeface="Calibri" pitchFamily="34" charset="-122"/>
                <a:cs typeface="Calibri" pitchFamily="34" charset="-120"/>
              </a:rPr>
              <a:t>WhatsApp</a:t>
            </a:r>
            <a:endParaRPr lang="en-US" sz="720" dirty="0"/>
          </a:p>
        </p:txBody>
      </p:sp>
      <p:sp>
        <p:nvSpPr>
          <p:cNvPr id="31" name="Shape 25"/>
          <p:cNvSpPr/>
          <p:nvPr/>
        </p:nvSpPr>
        <p:spPr>
          <a:xfrm>
            <a:off x="1591056" y="6199632"/>
            <a:ext cx="91440" cy="91440"/>
          </a:xfrm>
          <a:prstGeom prst="ellipse">
            <a:avLst/>
          </a:prstGeom>
          <a:solidFill>
            <a:srgbClr val="3B6EA5"/>
          </a:solidFill>
          <a:ln w="12700">
            <a:solidFill>
              <a:srgbClr val="3B6EA5"/>
            </a:solidFill>
            <a:prstDash val="solid"/>
          </a:ln>
        </p:spPr>
        <p:txBody>
          <a:bodyPr/>
          <a:p/>
        </p:txBody>
      </p:sp>
      <p:sp>
        <p:nvSpPr>
          <p:cNvPr id="32" name="Text 26"/>
          <p:cNvSpPr/>
          <p:nvPr/>
        </p:nvSpPr>
        <p:spPr>
          <a:xfrm>
            <a:off x="1728216" y="6144768"/>
            <a:ext cx="749808" cy="164592"/>
          </a:xfrm>
          <a:prstGeom prst="rect">
            <a:avLst/>
          </a:prstGeom>
          <a:noFill/>
          <a:ln/>
        </p:spPr>
        <p:txBody>
          <a:bodyPr wrap="square" lIns="0" tIns="0" rIns="0" bIns="0" rtlCol="0" anchor="t"/>
          <a:lstStyle/>
          <a:p>
            <a:pPr algn="l" indent="0" marL="0">
              <a:lnSpc>
                <a:spcPct val="100000"/>
              </a:lnSpc>
              <a:buNone/>
            </a:pPr>
            <a:r>
              <a:rPr lang="en-US" sz="720" dirty="0">
                <a:solidFill>
                  <a:srgbClr val="6B6258"/>
                </a:solidFill>
                <a:latin typeface="Calibri" pitchFamily="34" charset="0"/>
                <a:ea typeface="Calibri" pitchFamily="34" charset="-122"/>
                <a:cs typeface="Calibri" pitchFamily="34" charset="-120"/>
              </a:rPr>
              <a:t>Messenger</a:t>
            </a:r>
            <a:endParaRPr lang="en-US" sz="720" dirty="0"/>
          </a:p>
        </p:txBody>
      </p:sp>
      <p:sp>
        <p:nvSpPr>
          <p:cNvPr id="33" name="Shape 27"/>
          <p:cNvSpPr/>
          <p:nvPr/>
        </p:nvSpPr>
        <p:spPr>
          <a:xfrm>
            <a:off x="2542032" y="6199632"/>
            <a:ext cx="91440" cy="91440"/>
          </a:xfrm>
          <a:prstGeom prst="ellipse">
            <a:avLst/>
          </a:prstGeom>
          <a:solidFill>
            <a:srgbClr val="B45372"/>
          </a:solidFill>
          <a:ln w="12700">
            <a:solidFill>
              <a:srgbClr val="B45372"/>
            </a:solidFill>
            <a:prstDash val="solid"/>
          </a:ln>
        </p:spPr>
        <p:txBody>
          <a:bodyPr/>
          <a:p/>
        </p:txBody>
      </p:sp>
      <p:sp>
        <p:nvSpPr>
          <p:cNvPr id="34" name="Text 28"/>
          <p:cNvSpPr/>
          <p:nvPr/>
        </p:nvSpPr>
        <p:spPr>
          <a:xfrm>
            <a:off x="2679192" y="6144768"/>
            <a:ext cx="749808" cy="164592"/>
          </a:xfrm>
          <a:prstGeom prst="rect">
            <a:avLst/>
          </a:prstGeom>
          <a:noFill/>
          <a:ln/>
        </p:spPr>
        <p:txBody>
          <a:bodyPr wrap="square" lIns="0" tIns="0" rIns="0" bIns="0" rtlCol="0" anchor="t"/>
          <a:lstStyle/>
          <a:p>
            <a:pPr algn="l" indent="0" marL="0">
              <a:lnSpc>
                <a:spcPct val="100000"/>
              </a:lnSpc>
              <a:buNone/>
            </a:pPr>
            <a:r>
              <a:rPr lang="en-US" sz="720" dirty="0">
                <a:solidFill>
                  <a:srgbClr val="6B6258"/>
                </a:solidFill>
                <a:latin typeface="Calibri" pitchFamily="34" charset="0"/>
                <a:ea typeface="Calibri" pitchFamily="34" charset="-122"/>
                <a:cs typeface="Calibri" pitchFamily="34" charset="-120"/>
              </a:rPr>
              <a:t>Instagram</a:t>
            </a:r>
            <a:endParaRPr lang="en-US" sz="720" dirty="0"/>
          </a:p>
        </p:txBody>
      </p:sp>
      <p:sp>
        <p:nvSpPr>
          <p:cNvPr id="35" name="Shape 29"/>
          <p:cNvSpPr/>
          <p:nvPr/>
        </p:nvSpPr>
        <p:spPr>
          <a:xfrm>
            <a:off x="3493008" y="6199632"/>
            <a:ext cx="91440" cy="91440"/>
          </a:xfrm>
          <a:prstGeom prst="ellipse">
            <a:avLst/>
          </a:prstGeom>
          <a:solidFill>
            <a:srgbClr val="3B8AB5"/>
          </a:solidFill>
          <a:ln w="12700">
            <a:solidFill>
              <a:srgbClr val="3B8AB5"/>
            </a:solidFill>
            <a:prstDash val="solid"/>
          </a:ln>
        </p:spPr>
        <p:txBody>
          <a:bodyPr/>
          <a:p/>
        </p:txBody>
      </p:sp>
      <p:sp>
        <p:nvSpPr>
          <p:cNvPr id="36" name="Text 30"/>
          <p:cNvSpPr/>
          <p:nvPr/>
        </p:nvSpPr>
        <p:spPr>
          <a:xfrm>
            <a:off x="3630168" y="6144768"/>
            <a:ext cx="749808" cy="164592"/>
          </a:xfrm>
          <a:prstGeom prst="rect">
            <a:avLst/>
          </a:prstGeom>
          <a:noFill/>
          <a:ln/>
        </p:spPr>
        <p:txBody>
          <a:bodyPr wrap="square" lIns="0" tIns="0" rIns="0" bIns="0" rtlCol="0" anchor="t"/>
          <a:lstStyle/>
          <a:p>
            <a:pPr algn="l" indent="0" marL="0">
              <a:lnSpc>
                <a:spcPct val="100000"/>
              </a:lnSpc>
              <a:buNone/>
            </a:pPr>
            <a:r>
              <a:rPr lang="en-US" sz="720" dirty="0">
                <a:solidFill>
                  <a:srgbClr val="6B6258"/>
                </a:solidFill>
                <a:latin typeface="Calibri" pitchFamily="34" charset="0"/>
                <a:ea typeface="Calibri" pitchFamily="34" charset="-122"/>
                <a:cs typeface="Calibri" pitchFamily="34" charset="-120"/>
              </a:rPr>
              <a:t>Telegram</a:t>
            </a:r>
            <a:endParaRPr lang="en-US" sz="720" dirty="0"/>
          </a:p>
        </p:txBody>
      </p:sp>
      <p:sp>
        <p:nvSpPr>
          <p:cNvPr id="37" name="Shape 31"/>
          <p:cNvSpPr/>
          <p:nvPr/>
        </p:nvSpPr>
        <p:spPr>
          <a:xfrm>
            <a:off x="4443984" y="6199632"/>
            <a:ext cx="91440" cy="91440"/>
          </a:xfrm>
          <a:prstGeom prst="ellipse">
            <a:avLst/>
          </a:prstGeom>
          <a:solidFill>
            <a:srgbClr val="3B6EA5"/>
          </a:solidFill>
          <a:ln w="12700">
            <a:solidFill>
              <a:srgbClr val="3B6EA5"/>
            </a:solidFill>
            <a:prstDash val="solid"/>
          </a:ln>
        </p:spPr>
        <p:txBody>
          <a:bodyPr/>
          <a:p/>
        </p:txBody>
      </p:sp>
      <p:sp>
        <p:nvSpPr>
          <p:cNvPr id="38" name="Text 32"/>
          <p:cNvSpPr/>
          <p:nvPr/>
        </p:nvSpPr>
        <p:spPr>
          <a:xfrm>
            <a:off x="4581144" y="6144768"/>
            <a:ext cx="749808" cy="164592"/>
          </a:xfrm>
          <a:prstGeom prst="rect">
            <a:avLst/>
          </a:prstGeom>
          <a:noFill/>
          <a:ln/>
        </p:spPr>
        <p:txBody>
          <a:bodyPr wrap="square" lIns="0" tIns="0" rIns="0" bIns="0" rtlCol="0" anchor="t"/>
          <a:lstStyle/>
          <a:p>
            <a:pPr algn="l" indent="0" marL="0">
              <a:lnSpc>
                <a:spcPct val="100000"/>
              </a:lnSpc>
              <a:buNone/>
            </a:pPr>
            <a:r>
              <a:rPr lang="en-US" sz="720" dirty="0">
                <a:solidFill>
                  <a:srgbClr val="6B6258"/>
                </a:solidFill>
                <a:latin typeface="Calibri" pitchFamily="34" charset="0"/>
                <a:ea typeface="Calibri" pitchFamily="34" charset="-122"/>
                <a:cs typeface="Calibri" pitchFamily="34" charset="-120"/>
              </a:rPr>
              <a:t>Email</a:t>
            </a:r>
            <a:endParaRPr lang="en-US" sz="720" dirty="0"/>
          </a:p>
        </p:txBody>
      </p:sp>
      <p:sp>
        <p:nvSpPr>
          <p:cNvPr id="39" name="Shape 33"/>
          <p:cNvSpPr/>
          <p:nvPr/>
        </p:nvSpPr>
        <p:spPr>
          <a:xfrm>
            <a:off x="5394960" y="6199632"/>
            <a:ext cx="91440" cy="91440"/>
          </a:xfrm>
          <a:prstGeom prst="ellipse">
            <a:avLst/>
          </a:prstGeom>
          <a:solidFill>
            <a:srgbClr val="1B1714"/>
          </a:solidFill>
          <a:ln w="12700">
            <a:solidFill>
              <a:srgbClr val="1B1714"/>
            </a:solidFill>
            <a:prstDash val="solid"/>
          </a:ln>
        </p:spPr>
        <p:txBody>
          <a:bodyPr/>
          <a:p/>
        </p:txBody>
      </p:sp>
      <p:sp>
        <p:nvSpPr>
          <p:cNvPr id="40" name="Text 34"/>
          <p:cNvSpPr/>
          <p:nvPr/>
        </p:nvSpPr>
        <p:spPr>
          <a:xfrm>
            <a:off x="5532120" y="6144768"/>
            <a:ext cx="749808" cy="164592"/>
          </a:xfrm>
          <a:prstGeom prst="rect">
            <a:avLst/>
          </a:prstGeom>
          <a:noFill/>
          <a:ln/>
        </p:spPr>
        <p:txBody>
          <a:bodyPr wrap="square" lIns="0" tIns="0" rIns="0" bIns="0" rtlCol="0" anchor="t"/>
          <a:lstStyle/>
          <a:p>
            <a:pPr algn="l" indent="0" marL="0">
              <a:lnSpc>
                <a:spcPct val="100000"/>
              </a:lnSpc>
              <a:buNone/>
            </a:pPr>
            <a:r>
              <a:rPr lang="en-US" sz="720" dirty="0">
                <a:solidFill>
                  <a:srgbClr val="6B6258"/>
                </a:solidFill>
                <a:latin typeface="Calibri" pitchFamily="34" charset="0"/>
                <a:ea typeface="Calibri" pitchFamily="34" charset="-122"/>
                <a:cs typeface="Calibri" pitchFamily="34" charset="-120"/>
              </a:rPr>
              <a:t>TikTok</a:t>
            </a:r>
            <a:endParaRPr lang="en-US" sz="720" dirty="0"/>
          </a:p>
        </p:txBody>
      </p:sp>
      <p:sp>
        <p:nvSpPr>
          <p:cNvPr id="41" name="Text 35"/>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42" name="Text 36"/>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05</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INTAKE &amp; EXTRACTION</a:t>
            </a:r>
            <a:endParaRPr lang="en-US" sz="900" dirty="0"/>
          </a:p>
        </p:txBody>
      </p:sp>
      <p:sp>
        <p:nvSpPr>
          <p:cNvPr id="3" name="Text 1"/>
          <p:cNvSpPr/>
          <p:nvPr/>
        </p:nvSpPr>
        <p:spPr>
          <a:xfrm>
            <a:off x="640080" y="640080"/>
            <a:ext cx="10241280" cy="960120"/>
          </a:xfrm>
          <a:prstGeom prst="rect">
            <a:avLst/>
          </a:prstGeom>
          <a:noFill/>
          <a:ln/>
        </p:spPr>
        <p:txBody>
          <a:bodyPr wrap="square" lIns="0" tIns="0" rIns="0" bIns="0" rtlCol="0" anchor="t"/>
          <a:lstStyle/>
          <a:p>
            <a:pPr algn="l" indent="0" marL="0">
              <a:lnSpc>
                <a:spcPct val="94000"/>
              </a:lnSpc>
              <a:buNone/>
            </a:pPr>
            <a:r>
              <a:rPr lang="en-US" sz="3100" b="1" dirty="0">
                <a:solidFill>
                  <a:srgbClr val="1B1714"/>
                </a:solidFill>
                <a:latin typeface="Cambria" pitchFamily="34" charset="0"/>
                <a:ea typeface="Cambria" pitchFamily="34" charset="-122"/>
                <a:cs typeface="Cambria" pitchFamily="34" charset="-120"/>
              </a:rPr>
              <a:t>34 raw messages become 15 reviewable orders.</a:t>
            </a:r>
            <a:endParaRPr lang="en-US" sz="3100" dirty="0"/>
          </a:p>
        </p:txBody>
      </p:sp>
      <p:sp>
        <p:nvSpPr>
          <p:cNvPr id="4" name="Shape 2"/>
          <p:cNvSpPr/>
          <p:nvPr/>
        </p:nvSpPr>
        <p:spPr>
          <a:xfrm>
            <a:off x="594360" y="1554480"/>
            <a:ext cx="6629400" cy="4385691"/>
          </a:xfrm>
          <a:prstGeom prst="roundRect">
            <a:avLst>
              <a:gd name="adj" fmla="val 2502"/>
            </a:avLst>
          </a:prstGeom>
          <a:solidFill>
            <a:srgbClr val="FFFDF8"/>
          </a:solidFill>
          <a:ln w="1270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5" name="Shape 3"/>
          <p:cNvSpPr/>
          <p:nvPr/>
        </p:nvSpPr>
        <p:spPr>
          <a:xfrm>
            <a:off x="603504" y="1563624"/>
            <a:ext cx="6611112" cy="256032"/>
          </a:xfrm>
          <a:prstGeom prst="rect">
            <a:avLst/>
          </a:prstGeom>
          <a:solidFill>
            <a:srgbClr val="F0E8DB"/>
          </a:solidFill>
          <a:ln w="12700">
            <a:solidFill>
              <a:srgbClr val="F0E8DB"/>
            </a:solidFill>
            <a:prstDash val="solid"/>
          </a:ln>
        </p:spPr>
        <p:txBody>
          <a:bodyPr/>
          <a:p/>
        </p:txBody>
      </p:sp>
      <p:sp>
        <p:nvSpPr>
          <p:cNvPr id="6" name="Shape 4"/>
          <p:cNvSpPr/>
          <p:nvPr/>
        </p:nvSpPr>
        <p:spPr>
          <a:xfrm>
            <a:off x="704088" y="1645920"/>
            <a:ext cx="50292" cy="50292"/>
          </a:xfrm>
          <a:prstGeom prst="ellipse">
            <a:avLst/>
          </a:prstGeom>
          <a:solidFill>
            <a:srgbClr val="C86B4A"/>
          </a:solidFill>
          <a:ln w="12700">
            <a:solidFill>
              <a:srgbClr val="C86B4A"/>
            </a:solidFill>
            <a:prstDash val="solid"/>
          </a:ln>
        </p:spPr>
        <p:txBody>
          <a:bodyPr/>
          <a:p/>
        </p:txBody>
      </p:sp>
      <p:sp>
        <p:nvSpPr>
          <p:cNvPr id="7" name="Shape 5"/>
          <p:cNvSpPr/>
          <p:nvPr/>
        </p:nvSpPr>
        <p:spPr>
          <a:xfrm>
            <a:off x="822960" y="1645920"/>
            <a:ext cx="50292" cy="50292"/>
          </a:xfrm>
          <a:prstGeom prst="ellipse">
            <a:avLst/>
          </a:prstGeom>
          <a:solidFill>
            <a:srgbClr val="D3A54A"/>
          </a:solidFill>
          <a:ln w="12700">
            <a:solidFill>
              <a:srgbClr val="D3A54A"/>
            </a:solidFill>
            <a:prstDash val="solid"/>
          </a:ln>
        </p:spPr>
        <p:txBody>
          <a:bodyPr/>
          <a:p/>
        </p:txBody>
      </p:sp>
      <p:sp>
        <p:nvSpPr>
          <p:cNvPr id="8" name="Shape 6"/>
          <p:cNvSpPr/>
          <p:nvPr/>
        </p:nvSpPr>
        <p:spPr>
          <a:xfrm>
            <a:off x="941832" y="1645920"/>
            <a:ext cx="50292" cy="50292"/>
          </a:xfrm>
          <a:prstGeom prst="ellipse">
            <a:avLst/>
          </a:prstGeom>
          <a:solidFill>
            <a:srgbClr val="7FA27E"/>
          </a:solidFill>
          <a:ln w="12700">
            <a:solidFill>
              <a:srgbClr val="7FA27E"/>
            </a:solidFill>
            <a:prstDash val="solid"/>
          </a:ln>
        </p:spPr>
        <p:txBody>
          <a:bodyPr/>
          <a:p/>
        </p:txBody>
      </p:sp>
      <p:sp>
        <p:nvSpPr>
          <p:cNvPr id="9" name="Text 7"/>
          <p:cNvSpPr/>
          <p:nvPr/>
        </p:nvSpPr>
        <p:spPr>
          <a:xfrm>
            <a:off x="1097280" y="1604772"/>
            <a:ext cx="5943600" cy="146304"/>
          </a:xfrm>
          <a:prstGeom prst="rect">
            <a:avLst/>
          </a:prstGeom>
          <a:noFill/>
          <a:ln/>
        </p:spPr>
        <p:txBody>
          <a:bodyPr wrap="square" lIns="0" tIns="0" rIns="0" bIns="0" rtlCol="0" anchor="ctr"/>
          <a:lstStyle/>
          <a:p>
            <a:pPr algn="l" indent="0" marL="0">
              <a:lnSpc>
                <a:spcPct val="100000"/>
              </a:lnSpc>
              <a:buNone/>
            </a:pPr>
            <a:r>
              <a:rPr lang="en-US" sz="680" dirty="0">
                <a:solidFill>
                  <a:srgbClr val="8C8073"/>
                </a:solidFill>
                <a:latin typeface="Calibri" pitchFamily="34" charset="0"/>
                <a:ea typeface="Calibri" pitchFamily="34" charset="-122"/>
                <a:cs typeface="Calibri" pitchFamily="34" charset="-120"/>
              </a:rPr>
              <a:t>smartorderhub.local  /  inbox</a:t>
            </a:r>
            <a:endParaRPr lang="en-US" sz="680" dirty="0"/>
          </a:p>
        </p:txBody>
      </p:sp>
      <p:pic>
        <p:nvPicPr>
          <p:cNvPr id="10" name="Image 0" descr="/private/tmp/soh-deck/assets/shot-inbox.png">    </p:cNvPr>
          <p:cNvPicPr>
            <a:picLocks noChangeAspect="1"/>
          </p:cNvPicPr>
          <p:nvPr/>
        </p:nvPicPr>
        <p:blipFill>
          <a:blip r:embed="rId1"/>
          <a:stretch>
            <a:fillRect/>
          </a:stretch>
        </p:blipFill>
        <p:spPr>
          <a:xfrm>
            <a:off x="649224" y="1837944"/>
            <a:ext cx="6519672" cy="4074795"/>
          </a:xfrm>
          <a:prstGeom prst="rect">
            <a:avLst/>
          </a:prstGeom>
        </p:spPr>
      </p:pic>
      <p:sp>
        <p:nvSpPr>
          <p:cNvPr id="11" name="Text 8"/>
          <p:cNvSpPr/>
          <p:nvPr/>
        </p:nvSpPr>
        <p:spPr>
          <a:xfrm>
            <a:off x="658368" y="6099048"/>
            <a:ext cx="6492240" cy="219456"/>
          </a:xfrm>
          <a:prstGeom prst="rect">
            <a:avLst/>
          </a:prstGeom>
          <a:noFill/>
          <a:ln/>
        </p:spPr>
        <p:txBody>
          <a:bodyPr wrap="square" lIns="0" tIns="0" rIns="0" bIns="0" rtlCol="0" anchor="t"/>
          <a:lstStyle/>
          <a:p>
            <a:pPr algn="l" indent="0" marL="0">
              <a:lnSpc>
                <a:spcPct val="100000"/>
              </a:lnSpc>
              <a:buNone/>
            </a:pPr>
            <a:r>
              <a:rPr lang="en-US" sz="820" i="1" dirty="0">
                <a:solidFill>
                  <a:srgbClr val="8C8073"/>
                </a:solidFill>
                <a:latin typeface="Calibri" pitchFamily="34" charset="0"/>
                <a:ea typeface="Calibri" pitchFamily="34" charset="-122"/>
                <a:cs typeface="Calibri" pitchFamily="34" charset="-120"/>
              </a:rPr>
              <a:t>Every message, its source, classification and extraction confidence — the raw trail stays visible.</a:t>
            </a:r>
            <a:endParaRPr lang="en-US" sz="820" dirty="0"/>
          </a:p>
        </p:txBody>
      </p:sp>
      <p:sp>
        <p:nvSpPr>
          <p:cNvPr id="12" name="Shape 9"/>
          <p:cNvSpPr/>
          <p:nvPr/>
        </p:nvSpPr>
        <p:spPr>
          <a:xfrm>
            <a:off x="7406640" y="1572768"/>
            <a:ext cx="384048" cy="384048"/>
          </a:xfrm>
          <a:prstGeom prst="roundRect">
            <a:avLst>
              <a:gd name="adj" fmla="val 50000"/>
            </a:avLst>
          </a:prstGeom>
          <a:solidFill>
            <a:srgbClr val="F6E3C4"/>
          </a:solidFill>
          <a:ln w="12700">
            <a:solidFill>
              <a:srgbClr val="F6E3C4"/>
            </a:solidFill>
            <a:prstDash val="solid"/>
          </a:ln>
        </p:spPr>
        <p:txBody>
          <a:bodyPr/>
          <a:p/>
        </p:txBody>
      </p:sp>
      <p:pic>
        <p:nvPicPr>
          <p:cNvPr id="13" name="Image 1" descr="/private/tmp/soh-deck/icons/Filter-amber.png">    </p:cNvPr>
          <p:cNvPicPr>
            <a:picLocks noChangeAspect="1"/>
          </p:cNvPicPr>
          <p:nvPr/>
        </p:nvPicPr>
        <p:blipFill>
          <a:blip r:embed="rId2"/>
          <a:stretch>
            <a:fillRect/>
          </a:stretch>
        </p:blipFill>
        <p:spPr>
          <a:xfrm>
            <a:off x="7483450" y="1649578"/>
            <a:ext cx="230429" cy="230429"/>
          </a:xfrm>
          <a:prstGeom prst="rect">
            <a:avLst/>
          </a:prstGeom>
        </p:spPr>
      </p:pic>
      <p:sp>
        <p:nvSpPr>
          <p:cNvPr id="14" name="Text 10"/>
          <p:cNvSpPr/>
          <p:nvPr/>
        </p:nvSpPr>
        <p:spPr>
          <a:xfrm>
            <a:off x="7936992" y="1554480"/>
            <a:ext cx="3520440" cy="201168"/>
          </a:xfrm>
          <a:prstGeom prst="rect">
            <a:avLst/>
          </a:prstGeom>
          <a:noFill/>
          <a:ln/>
        </p:spPr>
        <p:txBody>
          <a:bodyPr wrap="square" lIns="0" tIns="0" rIns="0" bIns="0" rtlCol="0" anchor="t"/>
          <a:lstStyle/>
          <a:p>
            <a:pPr algn="l" indent="0" marL="0">
              <a:lnSpc>
                <a:spcPct val="100000"/>
              </a:lnSpc>
              <a:buNone/>
            </a:pPr>
            <a:r>
              <a:rPr lang="en-US" sz="1130" b="1" dirty="0">
                <a:solidFill>
                  <a:srgbClr val="1B1714"/>
                </a:solidFill>
                <a:latin typeface="Calibri" pitchFamily="34" charset="0"/>
                <a:ea typeface="Calibri" pitchFamily="34" charset="-122"/>
                <a:cs typeface="Calibri" pitchFamily="34" charset="-120"/>
              </a:rPr>
              <a:t>Classify</a:t>
            </a:r>
            <a:endParaRPr lang="en-US" sz="1130" dirty="0"/>
          </a:p>
        </p:txBody>
      </p:sp>
      <p:sp>
        <p:nvSpPr>
          <p:cNvPr id="15" name="Text 11"/>
          <p:cNvSpPr/>
          <p:nvPr/>
        </p:nvSpPr>
        <p:spPr>
          <a:xfrm>
            <a:off x="7936992" y="1773936"/>
            <a:ext cx="3493008" cy="457200"/>
          </a:xfrm>
          <a:prstGeom prst="rect">
            <a:avLst/>
          </a:prstGeom>
          <a:noFill/>
          <a:ln/>
        </p:spPr>
        <p:txBody>
          <a:bodyPr wrap="square" lIns="0" tIns="0" rIns="0" bIns="0" rtlCol="0" anchor="t"/>
          <a:lstStyle/>
          <a:p>
            <a:pPr algn="l" indent="0" marL="0">
              <a:lnSpc>
                <a:spcPct val="98000"/>
              </a:lnSpc>
              <a:buNone/>
            </a:pPr>
            <a:r>
              <a:rPr lang="en-US" sz="900" dirty="0">
                <a:solidFill>
                  <a:srgbClr val="6B6258"/>
                </a:solidFill>
                <a:latin typeface="Calibri" pitchFamily="34" charset="0"/>
                <a:ea typeface="Calibri" pitchFamily="34" charset="-122"/>
                <a:cs typeface="Calibri" pitchFamily="34" charset="-120"/>
              </a:rPr>
              <a:t>Order, inquiry, ad, after-sales or other. 19 messages are filtered out.</a:t>
            </a:r>
            <a:endParaRPr lang="en-US" sz="900" dirty="0"/>
          </a:p>
        </p:txBody>
      </p:sp>
      <p:sp>
        <p:nvSpPr>
          <p:cNvPr id="16" name="Shape 12"/>
          <p:cNvSpPr/>
          <p:nvPr/>
        </p:nvSpPr>
        <p:spPr>
          <a:xfrm>
            <a:off x="7406640" y="2414016"/>
            <a:ext cx="384048" cy="384048"/>
          </a:xfrm>
          <a:prstGeom prst="roundRect">
            <a:avLst>
              <a:gd name="adj" fmla="val 50000"/>
            </a:avLst>
          </a:prstGeom>
          <a:solidFill>
            <a:srgbClr val="F6E3C4"/>
          </a:solidFill>
          <a:ln w="12700">
            <a:solidFill>
              <a:srgbClr val="F6E3C4"/>
            </a:solidFill>
            <a:prstDash val="solid"/>
          </a:ln>
        </p:spPr>
        <p:txBody>
          <a:bodyPr/>
          <a:p/>
        </p:txBody>
      </p:sp>
      <p:pic>
        <p:nvPicPr>
          <p:cNvPr id="17" name="Image 2" descr="/private/tmp/soh-deck/icons/Sparkles-amber.png">    </p:cNvPr>
          <p:cNvPicPr>
            <a:picLocks noChangeAspect="1"/>
          </p:cNvPicPr>
          <p:nvPr/>
        </p:nvPicPr>
        <p:blipFill>
          <a:blip r:embed="rId3"/>
          <a:stretch>
            <a:fillRect/>
          </a:stretch>
        </p:blipFill>
        <p:spPr>
          <a:xfrm>
            <a:off x="7483450" y="2490826"/>
            <a:ext cx="230429" cy="230429"/>
          </a:xfrm>
          <a:prstGeom prst="rect">
            <a:avLst/>
          </a:prstGeom>
        </p:spPr>
      </p:pic>
      <p:sp>
        <p:nvSpPr>
          <p:cNvPr id="18" name="Text 13"/>
          <p:cNvSpPr/>
          <p:nvPr/>
        </p:nvSpPr>
        <p:spPr>
          <a:xfrm>
            <a:off x="7936992" y="2395728"/>
            <a:ext cx="3520440" cy="201168"/>
          </a:xfrm>
          <a:prstGeom prst="rect">
            <a:avLst/>
          </a:prstGeom>
          <a:noFill/>
          <a:ln/>
        </p:spPr>
        <p:txBody>
          <a:bodyPr wrap="square" lIns="0" tIns="0" rIns="0" bIns="0" rtlCol="0" anchor="t"/>
          <a:lstStyle/>
          <a:p>
            <a:pPr algn="l" indent="0" marL="0">
              <a:lnSpc>
                <a:spcPct val="100000"/>
              </a:lnSpc>
              <a:buNone/>
            </a:pPr>
            <a:r>
              <a:rPr lang="en-US" sz="1130" b="1" dirty="0">
                <a:solidFill>
                  <a:srgbClr val="1B1714"/>
                </a:solidFill>
                <a:latin typeface="Calibri" pitchFamily="34" charset="0"/>
                <a:ea typeface="Calibri" pitchFamily="34" charset="-122"/>
                <a:cs typeface="Calibri" pitchFamily="34" charset="-120"/>
              </a:rPr>
              <a:t>Extract</a:t>
            </a:r>
            <a:endParaRPr lang="en-US" sz="1130" dirty="0"/>
          </a:p>
        </p:txBody>
      </p:sp>
      <p:sp>
        <p:nvSpPr>
          <p:cNvPr id="19" name="Text 14"/>
          <p:cNvSpPr/>
          <p:nvPr/>
        </p:nvSpPr>
        <p:spPr>
          <a:xfrm>
            <a:off x="7936992" y="2615184"/>
            <a:ext cx="3493008" cy="457200"/>
          </a:xfrm>
          <a:prstGeom prst="rect">
            <a:avLst/>
          </a:prstGeom>
          <a:noFill/>
          <a:ln/>
        </p:spPr>
        <p:txBody>
          <a:bodyPr wrap="square" lIns="0" tIns="0" rIns="0" bIns="0" rtlCol="0" anchor="t"/>
          <a:lstStyle/>
          <a:p>
            <a:pPr algn="l" indent="0" marL="0">
              <a:lnSpc>
                <a:spcPct val="98000"/>
              </a:lnSpc>
              <a:buNone/>
            </a:pPr>
            <a:r>
              <a:rPr lang="en-US" sz="900" dirty="0">
                <a:solidFill>
                  <a:srgbClr val="6B6258"/>
                </a:solidFill>
                <a:latin typeface="Calibri" pitchFamily="34" charset="0"/>
                <a:ea typeface="Calibri" pitchFamily="34" charset="-122"/>
                <a:cs typeface="Calibri" pitchFamily="34" charset="-120"/>
              </a:rPr>
              <a:t>Customer, items, quantities, address, delivery window and industry fields.</a:t>
            </a:r>
            <a:endParaRPr lang="en-US" sz="900" dirty="0"/>
          </a:p>
        </p:txBody>
      </p:sp>
      <p:sp>
        <p:nvSpPr>
          <p:cNvPr id="20" name="Shape 15"/>
          <p:cNvSpPr/>
          <p:nvPr/>
        </p:nvSpPr>
        <p:spPr>
          <a:xfrm>
            <a:off x="7406640" y="3255264"/>
            <a:ext cx="384048" cy="384048"/>
          </a:xfrm>
          <a:prstGeom prst="roundRect">
            <a:avLst>
              <a:gd name="adj" fmla="val 50000"/>
            </a:avLst>
          </a:prstGeom>
          <a:solidFill>
            <a:srgbClr val="F6E3C4"/>
          </a:solidFill>
          <a:ln w="12700">
            <a:solidFill>
              <a:srgbClr val="F6E3C4"/>
            </a:solidFill>
            <a:prstDash val="solid"/>
          </a:ln>
        </p:spPr>
        <p:txBody>
          <a:bodyPr/>
          <a:p/>
        </p:txBody>
      </p:sp>
      <p:pic>
        <p:nvPicPr>
          <p:cNvPr id="21" name="Image 3" descr="/private/tmp/soh-deck/icons/BadgeCheck-amber.png">    </p:cNvPr>
          <p:cNvPicPr>
            <a:picLocks noChangeAspect="1"/>
          </p:cNvPicPr>
          <p:nvPr/>
        </p:nvPicPr>
        <p:blipFill>
          <a:blip r:embed="rId4"/>
          <a:stretch>
            <a:fillRect/>
          </a:stretch>
        </p:blipFill>
        <p:spPr>
          <a:xfrm>
            <a:off x="7483450" y="3332074"/>
            <a:ext cx="230429" cy="230429"/>
          </a:xfrm>
          <a:prstGeom prst="rect">
            <a:avLst/>
          </a:prstGeom>
        </p:spPr>
      </p:pic>
      <p:sp>
        <p:nvSpPr>
          <p:cNvPr id="22" name="Text 16"/>
          <p:cNvSpPr/>
          <p:nvPr/>
        </p:nvSpPr>
        <p:spPr>
          <a:xfrm>
            <a:off x="7936992" y="3236976"/>
            <a:ext cx="3520440" cy="201168"/>
          </a:xfrm>
          <a:prstGeom prst="rect">
            <a:avLst/>
          </a:prstGeom>
          <a:noFill/>
          <a:ln/>
        </p:spPr>
        <p:txBody>
          <a:bodyPr wrap="square" lIns="0" tIns="0" rIns="0" bIns="0" rtlCol="0" anchor="t"/>
          <a:lstStyle/>
          <a:p>
            <a:pPr algn="l" indent="0" marL="0">
              <a:lnSpc>
                <a:spcPct val="100000"/>
              </a:lnSpc>
              <a:buNone/>
            </a:pPr>
            <a:r>
              <a:rPr lang="en-US" sz="1130" b="1" dirty="0">
                <a:solidFill>
                  <a:srgbClr val="1B1714"/>
                </a:solidFill>
                <a:latin typeface="Calibri" pitchFamily="34" charset="0"/>
                <a:ea typeface="Calibri" pitchFamily="34" charset="-122"/>
                <a:cs typeface="Calibri" pitchFamily="34" charset="-120"/>
              </a:rPr>
              <a:t>Show confidence</a:t>
            </a:r>
            <a:endParaRPr lang="en-US" sz="1130" dirty="0"/>
          </a:p>
        </p:txBody>
      </p:sp>
      <p:sp>
        <p:nvSpPr>
          <p:cNvPr id="23" name="Text 17"/>
          <p:cNvSpPr/>
          <p:nvPr/>
        </p:nvSpPr>
        <p:spPr>
          <a:xfrm>
            <a:off x="7936992" y="3456432"/>
            <a:ext cx="3493008" cy="457200"/>
          </a:xfrm>
          <a:prstGeom prst="rect">
            <a:avLst/>
          </a:prstGeom>
          <a:noFill/>
          <a:ln/>
        </p:spPr>
        <p:txBody>
          <a:bodyPr wrap="square" lIns="0" tIns="0" rIns="0" bIns="0" rtlCol="0" anchor="t"/>
          <a:lstStyle/>
          <a:p>
            <a:pPr algn="l" indent="0" marL="0">
              <a:lnSpc>
                <a:spcPct val="98000"/>
              </a:lnSpc>
              <a:buNone/>
            </a:pPr>
            <a:r>
              <a:rPr lang="en-US" sz="900" dirty="0">
                <a:solidFill>
                  <a:srgbClr val="6B6258"/>
                </a:solidFill>
                <a:latin typeface="Calibri" pitchFamily="34" charset="0"/>
                <a:ea typeface="Calibri" pitchFamily="34" charset="-122"/>
                <a:cs typeface="Calibri" pitchFamily="34" charset="-120"/>
              </a:rPr>
              <a:t>The Aisyah order has 96% extraction confidence; missing fields become review tasks.</a:t>
            </a:r>
            <a:endParaRPr lang="en-US" sz="900" dirty="0"/>
          </a:p>
        </p:txBody>
      </p:sp>
      <p:sp>
        <p:nvSpPr>
          <p:cNvPr id="24" name="Shape 18"/>
          <p:cNvSpPr/>
          <p:nvPr/>
        </p:nvSpPr>
        <p:spPr>
          <a:xfrm>
            <a:off x="7406640" y="4096512"/>
            <a:ext cx="384048" cy="384048"/>
          </a:xfrm>
          <a:prstGeom prst="roundRect">
            <a:avLst>
              <a:gd name="adj" fmla="val 50000"/>
            </a:avLst>
          </a:prstGeom>
          <a:solidFill>
            <a:srgbClr val="F6E3C4"/>
          </a:solidFill>
          <a:ln w="12700">
            <a:solidFill>
              <a:srgbClr val="F6E3C4"/>
            </a:solidFill>
            <a:prstDash val="solid"/>
          </a:ln>
        </p:spPr>
        <p:txBody>
          <a:bodyPr/>
          <a:p/>
        </p:txBody>
      </p:sp>
      <p:pic>
        <p:nvPicPr>
          <p:cNvPr id="25" name="Image 4" descr="/private/tmp/soh-deck/icons/History-amber.png">    </p:cNvPr>
          <p:cNvPicPr>
            <a:picLocks noChangeAspect="1"/>
          </p:cNvPicPr>
          <p:nvPr/>
        </p:nvPicPr>
        <p:blipFill>
          <a:blip r:embed="rId5"/>
          <a:stretch>
            <a:fillRect/>
          </a:stretch>
        </p:blipFill>
        <p:spPr>
          <a:xfrm>
            <a:off x="7483450" y="4173322"/>
            <a:ext cx="230429" cy="230429"/>
          </a:xfrm>
          <a:prstGeom prst="rect">
            <a:avLst/>
          </a:prstGeom>
        </p:spPr>
      </p:pic>
      <p:sp>
        <p:nvSpPr>
          <p:cNvPr id="26" name="Text 19"/>
          <p:cNvSpPr/>
          <p:nvPr/>
        </p:nvSpPr>
        <p:spPr>
          <a:xfrm>
            <a:off x="7936992" y="4078224"/>
            <a:ext cx="3520440" cy="201168"/>
          </a:xfrm>
          <a:prstGeom prst="rect">
            <a:avLst/>
          </a:prstGeom>
          <a:noFill/>
          <a:ln/>
        </p:spPr>
        <p:txBody>
          <a:bodyPr wrap="square" lIns="0" tIns="0" rIns="0" bIns="0" rtlCol="0" anchor="t"/>
          <a:lstStyle/>
          <a:p>
            <a:pPr algn="l" indent="0" marL="0">
              <a:lnSpc>
                <a:spcPct val="100000"/>
              </a:lnSpc>
              <a:buNone/>
            </a:pPr>
            <a:r>
              <a:rPr lang="en-US" sz="1130" b="1" dirty="0">
                <a:solidFill>
                  <a:srgbClr val="1B1714"/>
                </a:solidFill>
                <a:latin typeface="Calibri" pitchFamily="34" charset="0"/>
                <a:ea typeface="Calibri" pitchFamily="34" charset="-122"/>
                <a:cs typeface="Calibri" pitchFamily="34" charset="-120"/>
              </a:rPr>
              <a:t>Keep the source</a:t>
            </a:r>
            <a:endParaRPr lang="en-US" sz="1130" dirty="0"/>
          </a:p>
        </p:txBody>
      </p:sp>
      <p:sp>
        <p:nvSpPr>
          <p:cNvPr id="27" name="Text 20"/>
          <p:cNvSpPr/>
          <p:nvPr/>
        </p:nvSpPr>
        <p:spPr>
          <a:xfrm>
            <a:off x="7936992" y="4297680"/>
            <a:ext cx="3493008" cy="457200"/>
          </a:xfrm>
          <a:prstGeom prst="rect">
            <a:avLst/>
          </a:prstGeom>
          <a:noFill/>
          <a:ln/>
        </p:spPr>
        <p:txBody>
          <a:bodyPr wrap="square" lIns="0" tIns="0" rIns="0" bIns="0" rtlCol="0" anchor="t"/>
          <a:lstStyle/>
          <a:p>
            <a:pPr algn="l" indent="0" marL="0">
              <a:lnSpc>
                <a:spcPct val="98000"/>
              </a:lnSpc>
              <a:buNone/>
            </a:pPr>
            <a:r>
              <a:rPr lang="en-US" sz="900" dirty="0">
                <a:solidFill>
                  <a:srgbClr val="6B6258"/>
                </a:solidFill>
                <a:latin typeface="Calibri" pitchFamily="34" charset="0"/>
                <a:ea typeface="Calibri" pitchFamily="34" charset="-122"/>
                <a:cs typeface="Calibri" pitchFamily="34" charset="-120"/>
              </a:rPr>
              <a:t>Every order links back to its message and original text.</a:t>
            </a:r>
            <a:endParaRPr lang="en-US" sz="900" dirty="0"/>
          </a:p>
        </p:txBody>
      </p:sp>
      <p:sp>
        <p:nvSpPr>
          <p:cNvPr id="28" name="Shape 21"/>
          <p:cNvSpPr/>
          <p:nvPr/>
        </p:nvSpPr>
        <p:spPr>
          <a:xfrm>
            <a:off x="7406640" y="5120640"/>
            <a:ext cx="4023360" cy="621792"/>
          </a:xfrm>
          <a:prstGeom prst="roundRect">
            <a:avLst>
              <a:gd name="adj" fmla="val 17647"/>
            </a:avLst>
          </a:prstGeom>
          <a:solidFill>
            <a:srgbClr val="F1E7D8"/>
          </a:solidFill>
          <a:ln w="10160">
            <a:solidFill>
              <a:srgbClr val="E2CFB4"/>
            </a:solidFill>
            <a:prstDash val="solid"/>
          </a:ln>
        </p:spPr>
        <p:txBody>
          <a:bodyPr/>
          <a:p/>
        </p:txBody>
      </p:sp>
      <p:sp>
        <p:nvSpPr>
          <p:cNvPr id="29" name="Text 22"/>
          <p:cNvSpPr/>
          <p:nvPr/>
        </p:nvSpPr>
        <p:spPr>
          <a:xfrm>
            <a:off x="7571232" y="5230368"/>
            <a:ext cx="1234440" cy="182880"/>
          </a:xfrm>
          <a:prstGeom prst="rect">
            <a:avLst/>
          </a:prstGeom>
          <a:noFill/>
          <a:ln/>
        </p:spPr>
        <p:txBody>
          <a:bodyPr wrap="square" lIns="0" tIns="0" rIns="0" bIns="0" rtlCol="0" anchor="t"/>
          <a:lstStyle/>
          <a:p>
            <a:pPr algn="l" indent="0" marL="0">
              <a:lnSpc>
                <a:spcPct val="100000"/>
              </a:lnSpc>
              <a:buNone/>
            </a:pPr>
            <a:r>
              <a:rPr lang="en-US" sz="920" b="1" dirty="0">
                <a:solidFill>
                  <a:srgbClr val="1B1714"/>
                </a:solidFill>
                <a:latin typeface="Calibri" pitchFamily="34" charset="0"/>
                <a:ea typeface="Calibri" pitchFamily="34" charset="-122"/>
                <a:cs typeface="Calibri" pitchFamily="34" charset="-120"/>
              </a:rPr>
              <a:t>19 filtered out</a:t>
            </a:r>
            <a:endParaRPr lang="en-US" sz="920" dirty="0"/>
          </a:p>
        </p:txBody>
      </p:sp>
      <p:sp>
        <p:nvSpPr>
          <p:cNvPr id="30" name="Text 23"/>
          <p:cNvSpPr/>
          <p:nvPr/>
        </p:nvSpPr>
        <p:spPr>
          <a:xfrm>
            <a:off x="8650224" y="5230368"/>
            <a:ext cx="2633472" cy="310896"/>
          </a:xfrm>
          <a:prstGeom prst="rect">
            <a:avLst/>
          </a:prstGeom>
          <a:noFill/>
          <a:ln/>
        </p:spPr>
        <p:txBody>
          <a:bodyPr wrap="square" lIns="0" tIns="0" rIns="0" bIns="0" rtlCol="0" anchor="t"/>
          <a:lstStyle/>
          <a:p>
            <a:pPr algn="l" indent="0" marL="0">
              <a:lnSpc>
                <a:spcPct val="95000"/>
              </a:lnSpc>
              <a:buNone/>
            </a:pPr>
            <a:r>
              <a:rPr lang="en-US" sz="760" dirty="0">
                <a:solidFill>
                  <a:srgbClr val="6B6258"/>
                </a:solidFill>
                <a:latin typeface="Calibri" pitchFamily="34" charset="0"/>
                <a:ea typeface="Calibri" pitchFamily="34" charset="-122"/>
                <a:cs typeface="Calibri" pitchFamily="34" charset="-120"/>
              </a:rPr>
              <a:t>4 inquiries · 4 ads · 4 after-sales · 4 other · 3 uncertain</a:t>
            </a:r>
            <a:endParaRPr lang="en-US" sz="760" dirty="0"/>
          </a:p>
        </p:txBody>
      </p:sp>
      <p:sp>
        <p:nvSpPr>
          <p:cNvPr id="31" name="Text 24"/>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32" name="Text 25"/>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06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714"/>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DECISION &amp; APPROVAL</a:t>
            </a:r>
            <a:endParaRPr lang="en-US" sz="900" dirty="0"/>
          </a:p>
        </p:txBody>
      </p:sp>
      <p:sp>
        <p:nvSpPr>
          <p:cNvPr id="3" name="Text 1"/>
          <p:cNvSpPr/>
          <p:nvPr/>
        </p:nvSpPr>
        <p:spPr>
          <a:xfrm>
            <a:off x="640080" y="640080"/>
            <a:ext cx="10881360" cy="960120"/>
          </a:xfrm>
          <a:prstGeom prst="rect">
            <a:avLst/>
          </a:prstGeom>
          <a:noFill/>
          <a:ln/>
        </p:spPr>
        <p:txBody>
          <a:bodyPr wrap="square" lIns="0" tIns="0" rIns="0" bIns="0" rtlCol="0" anchor="t"/>
          <a:lstStyle/>
          <a:p>
            <a:pPr algn="l" indent="0" marL="0">
              <a:lnSpc>
                <a:spcPct val="94000"/>
              </a:lnSpc>
              <a:buNone/>
            </a:pPr>
            <a:r>
              <a:rPr lang="en-US" sz="3300" b="1" dirty="0">
                <a:solidFill>
                  <a:srgbClr val="F7F2E8"/>
                </a:solidFill>
                <a:latin typeface="Cambria" pitchFamily="34" charset="0"/>
                <a:ea typeface="Cambria" pitchFamily="34" charset="-122"/>
                <a:cs typeface="Cambria" pitchFamily="34" charset="-120"/>
              </a:rPr>
              <a:t>The decision arrives with its evidence.</a:t>
            </a:r>
            <a:endParaRPr lang="en-US" sz="3300" dirty="0"/>
          </a:p>
        </p:txBody>
      </p:sp>
      <p:sp>
        <p:nvSpPr>
          <p:cNvPr id="4" name="Shape 2"/>
          <p:cNvSpPr/>
          <p:nvPr/>
        </p:nvSpPr>
        <p:spPr>
          <a:xfrm>
            <a:off x="594360" y="1481328"/>
            <a:ext cx="6355080" cy="4980318"/>
          </a:xfrm>
          <a:prstGeom prst="roundRect">
            <a:avLst>
              <a:gd name="adj" fmla="val 2203"/>
            </a:avLst>
          </a:prstGeom>
          <a:solidFill>
            <a:srgbClr val="FFFDF8"/>
          </a:solidFill>
          <a:ln w="12700">
            <a:solidFill>
              <a:srgbClr val="5A4939"/>
            </a:solidFill>
            <a:prstDash val="solid"/>
          </a:ln>
          <a:effectLst>
            <a:outerShdw sx="100000" sy="100000" kx="0" ky="0" algn="bl" rotWithShape="0" blurRad="31750" dist="50800" dir="2700000">
              <a:srgbClr val="4A3B2A">
                <a:alpha val="10000"/>
              </a:srgbClr>
            </a:outerShdw>
          </a:effectLst>
        </p:spPr>
        <p:txBody>
          <a:bodyPr/>
          <a:p/>
        </p:txBody>
      </p:sp>
      <p:sp>
        <p:nvSpPr>
          <p:cNvPr id="5" name="Shape 3"/>
          <p:cNvSpPr/>
          <p:nvPr/>
        </p:nvSpPr>
        <p:spPr>
          <a:xfrm>
            <a:off x="603504" y="1490472"/>
            <a:ext cx="6336792" cy="256032"/>
          </a:xfrm>
          <a:prstGeom prst="rect">
            <a:avLst/>
          </a:prstGeom>
          <a:solidFill>
            <a:srgbClr val="F0E8DB"/>
          </a:solidFill>
          <a:ln w="12700">
            <a:solidFill>
              <a:srgbClr val="F0E8DB"/>
            </a:solidFill>
            <a:prstDash val="solid"/>
          </a:ln>
        </p:spPr>
        <p:txBody>
          <a:bodyPr/>
          <a:p/>
        </p:txBody>
      </p:sp>
      <p:sp>
        <p:nvSpPr>
          <p:cNvPr id="6" name="Shape 4"/>
          <p:cNvSpPr/>
          <p:nvPr/>
        </p:nvSpPr>
        <p:spPr>
          <a:xfrm>
            <a:off x="704088" y="1572768"/>
            <a:ext cx="50292" cy="50292"/>
          </a:xfrm>
          <a:prstGeom prst="ellipse">
            <a:avLst/>
          </a:prstGeom>
          <a:solidFill>
            <a:srgbClr val="C86B4A"/>
          </a:solidFill>
          <a:ln w="12700">
            <a:solidFill>
              <a:srgbClr val="C86B4A"/>
            </a:solidFill>
            <a:prstDash val="solid"/>
          </a:ln>
        </p:spPr>
        <p:txBody>
          <a:bodyPr/>
          <a:p/>
        </p:txBody>
      </p:sp>
      <p:sp>
        <p:nvSpPr>
          <p:cNvPr id="7" name="Shape 5"/>
          <p:cNvSpPr/>
          <p:nvPr/>
        </p:nvSpPr>
        <p:spPr>
          <a:xfrm>
            <a:off x="822960" y="1572768"/>
            <a:ext cx="50292" cy="50292"/>
          </a:xfrm>
          <a:prstGeom prst="ellipse">
            <a:avLst/>
          </a:prstGeom>
          <a:solidFill>
            <a:srgbClr val="D3A54A"/>
          </a:solidFill>
          <a:ln w="12700">
            <a:solidFill>
              <a:srgbClr val="D3A54A"/>
            </a:solidFill>
            <a:prstDash val="solid"/>
          </a:ln>
        </p:spPr>
        <p:txBody>
          <a:bodyPr/>
          <a:p/>
        </p:txBody>
      </p:sp>
      <p:sp>
        <p:nvSpPr>
          <p:cNvPr id="8" name="Shape 6"/>
          <p:cNvSpPr/>
          <p:nvPr/>
        </p:nvSpPr>
        <p:spPr>
          <a:xfrm>
            <a:off x="941832" y="1572768"/>
            <a:ext cx="50292" cy="50292"/>
          </a:xfrm>
          <a:prstGeom prst="ellipse">
            <a:avLst/>
          </a:prstGeom>
          <a:solidFill>
            <a:srgbClr val="7FA27E"/>
          </a:solidFill>
          <a:ln w="12700">
            <a:solidFill>
              <a:srgbClr val="7FA27E"/>
            </a:solidFill>
            <a:prstDash val="solid"/>
          </a:ln>
        </p:spPr>
        <p:txBody>
          <a:bodyPr/>
          <a:p/>
        </p:txBody>
      </p:sp>
      <p:sp>
        <p:nvSpPr>
          <p:cNvPr id="9" name="Text 7"/>
          <p:cNvSpPr/>
          <p:nvPr/>
        </p:nvSpPr>
        <p:spPr>
          <a:xfrm>
            <a:off x="1097280" y="1531620"/>
            <a:ext cx="5669280" cy="146304"/>
          </a:xfrm>
          <a:prstGeom prst="rect">
            <a:avLst/>
          </a:prstGeom>
          <a:noFill/>
          <a:ln/>
        </p:spPr>
        <p:txBody>
          <a:bodyPr wrap="square" lIns="0" tIns="0" rIns="0" bIns="0" rtlCol="0" anchor="ctr"/>
          <a:lstStyle/>
          <a:p>
            <a:pPr algn="l" indent="0" marL="0">
              <a:lnSpc>
                <a:spcPct val="100000"/>
              </a:lnSpc>
              <a:buNone/>
            </a:pPr>
            <a:r>
              <a:rPr lang="en-US" sz="680" dirty="0">
                <a:solidFill>
                  <a:srgbClr val="8C8073"/>
                </a:solidFill>
                <a:latin typeface="Calibri" pitchFamily="34" charset="0"/>
                <a:ea typeface="Calibri" pitchFamily="34" charset="-122"/>
                <a:cs typeface="Calibri" pitchFamily="34" charset="-120"/>
              </a:rPr>
              <a:t>ORD-0001  /  review</a:t>
            </a:r>
            <a:endParaRPr lang="en-US" sz="680" dirty="0"/>
          </a:p>
        </p:txBody>
      </p:sp>
      <p:pic>
        <p:nvPicPr>
          <p:cNvPr id="10" name="Image 0" descr="/private/tmp/soh-deck/assets/shot-review.png">    </p:cNvPr>
          <p:cNvPicPr>
            <a:picLocks noChangeAspect="1"/>
          </p:cNvPicPr>
          <p:nvPr/>
        </p:nvPicPr>
        <p:blipFill>
          <a:blip r:embed="rId1"/>
          <a:stretch>
            <a:fillRect/>
          </a:stretch>
        </p:blipFill>
        <p:spPr>
          <a:xfrm>
            <a:off x="649224" y="1764792"/>
            <a:ext cx="6245352" cy="4669422"/>
          </a:xfrm>
          <a:prstGeom prst="rect">
            <a:avLst/>
          </a:prstGeom>
        </p:spPr>
      </p:pic>
      <p:sp>
        <p:nvSpPr>
          <p:cNvPr id="11" name="Shape 8"/>
          <p:cNvSpPr/>
          <p:nvPr/>
        </p:nvSpPr>
        <p:spPr>
          <a:xfrm>
            <a:off x="7360920" y="1508760"/>
            <a:ext cx="4160520" cy="1261872"/>
          </a:xfrm>
          <a:prstGeom prst="roundRect">
            <a:avLst>
              <a:gd name="adj" fmla="val 7971"/>
            </a:avLst>
          </a:prstGeom>
          <a:solidFill>
            <a:srgbClr val="2D2620"/>
          </a:solidFill>
          <a:ln w="10160">
            <a:solidFill>
              <a:srgbClr val="4A3E32"/>
            </a:solidFill>
            <a:prstDash val="solid"/>
          </a:ln>
        </p:spPr>
        <p:txBody>
          <a:bodyPr/>
          <a:p/>
        </p:txBody>
      </p:sp>
      <p:sp>
        <p:nvSpPr>
          <p:cNvPr id="12" name="Shape 9"/>
          <p:cNvSpPr/>
          <p:nvPr/>
        </p:nvSpPr>
        <p:spPr>
          <a:xfrm>
            <a:off x="7516368" y="1819656"/>
            <a:ext cx="420624" cy="420624"/>
          </a:xfrm>
          <a:prstGeom prst="roundRect">
            <a:avLst>
              <a:gd name="adj" fmla="val 50000"/>
            </a:avLst>
          </a:prstGeom>
          <a:solidFill>
            <a:srgbClr val="3A3026"/>
          </a:solidFill>
          <a:ln w="12700">
            <a:solidFill>
              <a:srgbClr val="3A3026"/>
            </a:solidFill>
            <a:prstDash val="solid"/>
          </a:ln>
        </p:spPr>
        <p:txBody>
          <a:bodyPr/>
          <a:p/>
        </p:txBody>
      </p:sp>
      <p:pic>
        <p:nvPicPr>
          <p:cNvPr id="13" name="Image 1" descr="/private/tmp/soh-deck/icons/ShieldCheck-amber.png">    </p:cNvPr>
          <p:cNvPicPr>
            <a:picLocks noChangeAspect="1"/>
          </p:cNvPicPr>
          <p:nvPr/>
        </p:nvPicPr>
        <p:blipFill>
          <a:blip r:embed="rId2"/>
          <a:stretch>
            <a:fillRect/>
          </a:stretch>
        </p:blipFill>
        <p:spPr>
          <a:xfrm>
            <a:off x="7600493" y="1903781"/>
            <a:ext cx="252374" cy="252374"/>
          </a:xfrm>
          <a:prstGeom prst="rect">
            <a:avLst/>
          </a:prstGeom>
        </p:spPr>
      </p:pic>
      <p:sp>
        <p:nvSpPr>
          <p:cNvPr id="14" name="Text 10"/>
          <p:cNvSpPr/>
          <p:nvPr/>
        </p:nvSpPr>
        <p:spPr>
          <a:xfrm>
            <a:off x="8065008" y="1673352"/>
            <a:ext cx="3246120" cy="201168"/>
          </a:xfrm>
          <a:prstGeom prst="rect">
            <a:avLst/>
          </a:prstGeom>
          <a:noFill/>
          <a:ln/>
        </p:spPr>
        <p:txBody>
          <a:bodyPr wrap="square" lIns="0" tIns="0" rIns="0" bIns="0" rtlCol="0" anchor="t"/>
          <a:lstStyle/>
          <a:p>
            <a:pPr algn="l" indent="0" marL="0">
              <a:lnSpc>
                <a:spcPct val="100000"/>
              </a:lnSpc>
              <a:buNone/>
            </a:pPr>
            <a:r>
              <a:rPr lang="en-US" sz="1080" b="1" dirty="0">
                <a:solidFill>
                  <a:srgbClr val="F7F2E8"/>
                </a:solidFill>
                <a:latin typeface="Calibri" pitchFamily="34" charset="0"/>
                <a:ea typeface="Calibri" pitchFamily="34" charset="-122"/>
                <a:cs typeface="Calibri" pitchFamily="34" charset="-120"/>
              </a:rPr>
              <a:t>Five-factor risk</a:t>
            </a:r>
            <a:endParaRPr lang="en-US" sz="1080" dirty="0"/>
          </a:p>
        </p:txBody>
      </p:sp>
      <p:sp>
        <p:nvSpPr>
          <p:cNvPr id="15" name="Text 11"/>
          <p:cNvSpPr/>
          <p:nvPr/>
        </p:nvSpPr>
        <p:spPr>
          <a:xfrm>
            <a:off x="8065008" y="1938528"/>
            <a:ext cx="3246120" cy="201168"/>
          </a:xfrm>
          <a:prstGeom prst="rect">
            <a:avLst/>
          </a:prstGeom>
          <a:noFill/>
          <a:ln/>
        </p:spPr>
        <p:txBody>
          <a:bodyPr wrap="square" lIns="0" tIns="0" rIns="0" bIns="0" rtlCol="0" anchor="t"/>
          <a:lstStyle/>
          <a:p>
            <a:pPr algn="l" indent="0" marL="0">
              <a:lnSpc>
                <a:spcPct val="95000"/>
              </a:lnSpc>
              <a:buNone/>
            </a:pPr>
            <a:r>
              <a:rPr lang="en-US" sz="770" dirty="0">
                <a:solidFill>
                  <a:srgbClr val="C9BBAA"/>
                </a:solidFill>
                <a:latin typeface="Calibri" pitchFamily="34" charset="0"/>
                <a:ea typeface="Calibri" pitchFamily="34" charset="-122"/>
                <a:cs typeface="Calibri" pitchFamily="34" charset="-120"/>
              </a:rPr>
              <a:t>Stock / capacity  ·  Delivery</a:t>
            </a:r>
            <a:endParaRPr lang="en-US" sz="770" dirty="0"/>
          </a:p>
        </p:txBody>
      </p:sp>
      <p:sp>
        <p:nvSpPr>
          <p:cNvPr id="16" name="Text 12"/>
          <p:cNvSpPr/>
          <p:nvPr/>
        </p:nvSpPr>
        <p:spPr>
          <a:xfrm>
            <a:off x="8065008" y="2148840"/>
            <a:ext cx="3246120" cy="201168"/>
          </a:xfrm>
          <a:prstGeom prst="rect">
            <a:avLst/>
          </a:prstGeom>
          <a:noFill/>
          <a:ln/>
        </p:spPr>
        <p:txBody>
          <a:bodyPr wrap="square" lIns="0" tIns="0" rIns="0" bIns="0" rtlCol="0" anchor="t"/>
          <a:lstStyle/>
          <a:p>
            <a:pPr algn="l" indent="0" marL="0">
              <a:lnSpc>
                <a:spcPct val="95000"/>
              </a:lnSpc>
              <a:buNone/>
            </a:pPr>
            <a:r>
              <a:rPr lang="en-US" sz="770" dirty="0">
                <a:solidFill>
                  <a:srgbClr val="C9BBAA"/>
                </a:solidFill>
                <a:latin typeface="Calibri" pitchFamily="34" charset="0"/>
                <a:ea typeface="Calibri" pitchFamily="34" charset="-122"/>
                <a:cs typeface="Calibri" pitchFamily="34" charset="-120"/>
              </a:rPr>
              <a:t>Margin  ·  Data  ·  Anomaly</a:t>
            </a:r>
            <a:endParaRPr lang="en-US" sz="770" dirty="0"/>
          </a:p>
        </p:txBody>
      </p:sp>
      <p:sp>
        <p:nvSpPr>
          <p:cNvPr id="17" name="Shape 13"/>
          <p:cNvSpPr/>
          <p:nvPr/>
        </p:nvSpPr>
        <p:spPr>
          <a:xfrm>
            <a:off x="7360920" y="2935224"/>
            <a:ext cx="4160520" cy="1261872"/>
          </a:xfrm>
          <a:prstGeom prst="roundRect">
            <a:avLst>
              <a:gd name="adj" fmla="val 7971"/>
            </a:avLst>
          </a:prstGeom>
          <a:solidFill>
            <a:srgbClr val="2D2620"/>
          </a:solidFill>
          <a:ln w="10160">
            <a:solidFill>
              <a:srgbClr val="4A3E32"/>
            </a:solidFill>
            <a:prstDash val="solid"/>
          </a:ln>
        </p:spPr>
        <p:txBody>
          <a:bodyPr/>
          <a:p/>
        </p:txBody>
      </p:sp>
      <p:sp>
        <p:nvSpPr>
          <p:cNvPr id="18" name="Shape 14"/>
          <p:cNvSpPr/>
          <p:nvPr/>
        </p:nvSpPr>
        <p:spPr>
          <a:xfrm>
            <a:off x="7516368" y="3246120"/>
            <a:ext cx="420624" cy="420624"/>
          </a:xfrm>
          <a:prstGeom prst="roundRect">
            <a:avLst>
              <a:gd name="adj" fmla="val 50000"/>
            </a:avLst>
          </a:prstGeom>
          <a:solidFill>
            <a:srgbClr val="3A3026"/>
          </a:solidFill>
          <a:ln w="12700">
            <a:solidFill>
              <a:srgbClr val="3A3026"/>
            </a:solidFill>
            <a:prstDash val="solid"/>
          </a:ln>
        </p:spPr>
        <p:txBody>
          <a:bodyPr/>
          <a:p/>
        </p:txBody>
      </p:sp>
      <p:pic>
        <p:nvPicPr>
          <p:cNvPr id="19" name="Image 2" descr="/private/tmp/soh-deck/icons/ClipboardCheck-amber.png">    </p:cNvPr>
          <p:cNvPicPr>
            <a:picLocks noChangeAspect="1"/>
          </p:cNvPicPr>
          <p:nvPr/>
        </p:nvPicPr>
        <p:blipFill>
          <a:blip r:embed="rId3"/>
          <a:stretch>
            <a:fillRect/>
          </a:stretch>
        </p:blipFill>
        <p:spPr>
          <a:xfrm>
            <a:off x="7600493" y="3330245"/>
            <a:ext cx="252374" cy="252374"/>
          </a:xfrm>
          <a:prstGeom prst="rect">
            <a:avLst/>
          </a:prstGeom>
        </p:spPr>
      </p:pic>
      <p:sp>
        <p:nvSpPr>
          <p:cNvPr id="20" name="Text 15"/>
          <p:cNvSpPr/>
          <p:nvPr/>
        </p:nvSpPr>
        <p:spPr>
          <a:xfrm>
            <a:off x="8065008" y="3099816"/>
            <a:ext cx="3246120" cy="201168"/>
          </a:xfrm>
          <a:prstGeom prst="rect">
            <a:avLst/>
          </a:prstGeom>
          <a:noFill/>
          <a:ln/>
        </p:spPr>
        <p:txBody>
          <a:bodyPr wrap="square" lIns="0" tIns="0" rIns="0" bIns="0" rtlCol="0" anchor="t"/>
          <a:lstStyle/>
          <a:p>
            <a:pPr algn="l" indent="0" marL="0">
              <a:lnSpc>
                <a:spcPct val="100000"/>
              </a:lnSpc>
              <a:buNone/>
            </a:pPr>
            <a:r>
              <a:rPr lang="en-US" sz="1080" b="1" dirty="0">
                <a:solidFill>
                  <a:srgbClr val="F7F2E8"/>
                </a:solidFill>
                <a:latin typeface="Calibri" pitchFamily="34" charset="0"/>
                <a:ea typeface="Calibri" pitchFamily="34" charset="-122"/>
                <a:cs typeface="Calibri" pitchFamily="34" charset="-120"/>
              </a:rPr>
              <a:t>Plain-language checks</a:t>
            </a:r>
            <a:endParaRPr lang="en-US" sz="1080" dirty="0"/>
          </a:p>
        </p:txBody>
      </p:sp>
      <p:sp>
        <p:nvSpPr>
          <p:cNvPr id="21" name="Text 16"/>
          <p:cNvSpPr/>
          <p:nvPr/>
        </p:nvSpPr>
        <p:spPr>
          <a:xfrm>
            <a:off x="8065008" y="3364992"/>
            <a:ext cx="3246120" cy="201168"/>
          </a:xfrm>
          <a:prstGeom prst="rect">
            <a:avLst/>
          </a:prstGeom>
          <a:noFill/>
          <a:ln/>
        </p:spPr>
        <p:txBody>
          <a:bodyPr wrap="square" lIns="0" tIns="0" rIns="0" bIns="0" rtlCol="0" anchor="t"/>
          <a:lstStyle/>
          <a:p>
            <a:pPr algn="l" indent="0" marL="0">
              <a:lnSpc>
                <a:spcPct val="95000"/>
              </a:lnSpc>
              <a:buNone/>
            </a:pPr>
            <a:r>
              <a:rPr lang="en-US" sz="770" dirty="0">
                <a:solidFill>
                  <a:srgbClr val="C9BBAA"/>
                </a:solidFill>
                <a:latin typeface="Calibri" pitchFamily="34" charset="0"/>
                <a:ea typeface="Calibri" pitchFamily="34" charset="-122"/>
                <a:cs typeface="Calibri" pitchFamily="34" charset="-120"/>
              </a:rPr>
              <a:t>Short by 110 units; supplier can deliver in 2 days.</a:t>
            </a:r>
            <a:endParaRPr lang="en-US" sz="770" dirty="0"/>
          </a:p>
        </p:txBody>
      </p:sp>
      <p:sp>
        <p:nvSpPr>
          <p:cNvPr id="22" name="Text 17"/>
          <p:cNvSpPr/>
          <p:nvPr/>
        </p:nvSpPr>
        <p:spPr>
          <a:xfrm>
            <a:off x="8065008" y="3575304"/>
            <a:ext cx="3246120" cy="201168"/>
          </a:xfrm>
          <a:prstGeom prst="rect">
            <a:avLst/>
          </a:prstGeom>
          <a:noFill/>
          <a:ln/>
        </p:spPr>
        <p:txBody>
          <a:bodyPr wrap="square" lIns="0" tIns="0" rIns="0" bIns="0" rtlCol="0" anchor="t"/>
          <a:lstStyle/>
          <a:p>
            <a:pPr algn="l" indent="0" marL="0">
              <a:lnSpc>
                <a:spcPct val="95000"/>
              </a:lnSpc>
              <a:buNone/>
            </a:pPr>
            <a:r>
              <a:rPr lang="en-US" sz="770" dirty="0">
                <a:solidFill>
                  <a:srgbClr val="C9BBAA"/>
                </a:solidFill>
                <a:latin typeface="Calibri" pitchFamily="34" charset="0"/>
                <a:ea typeface="Calibri" pitchFamily="34" charset="-122"/>
                <a:cs typeface="Calibri" pitchFamily="34" charset="-120"/>
              </a:rPr>
              <a:t>Gross margin 38.4% — above the 20% line.</a:t>
            </a:r>
            <a:endParaRPr lang="en-US" sz="770" dirty="0"/>
          </a:p>
        </p:txBody>
      </p:sp>
      <p:sp>
        <p:nvSpPr>
          <p:cNvPr id="23" name="Text 18"/>
          <p:cNvSpPr/>
          <p:nvPr/>
        </p:nvSpPr>
        <p:spPr>
          <a:xfrm>
            <a:off x="8065008" y="3785616"/>
            <a:ext cx="3246120" cy="201168"/>
          </a:xfrm>
          <a:prstGeom prst="rect">
            <a:avLst/>
          </a:prstGeom>
          <a:noFill/>
          <a:ln/>
        </p:spPr>
        <p:txBody>
          <a:bodyPr wrap="square" lIns="0" tIns="0" rIns="0" bIns="0" rtlCol="0" anchor="t"/>
          <a:lstStyle/>
          <a:p>
            <a:pPr algn="l" indent="0" marL="0">
              <a:lnSpc>
                <a:spcPct val="95000"/>
              </a:lnSpc>
              <a:buNone/>
            </a:pPr>
            <a:r>
              <a:rPr lang="en-US" sz="770" dirty="0">
                <a:solidFill>
                  <a:srgbClr val="C9BBAA"/>
                </a:solidFill>
                <a:latin typeface="Calibri" pitchFamily="34" charset="0"/>
                <a:ea typeface="Calibri" pitchFamily="34" charset="-122"/>
                <a:cs typeface="Calibri" pitchFamily="34" charset="-120"/>
              </a:rPr>
              <a:t>Composite risk 29/100 — Medium.</a:t>
            </a:r>
            <a:endParaRPr lang="en-US" sz="770" dirty="0"/>
          </a:p>
        </p:txBody>
      </p:sp>
      <p:sp>
        <p:nvSpPr>
          <p:cNvPr id="24" name="Shape 19"/>
          <p:cNvSpPr/>
          <p:nvPr/>
        </p:nvSpPr>
        <p:spPr>
          <a:xfrm>
            <a:off x="7360920" y="4361688"/>
            <a:ext cx="4160520" cy="1261872"/>
          </a:xfrm>
          <a:prstGeom prst="roundRect">
            <a:avLst>
              <a:gd name="adj" fmla="val 7971"/>
            </a:avLst>
          </a:prstGeom>
          <a:solidFill>
            <a:srgbClr val="2D2620"/>
          </a:solidFill>
          <a:ln w="10160">
            <a:solidFill>
              <a:srgbClr val="4A3E32"/>
            </a:solidFill>
            <a:prstDash val="solid"/>
          </a:ln>
        </p:spPr>
        <p:txBody>
          <a:bodyPr/>
          <a:p/>
        </p:txBody>
      </p:sp>
      <p:sp>
        <p:nvSpPr>
          <p:cNvPr id="25" name="Shape 20"/>
          <p:cNvSpPr/>
          <p:nvPr/>
        </p:nvSpPr>
        <p:spPr>
          <a:xfrm>
            <a:off x="7516368" y="4672584"/>
            <a:ext cx="420624" cy="420624"/>
          </a:xfrm>
          <a:prstGeom prst="roundRect">
            <a:avLst>
              <a:gd name="adj" fmla="val 50000"/>
            </a:avLst>
          </a:prstGeom>
          <a:solidFill>
            <a:srgbClr val="3A3026"/>
          </a:solidFill>
          <a:ln w="12700">
            <a:solidFill>
              <a:srgbClr val="3A3026"/>
            </a:solidFill>
            <a:prstDash val="solid"/>
          </a:ln>
        </p:spPr>
        <p:txBody>
          <a:bodyPr/>
          <a:p/>
        </p:txBody>
      </p:sp>
      <p:pic>
        <p:nvPicPr>
          <p:cNvPr id="26" name="Image 3" descr="/private/tmp/soh-deck/icons/UserCheck-amber.png">    </p:cNvPr>
          <p:cNvPicPr>
            <a:picLocks noChangeAspect="1"/>
          </p:cNvPicPr>
          <p:nvPr/>
        </p:nvPicPr>
        <p:blipFill>
          <a:blip r:embed="rId4"/>
          <a:stretch>
            <a:fillRect/>
          </a:stretch>
        </p:blipFill>
        <p:spPr>
          <a:xfrm>
            <a:off x="7600493" y="4756709"/>
            <a:ext cx="252374" cy="252374"/>
          </a:xfrm>
          <a:prstGeom prst="rect">
            <a:avLst/>
          </a:prstGeom>
        </p:spPr>
      </p:pic>
      <p:sp>
        <p:nvSpPr>
          <p:cNvPr id="27" name="Text 21"/>
          <p:cNvSpPr/>
          <p:nvPr/>
        </p:nvSpPr>
        <p:spPr>
          <a:xfrm>
            <a:off x="8065008" y="4526280"/>
            <a:ext cx="3246120" cy="201168"/>
          </a:xfrm>
          <a:prstGeom prst="rect">
            <a:avLst/>
          </a:prstGeom>
          <a:noFill/>
          <a:ln/>
        </p:spPr>
        <p:txBody>
          <a:bodyPr wrap="square" lIns="0" tIns="0" rIns="0" bIns="0" rtlCol="0" anchor="t"/>
          <a:lstStyle/>
          <a:p>
            <a:pPr algn="l" indent="0" marL="0">
              <a:lnSpc>
                <a:spcPct val="100000"/>
              </a:lnSpc>
              <a:buNone/>
            </a:pPr>
            <a:r>
              <a:rPr lang="en-US" sz="1080" b="1" dirty="0">
                <a:solidFill>
                  <a:srgbClr val="F7F2E8"/>
                </a:solidFill>
                <a:latin typeface="Calibri" pitchFamily="34" charset="0"/>
                <a:ea typeface="Calibri" pitchFamily="34" charset="-122"/>
                <a:cs typeface="Calibri" pitchFamily="34" charset="-120"/>
              </a:rPr>
              <a:t>Human action</a:t>
            </a:r>
            <a:endParaRPr lang="en-US" sz="1080" dirty="0"/>
          </a:p>
        </p:txBody>
      </p:sp>
      <p:sp>
        <p:nvSpPr>
          <p:cNvPr id="28" name="Text 22"/>
          <p:cNvSpPr/>
          <p:nvPr/>
        </p:nvSpPr>
        <p:spPr>
          <a:xfrm>
            <a:off x="8065008" y="4791456"/>
            <a:ext cx="3246120" cy="201168"/>
          </a:xfrm>
          <a:prstGeom prst="rect">
            <a:avLst/>
          </a:prstGeom>
          <a:noFill/>
          <a:ln/>
        </p:spPr>
        <p:txBody>
          <a:bodyPr wrap="square" lIns="0" tIns="0" rIns="0" bIns="0" rtlCol="0" anchor="t"/>
          <a:lstStyle/>
          <a:p>
            <a:pPr algn="l" indent="0" marL="0">
              <a:lnSpc>
                <a:spcPct val="95000"/>
              </a:lnSpc>
              <a:buNone/>
            </a:pPr>
            <a:r>
              <a:rPr lang="en-US" sz="770" dirty="0">
                <a:solidFill>
                  <a:srgbClr val="C9BBAA"/>
                </a:solidFill>
                <a:latin typeface="Calibri" pitchFamily="34" charset="0"/>
                <a:ea typeface="Calibri" pitchFamily="34" charset="-122"/>
                <a:cs typeface="Calibri" pitchFamily="34" charset="-120"/>
              </a:rPr>
              <a:t>Accept with purchase draft.</a:t>
            </a:r>
            <a:endParaRPr lang="en-US" sz="770" dirty="0"/>
          </a:p>
        </p:txBody>
      </p:sp>
      <p:sp>
        <p:nvSpPr>
          <p:cNvPr id="29" name="Text 23"/>
          <p:cNvSpPr/>
          <p:nvPr/>
        </p:nvSpPr>
        <p:spPr>
          <a:xfrm>
            <a:off x="8065008" y="5001768"/>
            <a:ext cx="3246120" cy="201168"/>
          </a:xfrm>
          <a:prstGeom prst="rect">
            <a:avLst/>
          </a:prstGeom>
          <a:noFill/>
          <a:ln/>
        </p:spPr>
        <p:txBody>
          <a:bodyPr wrap="square" lIns="0" tIns="0" rIns="0" bIns="0" rtlCol="0" anchor="t"/>
          <a:lstStyle/>
          <a:p>
            <a:pPr algn="l" indent="0" marL="0">
              <a:lnSpc>
                <a:spcPct val="95000"/>
              </a:lnSpc>
              <a:buNone/>
            </a:pPr>
            <a:r>
              <a:rPr lang="en-US" sz="770" dirty="0">
                <a:solidFill>
                  <a:srgbClr val="C9BBAA"/>
                </a:solidFill>
                <a:latin typeface="Calibri" pitchFamily="34" charset="0"/>
                <a:ea typeface="Calibri" pitchFamily="34" charset="-122"/>
                <a:cs typeface="Calibri" pitchFamily="34" charset="-120"/>
              </a:rPr>
              <a:t>Request information.  Do not accept.</a:t>
            </a:r>
            <a:endParaRPr lang="en-US" sz="770" dirty="0"/>
          </a:p>
        </p:txBody>
      </p:sp>
      <p:sp>
        <p:nvSpPr>
          <p:cNvPr id="30" name="Text 24"/>
          <p:cNvSpPr/>
          <p:nvPr/>
        </p:nvSpPr>
        <p:spPr>
          <a:xfrm>
            <a:off x="8065008" y="5212080"/>
            <a:ext cx="3246120" cy="201168"/>
          </a:xfrm>
          <a:prstGeom prst="rect">
            <a:avLst/>
          </a:prstGeom>
          <a:noFill/>
          <a:ln/>
        </p:spPr>
        <p:txBody>
          <a:bodyPr wrap="square" lIns="0" tIns="0" rIns="0" bIns="0" rtlCol="0" anchor="t"/>
          <a:lstStyle/>
          <a:p>
            <a:pPr algn="l" indent="0" marL="0">
              <a:lnSpc>
                <a:spcPct val="95000"/>
              </a:lnSpc>
              <a:buNone/>
            </a:pPr>
            <a:r>
              <a:rPr lang="en-US" sz="770" dirty="0">
                <a:solidFill>
                  <a:srgbClr val="C9BBAA"/>
                </a:solidFill>
                <a:latin typeface="Calibri" pitchFamily="34" charset="0"/>
                <a:ea typeface="Calibri" pitchFamily="34" charset="-122"/>
                <a:cs typeface="Calibri" pitchFamily="34" charset="-120"/>
              </a:rPr>
              <a:t>Override requires a written reason.</a:t>
            </a:r>
            <a:endParaRPr lang="en-US" sz="770" dirty="0"/>
          </a:p>
        </p:txBody>
      </p:sp>
      <p:sp>
        <p:nvSpPr>
          <p:cNvPr id="31" name="Text 25"/>
          <p:cNvSpPr/>
          <p:nvPr/>
        </p:nvSpPr>
        <p:spPr>
          <a:xfrm>
            <a:off x="7360920" y="5806440"/>
            <a:ext cx="4160520" cy="228600"/>
          </a:xfrm>
          <a:prstGeom prst="rect">
            <a:avLst/>
          </a:prstGeom>
          <a:noFill/>
          <a:ln/>
        </p:spPr>
        <p:txBody>
          <a:bodyPr wrap="square" lIns="0" tIns="0" rIns="0" bIns="0" rtlCol="0" anchor="t"/>
          <a:lstStyle/>
          <a:p>
            <a:pPr algn="l" indent="0" marL="0">
              <a:lnSpc>
                <a:spcPct val="100000"/>
              </a:lnSpc>
              <a:buNone/>
            </a:pPr>
            <a:r>
              <a:rPr lang="en-US" sz="1420" i="1" dirty="0">
                <a:solidFill>
                  <a:srgbClr val="D97706"/>
                </a:solidFill>
                <a:latin typeface="Cambria" pitchFamily="34" charset="0"/>
                <a:ea typeface="Cambria" pitchFamily="34" charset="-122"/>
                <a:cs typeface="Cambria" pitchFamily="34" charset="-120"/>
              </a:rPr>
              <a:t>The model never approves. The owner does.</a:t>
            </a:r>
            <a:endParaRPr lang="en-US" sz="1420" dirty="0"/>
          </a:p>
        </p:txBody>
      </p:sp>
      <p:sp>
        <p:nvSpPr>
          <p:cNvPr id="32" name="Text 26"/>
          <p:cNvSpPr/>
          <p:nvPr/>
        </p:nvSpPr>
        <p:spPr>
          <a:xfrm>
            <a:off x="7360920" y="6172200"/>
            <a:ext cx="4160520" cy="201168"/>
          </a:xfrm>
          <a:prstGeom prst="rect">
            <a:avLst/>
          </a:prstGeom>
          <a:noFill/>
          <a:ln/>
        </p:spPr>
        <p:txBody>
          <a:bodyPr wrap="square" lIns="0" tIns="0" rIns="0" bIns="0" rtlCol="0" anchor="t"/>
          <a:lstStyle/>
          <a:p>
            <a:pPr algn="l" indent="0" marL="0">
              <a:lnSpc>
                <a:spcPct val="100000"/>
              </a:lnSpc>
              <a:buNone/>
            </a:pPr>
            <a:r>
              <a:rPr lang="en-US" sz="760" dirty="0">
                <a:solidFill>
                  <a:srgbClr val="8E8072"/>
                </a:solidFill>
                <a:latin typeface="Calibri" pitchFamily="34" charset="0"/>
                <a:ea typeface="Calibri" pitchFamily="34" charset="-122"/>
                <a:cs typeface="Calibri" pitchFamily="34" charset="-120"/>
              </a:rPr>
              <a:t>Synthetic data only. No payment or real purchase order is created.</a:t>
            </a:r>
            <a:endParaRPr lang="en-US" sz="760" dirty="0"/>
          </a:p>
        </p:txBody>
      </p:sp>
      <p:sp>
        <p:nvSpPr>
          <p:cNvPr id="33" name="Text 27"/>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A89888"/>
                </a:solidFill>
                <a:latin typeface="Calibri" pitchFamily="34" charset="0"/>
                <a:ea typeface="Calibri" pitchFamily="34" charset="-122"/>
                <a:cs typeface="Calibri" pitchFamily="34" charset="-120"/>
              </a:rPr>
              <a:t>SDC Hackathon 2026 · Domain 2 · SmartOrder Hub</a:t>
            </a:r>
            <a:endParaRPr lang="en-US" sz="750" dirty="0"/>
          </a:p>
        </p:txBody>
      </p:sp>
      <p:sp>
        <p:nvSpPr>
          <p:cNvPr id="34" name="Text 28"/>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A89888"/>
                </a:solidFill>
                <a:latin typeface="Calibri" pitchFamily="34" charset="0"/>
                <a:ea typeface="Calibri" pitchFamily="34" charset="-122"/>
                <a:cs typeface="Calibri" pitchFamily="34" charset="-120"/>
              </a:rPr>
              <a:t>07</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GUARDRAILS</a:t>
            </a:r>
            <a:endParaRPr lang="en-US" sz="900" dirty="0"/>
          </a:p>
        </p:txBody>
      </p:sp>
      <p:sp>
        <p:nvSpPr>
          <p:cNvPr id="3" name="Text 1"/>
          <p:cNvSpPr/>
          <p:nvPr/>
        </p:nvSpPr>
        <p:spPr>
          <a:xfrm>
            <a:off x="640080" y="640080"/>
            <a:ext cx="10515600" cy="960120"/>
          </a:xfrm>
          <a:prstGeom prst="rect">
            <a:avLst/>
          </a:prstGeom>
          <a:noFill/>
          <a:ln/>
        </p:spPr>
        <p:txBody>
          <a:bodyPr wrap="square" lIns="0" tIns="0" rIns="0" bIns="0" rtlCol="0" anchor="t"/>
          <a:lstStyle/>
          <a:p>
            <a:pPr algn="l" indent="0" marL="0">
              <a:lnSpc>
                <a:spcPct val="94000"/>
              </a:lnSpc>
              <a:buNone/>
            </a:pPr>
            <a:r>
              <a:rPr lang="en-US" sz="3200" b="1" dirty="0">
                <a:solidFill>
                  <a:srgbClr val="1B1714"/>
                </a:solidFill>
                <a:latin typeface="Cambria" pitchFamily="34" charset="0"/>
                <a:ea typeface="Cambria" pitchFamily="34" charset="-122"/>
                <a:cs typeface="Cambria" pitchFamily="34" charset="-120"/>
              </a:rPr>
              <a:t>AI reads. Rules decide. The owner approves.</a:t>
            </a:r>
            <a:endParaRPr lang="en-US" sz="3200" dirty="0"/>
          </a:p>
        </p:txBody>
      </p:sp>
      <p:sp>
        <p:nvSpPr>
          <p:cNvPr id="4" name="Shape 2"/>
          <p:cNvSpPr/>
          <p:nvPr/>
        </p:nvSpPr>
        <p:spPr>
          <a:xfrm>
            <a:off x="640080" y="1627632"/>
            <a:ext cx="3493008" cy="3218688"/>
          </a:xfrm>
          <a:prstGeom prst="roundRect">
            <a:avLst>
              <a:gd name="adj" fmla="val 3409"/>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5" name="Shape 3"/>
          <p:cNvSpPr/>
          <p:nvPr/>
        </p:nvSpPr>
        <p:spPr>
          <a:xfrm>
            <a:off x="841248" y="1819656"/>
            <a:ext cx="530352" cy="530352"/>
          </a:xfrm>
          <a:prstGeom prst="roundRect">
            <a:avLst>
              <a:gd name="adj" fmla="val 50000"/>
            </a:avLst>
          </a:prstGeom>
          <a:solidFill>
            <a:srgbClr val="F6E3C4"/>
          </a:solidFill>
          <a:ln w="12700">
            <a:solidFill>
              <a:srgbClr val="F6E3C4"/>
            </a:solidFill>
            <a:prstDash val="solid"/>
          </a:ln>
        </p:spPr>
        <p:txBody>
          <a:bodyPr/>
          <a:p/>
        </p:txBody>
      </p:sp>
      <p:pic>
        <p:nvPicPr>
          <p:cNvPr id="6" name="Image 0" descr="/private/tmp/soh-deck/icons/Sparkles-amber.png">    </p:cNvPr>
          <p:cNvPicPr>
            <a:picLocks noChangeAspect="1"/>
          </p:cNvPicPr>
          <p:nvPr/>
        </p:nvPicPr>
        <p:blipFill>
          <a:blip r:embed="rId1"/>
          <a:stretch>
            <a:fillRect/>
          </a:stretch>
        </p:blipFill>
        <p:spPr>
          <a:xfrm>
            <a:off x="947318" y="1925726"/>
            <a:ext cx="318211" cy="318211"/>
          </a:xfrm>
          <a:prstGeom prst="rect">
            <a:avLst/>
          </a:prstGeom>
        </p:spPr>
      </p:pic>
      <p:sp>
        <p:nvSpPr>
          <p:cNvPr id="7" name="Text 4"/>
          <p:cNvSpPr/>
          <p:nvPr/>
        </p:nvSpPr>
        <p:spPr>
          <a:xfrm>
            <a:off x="1499616" y="1810512"/>
            <a:ext cx="2450592" cy="237744"/>
          </a:xfrm>
          <a:prstGeom prst="rect">
            <a:avLst/>
          </a:prstGeom>
          <a:noFill/>
          <a:ln/>
        </p:spPr>
        <p:txBody>
          <a:bodyPr wrap="square" lIns="0" tIns="0" rIns="0" bIns="0" rtlCol="0" anchor="t"/>
          <a:lstStyle/>
          <a:p>
            <a:pPr algn="l" indent="0" marL="0">
              <a:lnSpc>
                <a:spcPct val="100000"/>
              </a:lnSpc>
              <a:buNone/>
            </a:pPr>
            <a:r>
              <a:rPr lang="en-US" sz="1600" b="1" dirty="0">
                <a:solidFill>
                  <a:srgbClr val="1B1714"/>
                </a:solidFill>
                <a:latin typeface="Cambria" pitchFamily="34" charset="0"/>
                <a:ea typeface="Cambria" pitchFamily="34" charset="-122"/>
                <a:cs typeface="Cambria" pitchFamily="34" charset="-120"/>
              </a:rPr>
              <a:t>AI extraction</a:t>
            </a:r>
            <a:endParaRPr lang="en-US" sz="1600" dirty="0"/>
          </a:p>
        </p:txBody>
      </p:sp>
      <p:sp>
        <p:nvSpPr>
          <p:cNvPr id="8" name="Text 5"/>
          <p:cNvSpPr/>
          <p:nvPr/>
        </p:nvSpPr>
        <p:spPr>
          <a:xfrm>
            <a:off x="1499616" y="2084832"/>
            <a:ext cx="2450592" cy="182880"/>
          </a:xfrm>
          <a:prstGeom prst="rect">
            <a:avLst/>
          </a:prstGeom>
          <a:noFill/>
          <a:ln/>
        </p:spPr>
        <p:txBody>
          <a:bodyPr wrap="square" lIns="0" tIns="0" rIns="0" bIns="0" rtlCol="0" anchor="t"/>
          <a:lstStyle/>
          <a:p>
            <a:pPr algn="l" indent="0" marL="0">
              <a:lnSpc>
                <a:spcPct val="100000"/>
              </a:lnSpc>
              <a:buNone/>
            </a:pPr>
            <a:r>
              <a:rPr lang="en-US" sz="820" b="1" spc="60" kern="0" dirty="0">
                <a:solidFill>
                  <a:srgbClr val="D97706"/>
                </a:solidFill>
                <a:latin typeface="Calibri" pitchFamily="34" charset="0"/>
                <a:ea typeface="Calibri" pitchFamily="34" charset="-122"/>
                <a:cs typeface="Calibri" pitchFamily="34" charset="-120"/>
              </a:rPr>
              <a:t>Only where it adds value</a:t>
            </a:r>
            <a:endParaRPr lang="en-US" sz="820" dirty="0"/>
          </a:p>
        </p:txBody>
      </p:sp>
      <p:pic>
        <p:nvPicPr>
          <p:cNvPr id="9" name="Image 1" descr="/private/tmp/soh-deck/icons/CheckCircle2-amber.png">    </p:cNvPr>
          <p:cNvPicPr>
            <a:picLocks noChangeAspect="1"/>
          </p:cNvPicPr>
          <p:nvPr/>
        </p:nvPicPr>
        <p:blipFill>
          <a:blip r:embed="rId2"/>
          <a:stretch>
            <a:fillRect/>
          </a:stretch>
        </p:blipFill>
        <p:spPr>
          <a:xfrm>
            <a:off x="859536" y="2578608"/>
            <a:ext cx="182880" cy="182880"/>
          </a:xfrm>
          <a:prstGeom prst="rect">
            <a:avLst/>
          </a:prstGeom>
        </p:spPr>
      </p:pic>
      <p:sp>
        <p:nvSpPr>
          <p:cNvPr id="10" name="Text 6"/>
          <p:cNvSpPr/>
          <p:nvPr/>
        </p:nvSpPr>
        <p:spPr>
          <a:xfrm>
            <a:off x="1133856" y="2532888"/>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Reads messy text into structured JSON.</a:t>
            </a:r>
            <a:endParaRPr lang="en-US" sz="950" dirty="0"/>
          </a:p>
        </p:txBody>
      </p:sp>
      <p:pic>
        <p:nvPicPr>
          <p:cNvPr id="11" name="Image 2" descr="/private/tmp/soh-deck/icons/CheckCircle2-amber.png">    </p:cNvPr>
          <p:cNvPicPr>
            <a:picLocks noChangeAspect="1"/>
          </p:cNvPicPr>
          <p:nvPr/>
        </p:nvPicPr>
        <p:blipFill>
          <a:blip r:embed="rId3"/>
          <a:stretch>
            <a:fillRect/>
          </a:stretch>
        </p:blipFill>
        <p:spPr>
          <a:xfrm>
            <a:off x="859536" y="3182112"/>
            <a:ext cx="182880" cy="182880"/>
          </a:xfrm>
          <a:prstGeom prst="rect">
            <a:avLst/>
          </a:prstGeom>
        </p:spPr>
      </p:pic>
      <p:sp>
        <p:nvSpPr>
          <p:cNvPr id="12" name="Text 7"/>
          <p:cNvSpPr/>
          <p:nvPr/>
        </p:nvSpPr>
        <p:spPr>
          <a:xfrm>
            <a:off x="1133856" y="3136392"/>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DeepSeek Flash or any compatible model.</a:t>
            </a:r>
            <a:endParaRPr lang="en-US" sz="950" dirty="0"/>
          </a:p>
        </p:txBody>
      </p:sp>
      <p:pic>
        <p:nvPicPr>
          <p:cNvPr id="13" name="Image 3" descr="/private/tmp/soh-deck/icons/CheckCircle2-amber.png">    </p:cNvPr>
          <p:cNvPicPr>
            <a:picLocks noChangeAspect="1"/>
          </p:cNvPicPr>
          <p:nvPr/>
        </p:nvPicPr>
        <p:blipFill>
          <a:blip r:embed="rId4"/>
          <a:stretch>
            <a:fillRect/>
          </a:stretch>
        </p:blipFill>
        <p:spPr>
          <a:xfrm>
            <a:off x="859536" y="3785616"/>
            <a:ext cx="182880" cy="182880"/>
          </a:xfrm>
          <a:prstGeom prst="rect">
            <a:avLst/>
          </a:prstGeom>
        </p:spPr>
      </p:pic>
      <p:sp>
        <p:nvSpPr>
          <p:cNvPr id="14" name="Text 8"/>
          <p:cNvSpPr/>
          <p:nvPr/>
        </p:nvSpPr>
        <p:spPr>
          <a:xfrm>
            <a:off x="1133856" y="3739896"/>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Rule-based parser when AI is unavailable.</a:t>
            </a:r>
            <a:endParaRPr lang="en-US" sz="950" dirty="0"/>
          </a:p>
        </p:txBody>
      </p:sp>
      <p:sp>
        <p:nvSpPr>
          <p:cNvPr id="15" name="Shape 9"/>
          <p:cNvSpPr/>
          <p:nvPr/>
        </p:nvSpPr>
        <p:spPr>
          <a:xfrm>
            <a:off x="4343400" y="1627632"/>
            <a:ext cx="3493008" cy="3218688"/>
          </a:xfrm>
          <a:prstGeom prst="roundRect">
            <a:avLst>
              <a:gd name="adj" fmla="val 3409"/>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6" name="Shape 10"/>
          <p:cNvSpPr/>
          <p:nvPr/>
        </p:nvSpPr>
        <p:spPr>
          <a:xfrm>
            <a:off x="4544568" y="1819656"/>
            <a:ext cx="530352" cy="530352"/>
          </a:xfrm>
          <a:prstGeom prst="roundRect">
            <a:avLst>
              <a:gd name="adj" fmla="val 50000"/>
            </a:avLst>
          </a:prstGeom>
          <a:solidFill>
            <a:srgbClr val="DFEDE4"/>
          </a:solidFill>
          <a:ln w="12700">
            <a:solidFill>
              <a:srgbClr val="DFEDE4"/>
            </a:solidFill>
            <a:prstDash val="solid"/>
          </a:ln>
        </p:spPr>
        <p:txBody>
          <a:bodyPr/>
          <a:p/>
        </p:txBody>
      </p:sp>
      <p:pic>
        <p:nvPicPr>
          <p:cNvPr id="17" name="Image 4" descr="/private/tmp/soh-deck/icons/Calculator-green.png">    </p:cNvPr>
          <p:cNvPicPr>
            <a:picLocks noChangeAspect="1"/>
          </p:cNvPicPr>
          <p:nvPr/>
        </p:nvPicPr>
        <p:blipFill>
          <a:blip r:embed="rId5"/>
          <a:stretch>
            <a:fillRect/>
          </a:stretch>
        </p:blipFill>
        <p:spPr>
          <a:xfrm>
            <a:off x="4650638" y="1925726"/>
            <a:ext cx="318211" cy="318211"/>
          </a:xfrm>
          <a:prstGeom prst="rect">
            <a:avLst/>
          </a:prstGeom>
        </p:spPr>
      </p:pic>
      <p:sp>
        <p:nvSpPr>
          <p:cNvPr id="18" name="Text 11"/>
          <p:cNvSpPr/>
          <p:nvPr/>
        </p:nvSpPr>
        <p:spPr>
          <a:xfrm>
            <a:off x="5202936" y="1810512"/>
            <a:ext cx="2450592" cy="237744"/>
          </a:xfrm>
          <a:prstGeom prst="rect">
            <a:avLst/>
          </a:prstGeom>
          <a:noFill/>
          <a:ln/>
        </p:spPr>
        <p:txBody>
          <a:bodyPr wrap="square" lIns="0" tIns="0" rIns="0" bIns="0" rtlCol="0" anchor="t"/>
          <a:lstStyle/>
          <a:p>
            <a:pPr algn="l" indent="0" marL="0">
              <a:lnSpc>
                <a:spcPct val="100000"/>
              </a:lnSpc>
              <a:buNone/>
            </a:pPr>
            <a:r>
              <a:rPr lang="en-US" sz="1600" b="1" dirty="0">
                <a:solidFill>
                  <a:srgbClr val="1B1714"/>
                </a:solidFill>
                <a:latin typeface="Cambria" pitchFamily="34" charset="0"/>
                <a:ea typeface="Cambria" pitchFamily="34" charset="-122"/>
                <a:cs typeface="Cambria" pitchFamily="34" charset="-120"/>
              </a:rPr>
              <a:t>Deterministic rules</a:t>
            </a:r>
            <a:endParaRPr lang="en-US" sz="1600" dirty="0"/>
          </a:p>
        </p:txBody>
      </p:sp>
      <p:sp>
        <p:nvSpPr>
          <p:cNvPr id="19" name="Text 12"/>
          <p:cNvSpPr/>
          <p:nvPr/>
        </p:nvSpPr>
        <p:spPr>
          <a:xfrm>
            <a:off x="5202936" y="2084832"/>
            <a:ext cx="2450592" cy="182880"/>
          </a:xfrm>
          <a:prstGeom prst="rect">
            <a:avLst/>
          </a:prstGeom>
          <a:noFill/>
          <a:ln/>
        </p:spPr>
        <p:txBody>
          <a:bodyPr wrap="square" lIns="0" tIns="0" rIns="0" bIns="0" rtlCol="0" anchor="t"/>
          <a:lstStyle/>
          <a:p>
            <a:pPr algn="l" indent="0" marL="0">
              <a:lnSpc>
                <a:spcPct val="100000"/>
              </a:lnSpc>
              <a:buNone/>
            </a:pPr>
            <a:r>
              <a:rPr lang="en-US" sz="820" b="1" spc="60" kern="0" dirty="0">
                <a:solidFill>
                  <a:srgbClr val="2F6B4F"/>
                </a:solidFill>
                <a:latin typeface="Calibri" pitchFamily="34" charset="0"/>
                <a:ea typeface="Calibri" pitchFamily="34" charset="-122"/>
                <a:cs typeface="Calibri" pitchFamily="34" charset="-120"/>
              </a:rPr>
              <a:t>The business math</a:t>
            </a:r>
            <a:endParaRPr lang="en-US" sz="820" dirty="0"/>
          </a:p>
        </p:txBody>
      </p:sp>
      <p:pic>
        <p:nvPicPr>
          <p:cNvPr id="20" name="Image 5" descr="/private/tmp/soh-deck/icons/CheckCircle2-green.png">    </p:cNvPr>
          <p:cNvPicPr>
            <a:picLocks noChangeAspect="1"/>
          </p:cNvPicPr>
          <p:nvPr/>
        </p:nvPicPr>
        <p:blipFill>
          <a:blip r:embed="rId6"/>
          <a:stretch>
            <a:fillRect/>
          </a:stretch>
        </p:blipFill>
        <p:spPr>
          <a:xfrm>
            <a:off x="4562856" y="2578608"/>
            <a:ext cx="182880" cy="182880"/>
          </a:xfrm>
          <a:prstGeom prst="rect">
            <a:avLst/>
          </a:prstGeom>
        </p:spPr>
      </p:pic>
      <p:sp>
        <p:nvSpPr>
          <p:cNvPr id="21" name="Text 13"/>
          <p:cNvSpPr/>
          <p:nvPr/>
        </p:nvSpPr>
        <p:spPr>
          <a:xfrm>
            <a:off x="4837176" y="2532888"/>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Stock, safety stock and supplier lead time.</a:t>
            </a:r>
            <a:endParaRPr lang="en-US" sz="950" dirty="0"/>
          </a:p>
        </p:txBody>
      </p:sp>
      <p:pic>
        <p:nvPicPr>
          <p:cNvPr id="22" name="Image 6" descr="/private/tmp/soh-deck/icons/CheckCircle2-green.png">    </p:cNvPr>
          <p:cNvPicPr>
            <a:picLocks noChangeAspect="1"/>
          </p:cNvPicPr>
          <p:nvPr/>
        </p:nvPicPr>
        <p:blipFill>
          <a:blip r:embed="rId7"/>
          <a:stretch>
            <a:fillRect/>
          </a:stretch>
        </p:blipFill>
        <p:spPr>
          <a:xfrm>
            <a:off x="4562856" y="3182112"/>
            <a:ext cx="182880" cy="182880"/>
          </a:xfrm>
          <a:prstGeom prst="rect">
            <a:avLst/>
          </a:prstGeom>
        </p:spPr>
      </p:pic>
      <p:sp>
        <p:nvSpPr>
          <p:cNvPr id="23" name="Text 14"/>
          <p:cNvSpPr/>
          <p:nvPr/>
        </p:nvSpPr>
        <p:spPr>
          <a:xfrm>
            <a:off x="4837176" y="3136392"/>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Revenue, cost, profit and margin.</a:t>
            </a:r>
            <a:endParaRPr lang="en-US" sz="950" dirty="0"/>
          </a:p>
        </p:txBody>
      </p:sp>
      <p:pic>
        <p:nvPicPr>
          <p:cNvPr id="24" name="Image 7" descr="/private/tmp/soh-deck/icons/CheckCircle2-green.png">    </p:cNvPr>
          <p:cNvPicPr>
            <a:picLocks noChangeAspect="1"/>
          </p:cNvPicPr>
          <p:nvPr/>
        </p:nvPicPr>
        <p:blipFill>
          <a:blip r:embed="rId8"/>
          <a:stretch>
            <a:fillRect/>
          </a:stretch>
        </p:blipFill>
        <p:spPr>
          <a:xfrm>
            <a:off x="4562856" y="3785616"/>
            <a:ext cx="182880" cy="182880"/>
          </a:xfrm>
          <a:prstGeom prst="rect">
            <a:avLst/>
          </a:prstGeom>
        </p:spPr>
      </p:pic>
      <p:sp>
        <p:nvSpPr>
          <p:cNvPr id="25" name="Text 15"/>
          <p:cNvSpPr/>
          <p:nvPr/>
        </p:nvSpPr>
        <p:spPr>
          <a:xfrm>
            <a:off x="4837176" y="3739896"/>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Completeness, duplicates and anomalies.</a:t>
            </a:r>
            <a:endParaRPr lang="en-US" sz="950" dirty="0"/>
          </a:p>
        </p:txBody>
      </p:sp>
      <p:sp>
        <p:nvSpPr>
          <p:cNvPr id="26" name="Shape 16"/>
          <p:cNvSpPr/>
          <p:nvPr/>
        </p:nvSpPr>
        <p:spPr>
          <a:xfrm>
            <a:off x="8046720" y="1627632"/>
            <a:ext cx="3493008" cy="3218688"/>
          </a:xfrm>
          <a:prstGeom prst="roundRect">
            <a:avLst>
              <a:gd name="adj" fmla="val 3409"/>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27" name="Shape 17"/>
          <p:cNvSpPr/>
          <p:nvPr/>
        </p:nvSpPr>
        <p:spPr>
          <a:xfrm>
            <a:off x="8247888" y="1819656"/>
            <a:ext cx="530352" cy="530352"/>
          </a:xfrm>
          <a:prstGeom prst="roundRect">
            <a:avLst>
              <a:gd name="adj" fmla="val 50000"/>
            </a:avLst>
          </a:prstGeom>
          <a:solidFill>
            <a:srgbClr val="F1E7D8"/>
          </a:solidFill>
          <a:ln w="12700">
            <a:solidFill>
              <a:srgbClr val="F1E7D8"/>
            </a:solidFill>
            <a:prstDash val="solid"/>
          </a:ln>
        </p:spPr>
        <p:txBody>
          <a:bodyPr/>
          <a:p/>
        </p:txBody>
      </p:sp>
      <p:pic>
        <p:nvPicPr>
          <p:cNvPr id="28" name="Image 8" descr="/private/tmp/soh-deck/icons/UserCheck-ink.png">    </p:cNvPr>
          <p:cNvPicPr>
            <a:picLocks noChangeAspect="1"/>
          </p:cNvPicPr>
          <p:nvPr/>
        </p:nvPicPr>
        <p:blipFill>
          <a:blip r:embed="rId9"/>
          <a:stretch>
            <a:fillRect/>
          </a:stretch>
        </p:blipFill>
        <p:spPr>
          <a:xfrm>
            <a:off x="8353958" y="1925726"/>
            <a:ext cx="318211" cy="318211"/>
          </a:xfrm>
          <a:prstGeom prst="rect">
            <a:avLst/>
          </a:prstGeom>
        </p:spPr>
      </p:pic>
      <p:sp>
        <p:nvSpPr>
          <p:cNvPr id="29" name="Text 18"/>
          <p:cNvSpPr/>
          <p:nvPr/>
        </p:nvSpPr>
        <p:spPr>
          <a:xfrm>
            <a:off x="8906256" y="1810512"/>
            <a:ext cx="2450592" cy="237744"/>
          </a:xfrm>
          <a:prstGeom prst="rect">
            <a:avLst/>
          </a:prstGeom>
          <a:noFill/>
          <a:ln/>
        </p:spPr>
        <p:txBody>
          <a:bodyPr wrap="square" lIns="0" tIns="0" rIns="0" bIns="0" rtlCol="0" anchor="t"/>
          <a:lstStyle/>
          <a:p>
            <a:pPr algn="l" indent="0" marL="0">
              <a:lnSpc>
                <a:spcPct val="100000"/>
              </a:lnSpc>
              <a:buNone/>
            </a:pPr>
            <a:r>
              <a:rPr lang="en-US" sz="1600" b="1" dirty="0">
                <a:solidFill>
                  <a:srgbClr val="1B1714"/>
                </a:solidFill>
                <a:latin typeface="Cambria" pitchFamily="34" charset="0"/>
                <a:ea typeface="Cambria" pitchFamily="34" charset="-122"/>
                <a:cs typeface="Cambria" pitchFamily="34" charset="-120"/>
              </a:rPr>
              <a:t>Human approval</a:t>
            </a:r>
            <a:endParaRPr lang="en-US" sz="1600" dirty="0"/>
          </a:p>
        </p:txBody>
      </p:sp>
      <p:sp>
        <p:nvSpPr>
          <p:cNvPr id="30" name="Text 19"/>
          <p:cNvSpPr/>
          <p:nvPr/>
        </p:nvSpPr>
        <p:spPr>
          <a:xfrm>
            <a:off x="8906256" y="2084832"/>
            <a:ext cx="2450592" cy="182880"/>
          </a:xfrm>
          <a:prstGeom prst="rect">
            <a:avLst/>
          </a:prstGeom>
          <a:noFill/>
          <a:ln/>
        </p:spPr>
        <p:txBody>
          <a:bodyPr wrap="square" lIns="0" tIns="0" rIns="0" bIns="0" rtlCol="0" anchor="t"/>
          <a:lstStyle/>
          <a:p>
            <a:pPr algn="l" indent="0" marL="0">
              <a:lnSpc>
                <a:spcPct val="100000"/>
              </a:lnSpc>
              <a:buNone/>
            </a:pPr>
            <a:r>
              <a:rPr lang="en-US" sz="820" b="1" spc="60" kern="0" dirty="0">
                <a:solidFill>
                  <a:srgbClr val="1B1714"/>
                </a:solidFill>
                <a:latin typeface="Calibri" pitchFamily="34" charset="0"/>
                <a:ea typeface="Calibri" pitchFamily="34" charset="-122"/>
                <a:cs typeface="Calibri" pitchFamily="34" charset="-120"/>
              </a:rPr>
              <a:t>The final decision</a:t>
            </a:r>
            <a:endParaRPr lang="en-US" sz="820" dirty="0"/>
          </a:p>
        </p:txBody>
      </p:sp>
      <p:pic>
        <p:nvPicPr>
          <p:cNvPr id="31" name="Image 9" descr="/private/tmp/soh-deck/icons/CheckCircle2-green.png">    </p:cNvPr>
          <p:cNvPicPr>
            <a:picLocks noChangeAspect="1"/>
          </p:cNvPicPr>
          <p:nvPr/>
        </p:nvPicPr>
        <p:blipFill>
          <a:blip r:embed="rId10"/>
          <a:stretch>
            <a:fillRect/>
          </a:stretch>
        </p:blipFill>
        <p:spPr>
          <a:xfrm>
            <a:off x="8266176" y="2578608"/>
            <a:ext cx="182880" cy="182880"/>
          </a:xfrm>
          <a:prstGeom prst="rect">
            <a:avLst/>
          </a:prstGeom>
        </p:spPr>
      </p:pic>
      <p:sp>
        <p:nvSpPr>
          <p:cNvPr id="32" name="Text 20"/>
          <p:cNvSpPr/>
          <p:nvPr/>
        </p:nvSpPr>
        <p:spPr>
          <a:xfrm>
            <a:off x="8540496" y="2532888"/>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Owner-only approval and override.</a:t>
            </a:r>
            <a:endParaRPr lang="en-US" sz="950" dirty="0"/>
          </a:p>
        </p:txBody>
      </p:sp>
      <p:pic>
        <p:nvPicPr>
          <p:cNvPr id="33" name="Image 10" descr="/private/tmp/soh-deck/icons/CheckCircle2-green.png">    </p:cNvPr>
          <p:cNvPicPr>
            <a:picLocks noChangeAspect="1"/>
          </p:cNvPicPr>
          <p:nvPr/>
        </p:nvPicPr>
        <p:blipFill>
          <a:blip r:embed="rId11"/>
          <a:stretch>
            <a:fillRect/>
          </a:stretch>
        </p:blipFill>
        <p:spPr>
          <a:xfrm>
            <a:off x="8266176" y="3182112"/>
            <a:ext cx="182880" cy="182880"/>
          </a:xfrm>
          <a:prstGeom prst="rect">
            <a:avLst/>
          </a:prstGeom>
        </p:spPr>
      </p:pic>
      <p:sp>
        <p:nvSpPr>
          <p:cNvPr id="34" name="Text 21"/>
          <p:cNvSpPr/>
          <p:nvPr/>
        </p:nvSpPr>
        <p:spPr>
          <a:xfrm>
            <a:off x="8540496" y="3136392"/>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Staff can view, not decide.</a:t>
            </a:r>
            <a:endParaRPr lang="en-US" sz="950" dirty="0"/>
          </a:p>
        </p:txBody>
      </p:sp>
      <p:pic>
        <p:nvPicPr>
          <p:cNvPr id="35" name="Image 11" descr="/private/tmp/soh-deck/icons/CheckCircle2-green.png">    </p:cNvPr>
          <p:cNvPicPr>
            <a:picLocks noChangeAspect="1"/>
          </p:cNvPicPr>
          <p:nvPr/>
        </p:nvPicPr>
        <p:blipFill>
          <a:blip r:embed="rId12"/>
          <a:stretch>
            <a:fillRect/>
          </a:stretch>
        </p:blipFill>
        <p:spPr>
          <a:xfrm>
            <a:off x="8266176" y="3785616"/>
            <a:ext cx="182880" cy="182880"/>
          </a:xfrm>
          <a:prstGeom prst="rect">
            <a:avLst/>
          </a:prstGeom>
        </p:spPr>
      </p:pic>
      <p:sp>
        <p:nvSpPr>
          <p:cNvPr id="36" name="Text 22"/>
          <p:cNvSpPr/>
          <p:nvPr/>
        </p:nvSpPr>
        <p:spPr>
          <a:xfrm>
            <a:off x="8540496" y="3739896"/>
            <a:ext cx="2779776" cy="457200"/>
          </a:xfrm>
          <a:prstGeom prst="rect">
            <a:avLst/>
          </a:prstGeom>
          <a:noFill/>
          <a:ln/>
        </p:spPr>
        <p:txBody>
          <a:bodyPr wrap="square" lIns="0" tIns="0" rIns="0" bIns="0" rtlCol="0" anchor="t"/>
          <a:lstStyle/>
          <a:p>
            <a:pPr algn="l" indent="0" marL="0">
              <a:lnSpc>
                <a:spcPct val="100000"/>
              </a:lnSpc>
              <a:buNone/>
            </a:pPr>
            <a:r>
              <a:rPr lang="en-US" sz="950" dirty="0">
                <a:solidFill>
                  <a:srgbClr val="6B6258"/>
                </a:solidFill>
                <a:latin typeface="Calibri" pitchFamily="34" charset="0"/>
                <a:ea typeface="Calibri" pitchFamily="34" charset="-122"/>
                <a:cs typeface="Calibri" pitchFamily="34" charset="-120"/>
              </a:rPr>
              <a:t>Every action is written to the audit log.</a:t>
            </a:r>
            <a:endParaRPr lang="en-US" sz="950" dirty="0"/>
          </a:p>
        </p:txBody>
      </p:sp>
      <p:sp>
        <p:nvSpPr>
          <p:cNvPr id="37" name="Shape 23"/>
          <p:cNvSpPr/>
          <p:nvPr/>
        </p:nvSpPr>
        <p:spPr>
          <a:xfrm>
            <a:off x="640080" y="5148072"/>
            <a:ext cx="10899648" cy="987552"/>
          </a:xfrm>
          <a:prstGeom prst="roundRect">
            <a:avLst>
              <a:gd name="adj" fmla="val 12963"/>
            </a:avLst>
          </a:prstGeom>
          <a:solidFill>
            <a:srgbClr val="1B1714"/>
          </a:solidFill>
          <a:ln w="10160">
            <a:solidFill>
              <a:srgbClr val="1B1714"/>
            </a:solidFill>
            <a:prstDash val="solid"/>
          </a:ln>
          <a:effectLst>
            <a:outerShdw sx="100000" sy="100000" kx="0" ky="0" algn="bl" rotWithShape="0" blurRad="31750" dist="50800" dir="2700000">
              <a:srgbClr val="4A3B2A">
                <a:alpha val="10000"/>
              </a:srgbClr>
            </a:outerShdw>
          </a:effectLst>
        </p:spPr>
        <p:txBody>
          <a:bodyPr/>
          <a:p/>
        </p:txBody>
      </p:sp>
      <p:sp>
        <p:nvSpPr>
          <p:cNvPr id="38" name="Shape 24"/>
          <p:cNvSpPr/>
          <p:nvPr/>
        </p:nvSpPr>
        <p:spPr>
          <a:xfrm>
            <a:off x="859536" y="5376672"/>
            <a:ext cx="475488" cy="475488"/>
          </a:xfrm>
          <a:prstGeom prst="roundRect">
            <a:avLst>
              <a:gd name="adj" fmla="val 50000"/>
            </a:avLst>
          </a:prstGeom>
          <a:solidFill>
            <a:srgbClr val="3A3026"/>
          </a:solidFill>
          <a:ln w="12700">
            <a:solidFill>
              <a:srgbClr val="3A3026"/>
            </a:solidFill>
            <a:prstDash val="solid"/>
          </a:ln>
        </p:spPr>
        <p:txBody>
          <a:bodyPr/>
          <a:p/>
        </p:txBody>
      </p:sp>
      <p:pic>
        <p:nvPicPr>
          <p:cNvPr id="39" name="Image 12" descr="/private/tmp/soh-deck/icons/ShieldCheck-amber.png">    </p:cNvPr>
          <p:cNvPicPr>
            <a:picLocks noChangeAspect="1"/>
          </p:cNvPicPr>
          <p:nvPr/>
        </p:nvPicPr>
        <p:blipFill>
          <a:blip r:embed="rId13"/>
          <a:stretch>
            <a:fillRect/>
          </a:stretch>
        </p:blipFill>
        <p:spPr>
          <a:xfrm>
            <a:off x="954634" y="5471770"/>
            <a:ext cx="285293" cy="285293"/>
          </a:xfrm>
          <a:prstGeom prst="rect">
            <a:avLst/>
          </a:prstGeom>
        </p:spPr>
      </p:pic>
      <p:sp>
        <p:nvSpPr>
          <p:cNvPr id="40" name="Text 25"/>
          <p:cNvSpPr/>
          <p:nvPr/>
        </p:nvSpPr>
        <p:spPr>
          <a:xfrm>
            <a:off x="1499616" y="5340096"/>
            <a:ext cx="5303520" cy="256032"/>
          </a:xfrm>
          <a:prstGeom prst="rect">
            <a:avLst/>
          </a:prstGeom>
          <a:noFill/>
          <a:ln/>
        </p:spPr>
        <p:txBody>
          <a:bodyPr wrap="square" lIns="0" tIns="0" rIns="0" bIns="0" rtlCol="0" anchor="t"/>
          <a:lstStyle/>
          <a:p>
            <a:pPr algn="l" indent="0" marL="0">
              <a:lnSpc>
                <a:spcPct val="100000"/>
              </a:lnSpc>
              <a:buNone/>
            </a:pPr>
            <a:r>
              <a:rPr lang="en-US" sz="1650" b="1" dirty="0">
                <a:solidFill>
                  <a:srgbClr val="F7F2E8"/>
                </a:solidFill>
                <a:latin typeface="Cambria" pitchFamily="34" charset="0"/>
                <a:ea typeface="Cambria" pitchFamily="34" charset="-122"/>
                <a:cs typeface="Cambria" pitchFamily="34" charset="-120"/>
              </a:rPr>
              <a:t>No AI model calculates stock, margin or risk.</a:t>
            </a:r>
            <a:endParaRPr lang="en-US" sz="1650" dirty="0"/>
          </a:p>
        </p:txBody>
      </p:sp>
      <p:sp>
        <p:nvSpPr>
          <p:cNvPr id="41" name="Text 26"/>
          <p:cNvSpPr/>
          <p:nvPr/>
        </p:nvSpPr>
        <p:spPr>
          <a:xfrm>
            <a:off x="1499616" y="5641848"/>
            <a:ext cx="5303520" cy="201168"/>
          </a:xfrm>
          <a:prstGeom prst="rect">
            <a:avLst/>
          </a:prstGeom>
          <a:noFill/>
          <a:ln/>
        </p:spPr>
        <p:txBody>
          <a:bodyPr wrap="square" lIns="0" tIns="0" rIns="0" bIns="0" rtlCol="0" anchor="t"/>
          <a:lstStyle/>
          <a:p>
            <a:pPr algn="l" indent="0" marL="0">
              <a:lnSpc>
                <a:spcPct val="100000"/>
              </a:lnSpc>
              <a:buNone/>
            </a:pPr>
            <a:r>
              <a:rPr lang="en-US" sz="880" dirty="0">
                <a:solidFill>
                  <a:srgbClr val="C9BBAA"/>
                </a:solidFill>
                <a:latin typeface="Calibri" pitchFamily="34" charset="0"/>
                <a:ea typeface="Calibri" pitchFamily="34" charset="-122"/>
                <a:cs typeface="Calibri" pitchFamily="34" charset="-120"/>
              </a:rPr>
              <a:t>AI output is treated as untrusted data. Catalog prices are authoritative.</a:t>
            </a:r>
            <a:endParaRPr lang="en-US" sz="880" dirty="0"/>
          </a:p>
        </p:txBody>
      </p:sp>
      <p:sp>
        <p:nvSpPr>
          <p:cNvPr id="42" name="Shape 27"/>
          <p:cNvSpPr/>
          <p:nvPr/>
        </p:nvSpPr>
        <p:spPr>
          <a:xfrm>
            <a:off x="7086600" y="5468112"/>
            <a:ext cx="1335024" cy="219456"/>
          </a:xfrm>
          <a:prstGeom prst="roundRect">
            <a:avLst>
              <a:gd name="adj" fmla="val 50000"/>
            </a:avLst>
          </a:prstGeom>
          <a:solidFill>
            <a:srgbClr val="3A3026"/>
          </a:solidFill>
          <a:ln w="7620">
            <a:solidFill>
              <a:srgbClr val="5A4939"/>
            </a:solidFill>
            <a:prstDash val="solid"/>
          </a:ln>
        </p:spPr>
        <p:txBody>
          <a:bodyPr/>
          <a:p/>
        </p:txBody>
      </p:sp>
      <p:sp>
        <p:nvSpPr>
          <p:cNvPr id="43" name="Text 28"/>
          <p:cNvSpPr/>
          <p:nvPr/>
        </p:nvSpPr>
        <p:spPr>
          <a:xfrm>
            <a:off x="7178040" y="5486400"/>
            <a:ext cx="1152144" cy="192024"/>
          </a:xfrm>
          <a:prstGeom prst="rect">
            <a:avLst/>
          </a:prstGeom>
          <a:noFill/>
          <a:ln/>
        </p:spPr>
        <p:txBody>
          <a:bodyPr wrap="square" lIns="0" tIns="0" rIns="0" bIns="0" rtlCol="0" anchor="ctr"/>
          <a:lstStyle/>
          <a:p>
            <a:pPr algn="ctr" indent="0" marL="0">
              <a:lnSpc>
                <a:spcPct val="100000"/>
              </a:lnSpc>
              <a:buNone/>
            </a:pPr>
            <a:r>
              <a:rPr lang="en-US" sz="660" b="1" spc="30" kern="0" dirty="0">
                <a:solidFill>
                  <a:srgbClr val="D97706"/>
                </a:solidFill>
                <a:latin typeface="Calibri" pitchFamily="34" charset="0"/>
                <a:ea typeface="Calibri" pitchFamily="34" charset="-122"/>
                <a:cs typeface="Calibri" pitchFamily="34" charset="-120"/>
              </a:rPr>
              <a:t>Prompt-injection guarded</a:t>
            </a:r>
            <a:endParaRPr lang="en-US" sz="660" dirty="0"/>
          </a:p>
        </p:txBody>
      </p:sp>
      <p:sp>
        <p:nvSpPr>
          <p:cNvPr id="44" name="Shape 29"/>
          <p:cNvSpPr/>
          <p:nvPr/>
        </p:nvSpPr>
        <p:spPr>
          <a:xfrm>
            <a:off x="8531352" y="5468112"/>
            <a:ext cx="1335024" cy="219456"/>
          </a:xfrm>
          <a:prstGeom prst="roundRect">
            <a:avLst>
              <a:gd name="adj" fmla="val 50000"/>
            </a:avLst>
          </a:prstGeom>
          <a:solidFill>
            <a:srgbClr val="3A3026"/>
          </a:solidFill>
          <a:ln w="7620">
            <a:solidFill>
              <a:srgbClr val="5A4939"/>
            </a:solidFill>
            <a:prstDash val="solid"/>
          </a:ln>
        </p:spPr>
        <p:txBody>
          <a:bodyPr/>
          <a:p/>
        </p:txBody>
      </p:sp>
      <p:sp>
        <p:nvSpPr>
          <p:cNvPr id="45" name="Text 30"/>
          <p:cNvSpPr/>
          <p:nvPr/>
        </p:nvSpPr>
        <p:spPr>
          <a:xfrm>
            <a:off x="8622792" y="5486400"/>
            <a:ext cx="1152144" cy="192024"/>
          </a:xfrm>
          <a:prstGeom prst="rect">
            <a:avLst/>
          </a:prstGeom>
          <a:noFill/>
          <a:ln/>
        </p:spPr>
        <p:txBody>
          <a:bodyPr wrap="square" lIns="0" tIns="0" rIns="0" bIns="0" rtlCol="0" anchor="ctr"/>
          <a:lstStyle/>
          <a:p>
            <a:pPr algn="ctr" indent="0" marL="0">
              <a:lnSpc>
                <a:spcPct val="100000"/>
              </a:lnSpc>
              <a:buNone/>
            </a:pPr>
            <a:r>
              <a:rPr lang="en-US" sz="660" b="1" spc="30" kern="0" dirty="0">
                <a:solidFill>
                  <a:srgbClr val="D97706"/>
                </a:solidFill>
                <a:latin typeface="Calibri" pitchFamily="34" charset="0"/>
                <a:ea typeface="Calibri" pitchFamily="34" charset="-122"/>
                <a:cs typeface="Calibri" pitchFamily="34" charset="-120"/>
              </a:rPr>
              <a:t>Rules fallback by default</a:t>
            </a:r>
            <a:endParaRPr lang="en-US" sz="660" dirty="0"/>
          </a:p>
        </p:txBody>
      </p:sp>
      <p:sp>
        <p:nvSpPr>
          <p:cNvPr id="46" name="Shape 31"/>
          <p:cNvSpPr/>
          <p:nvPr/>
        </p:nvSpPr>
        <p:spPr>
          <a:xfrm>
            <a:off x="9976104" y="5468112"/>
            <a:ext cx="1335024" cy="219456"/>
          </a:xfrm>
          <a:prstGeom prst="roundRect">
            <a:avLst>
              <a:gd name="adj" fmla="val 50000"/>
            </a:avLst>
          </a:prstGeom>
          <a:solidFill>
            <a:srgbClr val="3A3026"/>
          </a:solidFill>
          <a:ln w="7620">
            <a:solidFill>
              <a:srgbClr val="5A4939"/>
            </a:solidFill>
            <a:prstDash val="solid"/>
          </a:ln>
        </p:spPr>
        <p:txBody>
          <a:bodyPr/>
          <a:p/>
        </p:txBody>
      </p:sp>
      <p:sp>
        <p:nvSpPr>
          <p:cNvPr id="47" name="Text 32"/>
          <p:cNvSpPr/>
          <p:nvPr/>
        </p:nvSpPr>
        <p:spPr>
          <a:xfrm>
            <a:off x="10067544" y="5486400"/>
            <a:ext cx="1152144" cy="192024"/>
          </a:xfrm>
          <a:prstGeom prst="rect">
            <a:avLst/>
          </a:prstGeom>
          <a:noFill/>
          <a:ln/>
        </p:spPr>
        <p:txBody>
          <a:bodyPr wrap="square" lIns="0" tIns="0" rIns="0" bIns="0" rtlCol="0" anchor="ctr"/>
          <a:lstStyle/>
          <a:p>
            <a:pPr algn="ctr" indent="0" marL="0">
              <a:lnSpc>
                <a:spcPct val="100000"/>
              </a:lnSpc>
              <a:buNone/>
            </a:pPr>
            <a:r>
              <a:rPr lang="en-US" sz="660" b="1" spc="30" kern="0" dirty="0">
                <a:solidFill>
                  <a:srgbClr val="D97706"/>
                </a:solidFill>
                <a:latin typeface="Calibri" pitchFamily="34" charset="0"/>
                <a:ea typeface="Calibri" pitchFamily="34" charset="-122"/>
                <a:cs typeface="Calibri" pitchFamily="34" charset="-120"/>
              </a:rPr>
              <a:t>Owner approval required</a:t>
            </a:r>
            <a:endParaRPr lang="en-US" sz="660" dirty="0"/>
          </a:p>
        </p:txBody>
      </p:sp>
      <p:sp>
        <p:nvSpPr>
          <p:cNvPr id="48" name="Text 33"/>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49" name="Text 34"/>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08</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EXPLAINABLE RISK</a:t>
            </a:r>
            <a:endParaRPr lang="en-US" sz="900" dirty="0"/>
          </a:p>
        </p:txBody>
      </p:sp>
      <p:sp>
        <p:nvSpPr>
          <p:cNvPr id="3" name="Text 1"/>
          <p:cNvSpPr/>
          <p:nvPr/>
        </p:nvSpPr>
        <p:spPr>
          <a:xfrm>
            <a:off x="640080" y="640080"/>
            <a:ext cx="10515600" cy="960120"/>
          </a:xfrm>
          <a:prstGeom prst="rect">
            <a:avLst/>
          </a:prstGeom>
          <a:noFill/>
          <a:ln/>
        </p:spPr>
        <p:txBody>
          <a:bodyPr wrap="square" lIns="0" tIns="0" rIns="0" bIns="0" rtlCol="0" anchor="t"/>
          <a:lstStyle/>
          <a:p>
            <a:pPr algn="l" indent="0" marL="0">
              <a:lnSpc>
                <a:spcPct val="94000"/>
              </a:lnSpc>
              <a:buNone/>
            </a:pPr>
            <a:r>
              <a:rPr lang="en-US" sz="3300" b="1" dirty="0">
                <a:solidFill>
                  <a:srgbClr val="1B1714"/>
                </a:solidFill>
                <a:latin typeface="Cambria" pitchFamily="34" charset="0"/>
                <a:ea typeface="Cambria" pitchFamily="34" charset="-122"/>
                <a:cs typeface="Cambria" pitchFamily="34" charset="-120"/>
              </a:rPr>
              <a:t>A risk score the owner can argue with.</a:t>
            </a:r>
            <a:endParaRPr lang="en-US" sz="3300" dirty="0"/>
          </a:p>
        </p:txBody>
      </p:sp>
      <p:sp>
        <p:nvSpPr>
          <p:cNvPr id="4" name="Text 2"/>
          <p:cNvSpPr/>
          <p:nvPr/>
        </p:nvSpPr>
        <p:spPr>
          <a:xfrm>
            <a:off x="640080" y="1417320"/>
            <a:ext cx="6492240" cy="310896"/>
          </a:xfrm>
          <a:prstGeom prst="rect">
            <a:avLst/>
          </a:prstGeom>
          <a:noFill/>
          <a:ln/>
        </p:spPr>
        <p:txBody>
          <a:bodyPr wrap="square" lIns="0" tIns="0" rIns="0" bIns="0" rtlCol="0" anchor="t"/>
          <a:lstStyle/>
          <a:p>
            <a:pPr algn="l" indent="0" marL="0">
              <a:lnSpc>
                <a:spcPct val="100000"/>
              </a:lnSpc>
              <a:buNone/>
            </a:pPr>
            <a:r>
              <a:rPr lang="en-US" sz="1150" dirty="0">
                <a:solidFill>
                  <a:srgbClr val="6B6258"/>
                </a:solidFill>
                <a:latin typeface="Calibri" pitchFamily="34" charset="0"/>
                <a:ea typeface="Calibri" pitchFamily="34" charset="-122"/>
                <a:cs typeface="Calibri" pitchFamily="34" charset="-120"/>
              </a:rPr>
              <a:t>Five independent factors, weighted by industry. Each one shows its evidence — not just a colour.</a:t>
            </a:r>
            <a:endParaRPr lang="en-US" sz="1150" dirty="0"/>
          </a:p>
        </p:txBody>
      </p:sp>
      <p:sp>
        <p:nvSpPr>
          <p:cNvPr id="5" name="Text 3"/>
          <p:cNvSpPr/>
          <p:nvPr/>
        </p:nvSpPr>
        <p:spPr>
          <a:xfrm>
            <a:off x="640080" y="2011680"/>
            <a:ext cx="1965960" cy="201168"/>
          </a:xfrm>
          <a:prstGeom prst="rect">
            <a:avLst/>
          </a:prstGeom>
          <a:noFill/>
          <a:ln/>
        </p:spPr>
        <p:txBody>
          <a:bodyPr wrap="square" lIns="0" tIns="0" rIns="0" bIns="0" rtlCol="0" anchor="t"/>
          <a:lstStyle/>
          <a:p>
            <a:pPr algn="l" indent="0" marL="0">
              <a:lnSpc>
                <a:spcPct val="100000"/>
              </a:lnSpc>
              <a:buNone/>
            </a:pPr>
            <a:r>
              <a:rPr lang="en-US" sz="1020" b="1" dirty="0">
                <a:solidFill>
                  <a:srgbClr val="1B1714"/>
                </a:solidFill>
                <a:latin typeface="Calibri" pitchFamily="34" charset="0"/>
                <a:ea typeface="Calibri" pitchFamily="34" charset="-122"/>
                <a:cs typeface="Calibri" pitchFamily="34" charset="-120"/>
              </a:rPr>
              <a:t>Stock / capacity</a:t>
            </a:r>
            <a:endParaRPr lang="en-US" sz="1020" dirty="0"/>
          </a:p>
        </p:txBody>
      </p:sp>
      <p:sp>
        <p:nvSpPr>
          <p:cNvPr id="6" name="Text 4"/>
          <p:cNvSpPr/>
          <p:nvPr/>
        </p:nvSpPr>
        <p:spPr>
          <a:xfrm>
            <a:off x="1965960" y="2029968"/>
            <a:ext cx="530352" cy="164592"/>
          </a:xfrm>
          <a:prstGeom prst="rect">
            <a:avLst/>
          </a:prstGeom>
          <a:noFill/>
          <a:ln/>
        </p:spPr>
        <p:txBody>
          <a:bodyPr wrap="square" lIns="0" tIns="0" rIns="0" bIns="0" rtlCol="0" anchor="t"/>
          <a:lstStyle/>
          <a:p>
            <a:pPr algn="l" indent="0" marL="0">
              <a:lnSpc>
                <a:spcPct val="100000"/>
              </a:lnSpc>
              <a:buNone/>
            </a:pPr>
            <a:r>
              <a:rPr lang="en-US" sz="720" dirty="0">
                <a:solidFill>
                  <a:srgbClr val="8C8073"/>
                </a:solidFill>
                <a:latin typeface="Calibri" pitchFamily="34" charset="0"/>
                <a:ea typeface="Calibri" pitchFamily="34" charset="-122"/>
                <a:cs typeface="Calibri" pitchFamily="34" charset="-120"/>
              </a:rPr>
              <a:t>weight</a:t>
            </a:r>
            <a:endParaRPr lang="en-US" sz="720" dirty="0"/>
          </a:p>
        </p:txBody>
      </p:sp>
      <p:sp>
        <p:nvSpPr>
          <p:cNvPr id="7" name="Shape 5"/>
          <p:cNvSpPr/>
          <p:nvPr/>
        </p:nvSpPr>
        <p:spPr>
          <a:xfrm>
            <a:off x="2487168" y="2057400"/>
            <a:ext cx="3246120" cy="146304"/>
          </a:xfrm>
          <a:prstGeom prst="roundRect">
            <a:avLst>
              <a:gd name="adj" fmla="val 50000"/>
            </a:avLst>
          </a:prstGeom>
          <a:solidFill>
            <a:srgbClr val="E8DCCB"/>
          </a:solidFill>
          <a:ln w="12700">
            <a:solidFill>
              <a:srgbClr val="E8DCCB"/>
            </a:solidFill>
            <a:prstDash val="solid"/>
          </a:ln>
        </p:spPr>
        <p:txBody>
          <a:bodyPr/>
          <a:p/>
        </p:txBody>
      </p:sp>
      <p:sp>
        <p:nvSpPr>
          <p:cNvPr id="8" name="Shape 6"/>
          <p:cNvSpPr/>
          <p:nvPr/>
        </p:nvSpPr>
        <p:spPr>
          <a:xfrm>
            <a:off x="2487168" y="2057400"/>
            <a:ext cx="3246120" cy="146304"/>
          </a:xfrm>
          <a:prstGeom prst="roundRect">
            <a:avLst>
              <a:gd name="adj" fmla="val 50000"/>
            </a:avLst>
          </a:prstGeom>
          <a:solidFill>
            <a:srgbClr val="2F6B4F"/>
          </a:solidFill>
          <a:ln w="12700">
            <a:solidFill>
              <a:srgbClr val="2F6B4F"/>
            </a:solidFill>
            <a:prstDash val="solid"/>
          </a:ln>
        </p:spPr>
        <p:txBody>
          <a:bodyPr/>
          <a:p/>
        </p:txBody>
      </p:sp>
      <p:sp>
        <p:nvSpPr>
          <p:cNvPr id="9" name="Text 7"/>
          <p:cNvSpPr/>
          <p:nvPr/>
        </p:nvSpPr>
        <p:spPr>
          <a:xfrm>
            <a:off x="5833872" y="2011680"/>
            <a:ext cx="502920" cy="201168"/>
          </a:xfrm>
          <a:prstGeom prst="rect">
            <a:avLst/>
          </a:prstGeom>
          <a:noFill/>
          <a:ln/>
        </p:spPr>
        <p:txBody>
          <a:bodyPr wrap="square" lIns="0" tIns="0" rIns="0" bIns="0" rtlCol="0" anchor="t"/>
          <a:lstStyle/>
          <a:p>
            <a:pPr algn="r" indent="0" marL="0">
              <a:lnSpc>
                <a:spcPct val="100000"/>
              </a:lnSpc>
              <a:buNone/>
            </a:pPr>
            <a:r>
              <a:rPr lang="en-US" sz="1020" b="1" dirty="0">
                <a:solidFill>
                  <a:srgbClr val="1B1714"/>
                </a:solidFill>
                <a:latin typeface="Calibri" pitchFamily="34" charset="0"/>
                <a:ea typeface="Calibri" pitchFamily="34" charset="-122"/>
                <a:cs typeface="Calibri" pitchFamily="34" charset="-120"/>
              </a:rPr>
              <a:t>30%</a:t>
            </a:r>
            <a:endParaRPr lang="en-US" sz="1020" dirty="0"/>
          </a:p>
        </p:txBody>
      </p:sp>
      <p:sp>
        <p:nvSpPr>
          <p:cNvPr id="10" name="Text 8"/>
          <p:cNvSpPr/>
          <p:nvPr/>
        </p:nvSpPr>
        <p:spPr>
          <a:xfrm>
            <a:off x="640080" y="2633472"/>
            <a:ext cx="1965960" cy="201168"/>
          </a:xfrm>
          <a:prstGeom prst="rect">
            <a:avLst/>
          </a:prstGeom>
          <a:noFill/>
          <a:ln/>
        </p:spPr>
        <p:txBody>
          <a:bodyPr wrap="square" lIns="0" tIns="0" rIns="0" bIns="0" rtlCol="0" anchor="t"/>
          <a:lstStyle/>
          <a:p>
            <a:pPr algn="l" indent="0" marL="0">
              <a:lnSpc>
                <a:spcPct val="100000"/>
              </a:lnSpc>
              <a:buNone/>
            </a:pPr>
            <a:r>
              <a:rPr lang="en-US" sz="1020" b="1" dirty="0">
                <a:solidFill>
                  <a:srgbClr val="1B1714"/>
                </a:solidFill>
                <a:latin typeface="Calibri" pitchFamily="34" charset="0"/>
                <a:ea typeface="Calibri" pitchFamily="34" charset="-122"/>
                <a:cs typeface="Calibri" pitchFamily="34" charset="-120"/>
              </a:rPr>
              <a:t>Delivery feasibility</a:t>
            </a:r>
            <a:endParaRPr lang="en-US" sz="1020" dirty="0"/>
          </a:p>
        </p:txBody>
      </p:sp>
      <p:sp>
        <p:nvSpPr>
          <p:cNvPr id="11" name="Text 9"/>
          <p:cNvSpPr/>
          <p:nvPr/>
        </p:nvSpPr>
        <p:spPr>
          <a:xfrm>
            <a:off x="1965960" y="2651760"/>
            <a:ext cx="530352" cy="164592"/>
          </a:xfrm>
          <a:prstGeom prst="rect">
            <a:avLst/>
          </a:prstGeom>
          <a:noFill/>
          <a:ln/>
        </p:spPr>
        <p:txBody>
          <a:bodyPr wrap="square" lIns="0" tIns="0" rIns="0" bIns="0" rtlCol="0" anchor="t"/>
          <a:lstStyle/>
          <a:p>
            <a:pPr algn="l" indent="0" marL="0">
              <a:lnSpc>
                <a:spcPct val="100000"/>
              </a:lnSpc>
              <a:buNone/>
            </a:pPr>
            <a:r>
              <a:rPr lang="en-US" sz="720" dirty="0">
                <a:solidFill>
                  <a:srgbClr val="8C8073"/>
                </a:solidFill>
                <a:latin typeface="Calibri" pitchFamily="34" charset="0"/>
                <a:ea typeface="Calibri" pitchFamily="34" charset="-122"/>
                <a:cs typeface="Calibri" pitchFamily="34" charset="-120"/>
              </a:rPr>
              <a:t>weight</a:t>
            </a:r>
            <a:endParaRPr lang="en-US" sz="720" dirty="0"/>
          </a:p>
        </p:txBody>
      </p:sp>
      <p:sp>
        <p:nvSpPr>
          <p:cNvPr id="12" name="Shape 10"/>
          <p:cNvSpPr/>
          <p:nvPr/>
        </p:nvSpPr>
        <p:spPr>
          <a:xfrm>
            <a:off x="2487168" y="2679192"/>
            <a:ext cx="3246120" cy="146304"/>
          </a:xfrm>
          <a:prstGeom prst="roundRect">
            <a:avLst>
              <a:gd name="adj" fmla="val 50000"/>
            </a:avLst>
          </a:prstGeom>
          <a:solidFill>
            <a:srgbClr val="E8DCCB"/>
          </a:solidFill>
          <a:ln w="12700">
            <a:solidFill>
              <a:srgbClr val="E8DCCB"/>
            </a:solidFill>
            <a:prstDash val="solid"/>
          </a:ln>
        </p:spPr>
        <p:txBody>
          <a:bodyPr/>
          <a:p/>
        </p:txBody>
      </p:sp>
      <p:sp>
        <p:nvSpPr>
          <p:cNvPr id="13" name="Shape 11"/>
          <p:cNvSpPr/>
          <p:nvPr/>
        </p:nvSpPr>
        <p:spPr>
          <a:xfrm>
            <a:off x="2487168" y="2679192"/>
            <a:ext cx="2705100" cy="146304"/>
          </a:xfrm>
          <a:prstGeom prst="roundRect">
            <a:avLst>
              <a:gd name="adj" fmla="val 50000"/>
            </a:avLst>
          </a:prstGeom>
          <a:solidFill>
            <a:srgbClr val="D97706"/>
          </a:solidFill>
          <a:ln w="12700">
            <a:solidFill>
              <a:srgbClr val="D97706"/>
            </a:solidFill>
            <a:prstDash val="solid"/>
          </a:ln>
        </p:spPr>
        <p:txBody>
          <a:bodyPr/>
          <a:p/>
        </p:txBody>
      </p:sp>
      <p:sp>
        <p:nvSpPr>
          <p:cNvPr id="14" name="Text 12"/>
          <p:cNvSpPr/>
          <p:nvPr/>
        </p:nvSpPr>
        <p:spPr>
          <a:xfrm>
            <a:off x="5833872" y="2633472"/>
            <a:ext cx="502920" cy="201168"/>
          </a:xfrm>
          <a:prstGeom prst="rect">
            <a:avLst/>
          </a:prstGeom>
          <a:noFill/>
          <a:ln/>
        </p:spPr>
        <p:txBody>
          <a:bodyPr wrap="square" lIns="0" tIns="0" rIns="0" bIns="0" rtlCol="0" anchor="t"/>
          <a:lstStyle/>
          <a:p>
            <a:pPr algn="r" indent="0" marL="0">
              <a:lnSpc>
                <a:spcPct val="100000"/>
              </a:lnSpc>
              <a:buNone/>
            </a:pPr>
            <a:r>
              <a:rPr lang="en-US" sz="1020" b="1" dirty="0">
                <a:solidFill>
                  <a:srgbClr val="1B1714"/>
                </a:solidFill>
                <a:latin typeface="Calibri" pitchFamily="34" charset="0"/>
                <a:ea typeface="Calibri" pitchFamily="34" charset="-122"/>
                <a:cs typeface="Calibri" pitchFamily="34" charset="-120"/>
              </a:rPr>
              <a:t>25%</a:t>
            </a:r>
            <a:endParaRPr lang="en-US" sz="1020" dirty="0"/>
          </a:p>
        </p:txBody>
      </p:sp>
      <p:sp>
        <p:nvSpPr>
          <p:cNvPr id="15" name="Text 13"/>
          <p:cNvSpPr/>
          <p:nvPr/>
        </p:nvSpPr>
        <p:spPr>
          <a:xfrm>
            <a:off x="640080" y="3255264"/>
            <a:ext cx="1965960" cy="201168"/>
          </a:xfrm>
          <a:prstGeom prst="rect">
            <a:avLst/>
          </a:prstGeom>
          <a:noFill/>
          <a:ln/>
        </p:spPr>
        <p:txBody>
          <a:bodyPr wrap="square" lIns="0" tIns="0" rIns="0" bIns="0" rtlCol="0" anchor="t"/>
          <a:lstStyle/>
          <a:p>
            <a:pPr algn="l" indent="0" marL="0">
              <a:lnSpc>
                <a:spcPct val="100000"/>
              </a:lnSpc>
              <a:buNone/>
            </a:pPr>
            <a:r>
              <a:rPr lang="en-US" sz="1020" b="1" dirty="0">
                <a:solidFill>
                  <a:srgbClr val="1B1714"/>
                </a:solidFill>
                <a:latin typeface="Calibri" pitchFamily="34" charset="0"/>
                <a:ea typeface="Calibri" pitchFamily="34" charset="-122"/>
                <a:cs typeface="Calibri" pitchFamily="34" charset="-120"/>
              </a:rPr>
              <a:t>Margin</a:t>
            </a:r>
            <a:endParaRPr lang="en-US" sz="1020" dirty="0"/>
          </a:p>
        </p:txBody>
      </p:sp>
      <p:sp>
        <p:nvSpPr>
          <p:cNvPr id="16" name="Text 14"/>
          <p:cNvSpPr/>
          <p:nvPr/>
        </p:nvSpPr>
        <p:spPr>
          <a:xfrm>
            <a:off x="1965960" y="3273552"/>
            <a:ext cx="530352" cy="164592"/>
          </a:xfrm>
          <a:prstGeom prst="rect">
            <a:avLst/>
          </a:prstGeom>
          <a:noFill/>
          <a:ln/>
        </p:spPr>
        <p:txBody>
          <a:bodyPr wrap="square" lIns="0" tIns="0" rIns="0" bIns="0" rtlCol="0" anchor="t"/>
          <a:lstStyle/>
          <a:p>
            <a:pPr algn="l" indent="0" marL="0">
              <a:lnSpc>
                <a:spcPct val="100000"/>
              </a:lnSpc>
              <a:buNone/>
            </a:pPr>
            <a:r>
              <a:rPr lang="en-US" sz="720" dirty="0">
                <a:solidFill>
                  <a:srgbClr val="8C8073"/>
                </a:solidFill>
                <a:latin typeface="Calibri" pitchFamily="34" charset="0"/>
                <a:ea typeface="Calibri" pitchFamily="34" charset="-122"/>
                <a:cs typeface="Calibri" pitchFamily="34" charset="-120"/>
              </a:rPr>
              <a:t>weight</a:t>
            </a:r>
            <a:endParaRPr lang="en-US" sz="720" dirty="0"/>
          </a:p>
        </p:txBody>
      </p:sp>
      <p:sp>
        <p:nvSpPr>
          <p:cNvPr id="17" name="Shape 15"/>
          <p:cNvSpPr/>
          <p:nvPr/>
        </p:nvSpPr>
        <p:spPr>
          <a:xfrm>
            <a:off x="2487168" y="3300984"/>
            <a:ext cx="3246120" cy="146304"/>
          </a:xfrm>
          <a:prstGeom prst="roundRect">
            <a:avLst>
              <a:gd name="adj" fmla="val 50000"/>
            </a:avLst>
          </a:prstGeom>
          <a:solidFill>
            <a:srgbClr val="E8DCCB"/>
          </a:solidFill>
          <a:ln w="12700">
            <a:solidFill>
              <a:srgbClr val="E8DCCB"/>
            </a:solidFill>
            <a:prstDash val="solid"/>
          </a:ln>
        </p:spPr>
        <p:txBody>
          <a:bodyPr/>
          <a:p/>
        </p:txBody>
      </p:sp>
      <p:sp>
        <p:nvSpPr>
          <p:cNvPr id="18" name="Shape 16"/>
          <p:cNvSpPr/>
          <p:nvPr/>
        </p:nvSpPr>
        <p:spPr>
          <a:xfrm>
            <a:off x="2487168" y="3300984"/>
            <a:ext cx="2164080" cy="146304"/>
          </a:xfrm>
          <a:prstGeom prst="roundRect">
            <a:avLst>
              <a:gd name="adj" fmla="val 50000"/>
            </a:avLst>
          </a:prstGeom>
          <a:solidFill>
            <a:srgbClr val="B45309"/>
          </a:solidFill>
          <a:ln w="12700">
            <a:solidFill>
              <a:srgbClr val="B45309"/>
            </a:solidFill>
            <a:prstDash val="solid"/>
          </a:ln>
        </p:spPr>
        <p:txBody>
          <a:bodyPr/>
          <a:p/>
        </p:txBody>
      </p:sp>
      <p:sp>
        <p:nvSpPr>
          <p:cNvPr id="19" name="Text 17"/>
          <p:cNvSpPr/>
          <p:nvPr/>
        </p:nvSpPr>
        <p:spPr>
          <a:xfrm>
            <a:off x="5833872" y="3255264"/>
            <a:ext cx="502920" cy="201168"/>
          </a:xfrm>
          <a:prstGeom prst="rect">
            <a:avLst/>
          </a:prstGeom>
          <a:noFill/>
          <a:ln/>
        </p:spPr>
        <p:txBody>
          <a:bodyPr wrap="square" lIns="0" tIns="0" rIns="0" bIns="0" rtlCol="0" anchor="t"/>
          <a:lstStyle/>
          <a:p>
            <a:pPr algn="r" indent="0" marL="0">
              <a:lnSpc>
                <a:spcPct val="100000"/>
              </a:lnSpc>
              <a:buNone/>
            </a:pPr>
            <a:r>
              <a:rPr lang="en-US" sz="1020" b="1" dirty="0">
                <a:solidFill>
                  <a:srgbClr val="1B1714"/>
                </a:solidFill>
                <a:latin typeface="Calibri" pitchFamily="34" charset="0"/>
                <a:ea typeface="Calibri" pitchFamily="34" charset="-122"/>
                <a:cs typeface="Calibri" pitchFamily="34" charset="-120"/>
              </a:rPr>
              <a:t>20%</a:t>
            </a:r>
            <a:endParaRPr lang="en-US" sz="1020" dirty="0"/>
          </a:p>
        </p:txBody>
      </p:sp>
      <p:sp>
        <p:nvSpPr>
          <p:cNvPr id="20" name="Text 18"/>
          <p:cNvSpPr/>
          <p:nvPr/>
        </p:nvSpPr>
        <p:spPr>
          <a:xfrm>
            <a:off x="640080" y="3877056"/>
            <a:ext cx="1965960" cy="201168"/>
          </a:xfrm>
          <a:prstGeom prst="rect">
            <a:avLst/>
          </a:prstGeom>
          <a:noFill/>
          <a:ln/>
        </p:spPr>
        <p:txBody>
          <a:bodyPr wrap="square" lIns="0" tIns="0" rIns="0" bIns="0" rtlCol="0" anchor="t"/>
          <a:lstStyle/>
          <a:p>
            <a:pPr algn="l" indent="0" marL="0">
              <a:lnSpc>
                <a:spcPct val="100000"/>
              </a:lnSpc>
              <a:buNone/>
            </a:pPr>
            <a:r>
              <a:rPr lang="en-US" sz="1020" b="1" dirty="0">
                <a:solidFill>
                  <a:srgbClr val="1B1714"/>
                </a:solidFill>
                <a:latin typeface="Calibri" pitchFamily="34" charset="0"/>
                <a:ea typeface="Calibri" pitchFamily="34" charset="-122"/>
                <a:cs typeface="Calibri" pitchFamily="34" charset="-120"/>
              </a:rPr>
              <a:t>Data completeness</a:t>
            </a:r>
            <a:endParaRPr lang="en-US" sz="1020" dirty="0"/>
          </a:p>
        </p:txBody>
      </p:sp>
      <p:sp>
        <p:nvSpPr>
          <p:cNvPr id="21" name="Text 19"/>
          <p:cNvSpPr/>
          <p:nvPr/>
        </p:nvSpPr>
        <p:spPr>
          <a:xfrm>
            <a:off x="1965960" y="3895344"/>
            <a:ext cx="530352" cy="164592"/>
          </a:xfrm>
          <a:prstGeom prst="rect">
            <a:avLst/>
          </a:prstGeom>
          <a:noFill/>
          <a:ln/>
        </p:spPr>
        <p:txBody>
          <a:bodyPr wrap="square" lIns="0" tIns="0" rIns="0" bIns="0" rtlCol="0" anchor="t"/>
          <a:lstStyle/>
          <a:p>
            <a:pPr algn="l" indent="0" marL="0">
              <a:lnSpc>
                <a:spcPct val="100000"/>
              </a:lnSpc>
              <a:buNone/>
            </a:pPr>
            <a:r>
              <a:rPr lang="en-US" sz="720" dirty="0">
                <a:solidFill>
                  <a:srgbClr val="8C8073"/>
                </a:solidFill>
                <a:latin typeface="Calibri" pitchFamily="34" charset="0"/>
                <a:ea typeface="Calibri" pitchFamily="34" charset="-122"/>
                <a:cs typeface="Calibri" pitchFamily="34" charset="-120"/>
              </a:rPr>
              <a:t>weight</a:t>
            </a:r>
            <a:endParaRPr lang="en-US" sz="720" dirty="0"/>
          </a:p>
        </p:txBody>
      </p:sp>
      <p:sp>
        <p:nvSpPr>
          <p:cNvPr id="22" name="Shape 20"/>
          <p:cNvSpPr/>
          <p:nvPr/>
        </p:nvSpPr>
        <p:spPr>
          <a:xfrm>
            <a:off x="2487168" y="3922776"/>
            <a:ext cx="3246120" cy="146304"/>
          </a:xfrm>
          <a:prstGeom prst="roundRect">
            <a:avLst>
              <a:gd name="adj" fmla="val 50000"/>
            </a:avLst>
          </a:prstGeom>
          <a:solidFill>
            <a:srgbClr val="E8DCCB"/>
          </a:solidFill>
          <a:ln w="12700">
            <a:solidFill>
              <a:srgbClr val="E8DCCB"/>
            </a:solidFill>
            <a:prstDash val="solid"/>
          </a:ln>
        </p:spPr>
        <p:txBody>
          <a:bodyPr/>
          <a:p/>
        </p:txBody>
      </p:sp>
      <p:sp>
        <p:nvSpPr>
          <p:cNvPr id="23" name="Shape 21"/>
          <p:cNvSpPr/>
          <p:nvPr/>
        </p:nvSpPr>
        <p:spPr>
          <a:xfrm>
            <a:off x="2487168" y="3922776"/>
            <a:ext cx="1623060" cy="146304"/>
          </a:xfrm>
          <a:prstGeom prst="roundRect">
            <a:avLst>
              <a:gd name="adj" fmla="val 50000"/>
            </a:avLst>
          </a:prstGeom>
          <a:solidFill>
            <a:srgbClr val="3B6EA5"/>
          </a:solidFill>
          <a:ln w="12700">
            <a:solidFill>
              <a:srgbClr val="3B6EA5"/>
            </a:solidFill>
            <a:prstDash val="solid"/>
          </a:ln>
        </p:spPr>
        <p:txBody>
          <a:bodyPr/>
          <a:p/>
        </p:txBody>
      </p:sp>
      <p:sp>
        <p:nvSpPr>
          <p:cNvPr id="24" name="Text 22"/>
          <p:cNvSpPr/>
          <p:nvPr/>
        </p:nvSpPr>
        <p:spPr>
          <a:xfrm>
            <a:off x="5833872" y="3877056"/>
            <a:ext cx="502920" cy="201168"/>
          </a:xfrm>
          <a:prstGeom prst="rect">
            <a:avLst/>
          </a:prstGeom>
          <a:noFill/>
          <a:ln/>
        </p:spPr>
        <p:txBody>
          <a:bodyPr wrap="square" lIns="0" tIns="0" rIns="0" bIns="0" rtlCol="0" anchor="t"/>
          <a:lstStyle/>
          <a:p>
            <a:pPr algn="r" indent="0" marL="0">
              <a:lnSpc>
                <a:spcPct val="100000"/>
              </a:lnSpc>
              <a:buNone/>
            </a:pPr>
            <a:r>
              <a:rPr lang="en-US" sz="1020" b="1" dirty="0">
                <a:solidFill>
                  <a:srgbClr val="1B1714"/>
                </a:solidFill>
                <a:latin typeface="Calibri" pitchFamily="34" charset="0"/>
                <a:ea typeface="Calibri" pitchFamily="34" charset="-122"/>
                <a:cs typeface="Calibri" pitchFamily="34" charset="-120"/>
              </a:rPr>
              <a:t>15%</a:t>
            </a:r>
            <a:endParaRPr lang="en-US" sz="1020" dirty="0"/>
          </a:p>
        </p:txBody>
      </p:sp>
      <p:sp>
        <p:nvSpPr>
          <p:cNvPr id="25" name="Text 23"/>
          <p:cNvSpPr/>
          <p:nvPr/>
        </p:nvSpPr>
        <p:spPr>
          <a:xfrm>
            <a:off x="640080" y="4498848"/>
            <a:ext cx="1965960" cy="201168"/>
          </a:xfrm>
          <a:prstGeom prst="rect">
            <a:avLst/>
          </a:prstGeom>
          <a:noFill/>
          <a:ln/>
        </p:spPr>
        <p:txBody>
          <a:bodyPr wrap="square" lIns="0" tIns="0" rIns="0" bIns="0" rtlCol="0" anchor="t"/>
          <a:lstStyle/>
          <a:p>
            <a:pPr algn="l" indent="0" marL="0">
              <a:lnSpc>
                <a:spcPct val="100000"/>
              </a:lnSpc>
              <a:buNone/>
            </a:pPr>
            <a:r>
              <a:rPr lang="en-US" sz="1020" b="1" dirty="0">
                <a:solidFill>
                  <a:srgbClr val="1B1714"/>
                </a:solidFill>
                <a:latin typeface="Calibri" pitchFamily="34" charset="0"/>
                <a:ea typeface="Calibri" pitchFamily="34" charset="-122"/>
                <a:cs typeface="Calibri" pitchFamily="34" charset="-120"/>
              </a:rPr>
              <a:t>Order anomaly</a:t>
            </a:r>
            <a:endParaRPr lang="en-US" sz="1020" dirty="0"/>
          </a:p>
        </p:txBody>
      </p:sp>
      <p:sp>
        <p:nvSpPr>
          <p:cNvPr id="26" name="Text 24"/>
          <p:cNvSpPr/>
          <p:nvPr/>
        </p:nvSpPr>
        <p:spPr>
          <a:xfrm>
            <a:off x="1965960" y="4517136"/>
            <a:ext cx="530352" cy="164592"/>
          </a:xfrm>
          <a:prstGeom prst="rect">
            <a:avLst/>
          </a:prstGeom>
          <a:noFill/>
          <a:ln/>
        </p:spPr>
        <p:txBody>
          <a:bodyPr wrap="square" lIns="0" tIns="0" rIns="0" bIns="0" rtlCol="0" anchor="t"/>
          <a:lstStyle/>
          <a:p>
            <a:pPr algn="l" indent="0" marL="0">
              <a:lnSpc>
                <a:spcPct val="100000"/>
              </a:lnSpc>
              <a:buNone/>
            </a:pPr>
            <a:r>
              <a:rPr lang="en-US" sz="720" dirty="0">
                <a:solidFill>
                  <a:srgbClr val="8C8073"/>
                </a:solidFill>
                <a:latin typeface="Calibri" pitchFamily="34" charset="0"/>
                <a:ea typeface="Calibri" pitchFamily="34" charset="-122"/>
                <a:cs typeface="Calibri" pitchFamily="34" charset="-120"/>
              </a:rPr>
              <a:t>weight</a:t>
            </a:r>
            <a:endParaRPr lang="en-US" sz="720" dirty="0"/>
          </a:p>
        </p:txBody>
      </p:sp>
      <p:sp>
        <p:nvSpPr>
          <p:cNvPr id="27" name="Shape 25"/>
          <p:cNvSpPr/>
          <p:nvPr/>
        </p:nvSpPr>
        <p:spPr>
          <a:xfrm>
            <a:off x="2487168" y="4544568"/>
            <a:ext cx="3246120" cy="146304"/>
          </a:xfrm>
          <a:prstGeom prst="roundRect">
            <a:avLst>
              <a:gd name="adj" fmla="val 50000"/>
            </a:avLst>
          </a:prstGeom>
          <a:solidFill>
            <a:srgbClr val="E8DCCB"/>
          </a:solidFill>
          <a:ln w="12700">
            <a:solidFill>
              <a:srgbClr val="E8DCCB"/>
            </a:solidFill>
            <a:prstDash val="solid"/>
          </a:ln>
        </p:spPr>
        <p:txBody>
          <a:bodyPr/>
          <a:p/>
        </p:txBody>
      </p:sp>
      <p:sp>
        <p:nvSpPr>
          <p:cNvPr id="28" name="Shape 26"/>
          <p:cNvSpPr/>
          <p:nvPr/>
        </p:nvSpPr>
        <p:spPr>
          <a:xfrm>
            <a:off x="2487168" y="4544568"/>
            <a:ext cx="1082040" cy="146304"/>
          </a:xfrm>
          <a:prstGeom prst="roundRect">
            <a:avLst>
              <a:gd name="adj" fmla="val 50000"/>
            </a:avLst>
          </a:prstGeom>
          <a:solidFill>
            <a:srgbClr val="B3402F"/>
          </a:solidFill>
          <a:ln w="12700">
            <a:solidFill>
              <a:srgbClr val="B3402F"/>
            </a:solidFill>
            <a:prstDash val="solid"/>
          </a:ln>
        </p:spPr>
        <p:txBody>
          <a:bodyPr/>
          <a:p/>
        </p:txBody>
      </p:sp>
      <p:sp>
        <p:nvSpPr>
          <p:cNvPr id="29" name="Text 27"/>
          <p:cNvSpPr/>
          <p:nvPr/>
        </p:nvSpPr>
        <p:spPr>
          <a:xfrm>
            <a:off x="5833872" y="4498848"/>
            <a:ext cx="502920" cy="201168"/>
          </a:xfrm>
          <a:prstGeom prst="rect">
            <a:avLst/>
          </a:prstGeom>
          <a:noFill/>
          <a:ln/>
        </p:spPr>
        <p:txBody>
          <a:bodyPr wrap="square" lIns="0" tIns="0" rIns="0" bIns="0" rtlCol="0" anchor="t"/>
          <a:lstStyle/>
          <a:p>
            <a:pPr algn="r" indent="0" marL="0">
              <a:lnSpc>
                <a:spcPct val="100000"/>
              </a:lnSpc>
              <a:buNone/>
            </a:pPr>
            <a:r>
              <a:rPr lang="en-US" sz="1020" b="1" dirty="0">
                <a:solidFill>
                  <a:srgbClr val="1B1714"/>
                </a:solidFill>
                <a:latin typeface="Calibri" pitchFamily="34" charset="0"/>
                <a:ea typeface="Calibri" pitchFamily="34" charset="-122"/>
                <a:cs typeface="Calibri" pitchFamily="34" charset="-120"/>
              </a:rPr>
              <a:t>10%</a:t>
            </a:r>
            <a:endParaRPr lang="en-US" sz="1020" dirty="0"/>
          </a:p>
        </p:txBody>
      </p:sp>
      <p:sp>
        <p:nvSpPr>
          <p:cNvPr id="30" name="Text 28"/>
          <p:cNvSpPr/>
          <p:nvPr/>
        </p:nvSpPr>
        <p:spPr>
          <a:xfrm>
            <a:off x="640080" y="5138928"/>
            <a:ext cx="6537960" cy="411480"/>
          </a:xfrm>
          <a:prstGeom prst="rect">
            <a:avLst/>
          </a:prstGeom>
          <a:noFill/>
          <a:ln/>
        </p:spPr>
        <p:txBody>
          <a:bodyPr wrap="square" lIns="0" tIns="0" rIns="0" bIns="0" rtlCol="0" anchor="t"/>
          <a:lstStyle/>
          <a:p>
            <a:pPr algn="l" indent="0" marL="0">
              <a:lnSpc>
                <a:spcPct val="98000"/>
              </a:lnSpc>
              <a:buNone/>
            </a:pPr>
            <a:r>
              <a:rPr lang="en-US" sz="840" dirty="0">
                <a:solidFill>
                  <a:srgbClr val="8C8073"/>
                </a:solidFill>
                <a:latin typeface="Calibri" pitchFamily="34" charset="0"/>
                <a:ea typeface="Calibri" pitchFamily="34" charset="-122"/>
                <a:cs typeface="Calibri" pitchFamily="34" charset="-120"/>
              </a:rPr>
              <a:t>Factor scores are computed by rules from stock, supplier, order and market data. Weights are visible and industry-specific.</a:t>
            </a:r>
            <a:endParaRPr lang="en-US" sz="840" dirty="0"/>
          </a:p>
        </p:txBody>
      </p:sp>
      <p:sp>
        <p:nvSpPr>
          <p:cNvPr id="31" name="Shape 29"/>
          <p:cNvSpPr/>
          <p:nvPr/>
        </p:nvSpPr>
        <p:spPr>
          <a:xfrm>
            <a:off x="7406640" y="1600200"/>
            <a:ext cx="4114800" cy="3246120"/>
          </a:xfrm>
          <a:prstGeom prst="roundRect">
            <a:avLst>
              <a:gd name="adj" fmla="val 3380"/>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32" name="Text 30"/>
          <p:cNvSpPr/>
          <p:nvPr/>
        </p:nvSpPr>
        <p:spPr>
          <a:xfrm>
            <a:off x="7616952" y="1792224"/>
            <a:ext cx="3657600" cy="201168"/>
          </a:xfrm>
          <a:prstGeom prst="rect">
            <a:avLst/>
          </a:prstGeom>
          <a:noFill/>
          <a:ln/>
        </p:spPr>
        <p:txBody>
          <a:bodyPr wrap="square" lIns="0" tIns="0" rIns="0" bIns="0" rtlCol="0" anchor="t"/>
          <a:lstStyle/>
          <a:p>
            <a:pPr algn="l" indent="0" marL="0">
              <a:lnSpc>
                <a:spcPct val="100000"/>
              </a:lnSpc>
              <a:buNone/>
            </a:pPr>
            <a:r>
              <a:rPr lang="en-US" sz="800" b="1" spc="100" kern="0" dirty="0">
                <a:solidFill>
                  <a:srgbClr val="8C8073"/>
                </a:solidFill>
                <a:latin typeface="Calibri" pitchFamily="34" charset="0"/>
                <a:ea typeface="Calibri" pitchFamily="34" charset="-122"/>
                <a:cs typeface="Calibri" pitchFamily="34" charset="-120"/>
              </a:rPr>
              <a:t>COMPOSITE RISK  ·  ORD-0001</a:t>
            </a:r>
            <a:endParaRPr lang="en-US" sz="800" dirty="0"/>
          </a:p>
        </p:txBody>
      </p:sp>
      <p:sp>
        <p:nvSpPr>
          <p:cNvPr id="33" name="Text 31"/>
          <p:cNvSpPr/>
          <p:nvPr/>
        </p:nvSpPr>
        <p:spPr>
          <a:xfrm>
            <a:off x="7616952" y="2029968"/>
            <a:ext cx="1325880" cy="731520"/>
          </a:xfrm>
          <a:prstGeom prst="rect">
            <a:avLst/>
          </a:prstGeom>
          <a:noFill/>
          <a:ln/>
        </p:spPr>
        <p:txBody>
          <a:bodyPr wrap="square" lIns="0" tIns="0" rIns="0" bIns="0" rtlCol="0" anchor="t"/>
          <a:lstStyle/>
          <a:p>
            <a:pPr algn="l" indent="0" marL="0">
              <a:lnSpc>
                <a:spcPct val="100000"/>
              </a:lnSpc>
              <a:buNone/>
            </a:pPr>
            <a:r>
              <a:rPr lang="en-US" sz="5000" b="1" dirty="0">
                <a:solidFill>
                  <a:srgbClr val="1B1714"/>
                </a:solidFill>
                <a:latin typeface="Cambria" pitchFamily="34" charset="0"/>
                <a:ea typeface="Cambria" pitchFamily="34" charset="-122"/>
                <a:cs typeface="Cambria" pitchFamily="34" charset="-120"/>
              </a:rPr>
              <a:t>29</a:t>
            </a:r>
            <a:endParaRPr lang="en-US" sz="5000" dirty="0"/>
          </a:p>
        </p:txBody>
      </p:sp>
      <p:sp>
        <p:nvSpPr>
          <p:cNvPr id="34" name="Text 32"/>
          <p:cNvSpPr/>
          <p:nvPr/>
        </p:nvSpPr>
        <p:spPr>
          <a:xfrm>
            <a:off x="8732520" y="2331720"/>
            <a:ext cx="822960" cy="274320"/>
          </a:xfrm>
          <a:prstGeom prst="rect">
            <a:avLst/>
          </a:prstGeom>
          <a:noFill/>
          <a:ln/>
        </p:spPr>
        <p:txBody>
          <a:bodyPr wrap="square" lIns="0" tIns="0" rIns="0" bIns="0" rtlCol="0" anchor="t"/>
          <a:lstStyle/>
          <a:p>
            <a:pPr algn="l" indent="0" marL="0">
              <a:lnSpc>
                <a:spcPct val="100000"/>
              </a:lnSpc>
              <a:buNone/>
            </a:pPr>
            <a:r>
              <a:rPr lang="en-US" sz="1200" dirty="0">
                <a:solidFill>
                  <a:srgbClr val="6B6258"/>
                </a:solidFill>
                <a:latin typeface="Calibri" pitchFamily="34" charset="0"/>
                <a:ea typeface="Calibri" pitchFamily="34" charset="-122"/>
                <a:cs typeface="Calibri" pitchFamily="34" charset="-120"/>
              </a:rPr>
              <a:t>/ 100</a:t>
            </a:r>
            <a:endParaRPr lang="en-US" sz="1200" dirty="0"/>
          </a:p>
        </p:txBody>
      </p:sp>
      <p:sp>
        <p:nvSpPr>
          <p:cNvPr id="35" name="Shape 33"/>
          <p:cNvSpPr/>
          <p:nvPr/>
        </p:nvSpPr>
        <p:spPr>
          <a:xfrm>
            <a:off x="9738360" y="2240280"/>
            <a:ext cx="896112" cy="274320"/>
          </a:xfrm>
          <a:prstGeom prst="roundRect">
            <a:avLst>
              <a:gd name="adj" fmla="val 50000"/>
            </a:avLst>
          </a:prstGeom>
          <a:solidFill>
            <a:srgbClr val="F6E3C4"/>
          </a:solidFill>
          <a:ln w="7620">
            <a:solidFill>
              <a:srgbClr val="D97706"/>
            </a:solidFill>
            <a:prstDash val="solid"/>
          </a:ln>
        </p:spPr>
        <p:txBody>
          <a:bodyPr/>
          <a:p/>
        </p:txBody>
      </p:sp>
      <p:sp>
        <p:nvSpPr>
          <p:cNvPr id="36" name="Text 34"/>
          <p:cNvSpPr/>
          <p:nvPr/>
        </p:nvSpPr>
        <p:spPr>
          <a:xfrm>
            <a:off x="9829800" y="2258568"/>
            <a:ext cx="713232" cy="246888"/>
          </a:xfrm>
          <a:prstGeom prst="rect">
            <a:avLst/>
          </a:prstGeom>
          <a:noFill/>
          <a:ln/>
        </p:spPr>
        <p:txBody>
          <a:bodyPr wrap="square" lIns="0" tIns="0" rIns="0" bIns="0" rtlCol="0" anchor="ctr"/>
          <a:lstStyle/>
          <a:p>
            <a:pPr algn="ctr" indent="0" marL="0">
              <a:lnSpc>
                <a:spcPct val="100000"/>
              </a:lnSpc>
              <a:buNone/>
            </a:pPr>
            <a:r>
              <a:rPr lang="en-US" sz="700" b="1" spc="120" kern="0" dirty="0">
                <a:solidFill>
                  <a:srgbClr val="D97706"/>
                </a:solidFill>
                <a:latin typeface="Calibri" pitchFamily="34" charset="0"/>
                <a:ea typeface="Calibri" pitchFamily="34" charset="-122"/>
                <a:cs typeface="Calibri" pitchFamily="34" charset="-120"/>
              </a:rPr>
              <a:t>MEDIUM</a:t>
            </a:r>
            <a:endParaRPr lang="en-US" sz="700" dirty="0"/>
          </a:p>
        </p:txBody>
      </p:sp>
      <p:sp>
        <p:nvSpPr>
          <p:cNvPr id="37" name="Text 35"/>
          <p:cNvSpPr/>
          <p:nvPr/>
        </p:nvSpPr>
        <p:spPr>
          <a:xfrm>
            <a:off x="7616952" y="2852928"/>
            <a:ext cx="3675888" cy="603504"/>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Example: short by 110 units; supplier can deliver in 2 days; margin 38.4%; all required fields present.</a:t>
            </a:r>
            <a:endParaRPr lang="en-US" sz="860" dirty="0"/>
          </a:p>
        </p:txBody>
      </p:sp>
      <p:sp>
        <p:nvSpPr>
          <p:cNvPr id="38" name="Shape 36"/>
          <p:cNvSpPr/>
          <p:nvPr/>
        </p:nvSpPr>
        <p:spPr>
          <a:xfrm>
            <a:off x="7616952" y="3675888"/>
            <a:ext cx="941832" cy="310896"/>
          </a:xfrm>
          <a:prstGeom prst="rect">
            <a:avLst/>
          </a:prstGeom>
          <a:solidFill>
            <a:srgbClr val="2F6B4F"/>
          </a:solidFill>
          <a:ln w="12700">
            <a:solidFill>
              <a:srgbClr val="2F6B4F"/>
            </a:solidFill>
            <a:prstDash val="solid"/>
          </a:ln>
        </p:spPr>
        <p:txBody>
          <a:bodyPr/>
          <a:p/>
        </p:txBody>
      </p:sp>
      <p:sp>
        <p:nvSpPr>
          <p:cNvPr id="39" name="Text 37"/>
          <p:cNvSpPr/>
          <p:nvPr/>
        </p:nvSpPr>
        <p:spPr>
          <a:xfrm>
            <a:off x="7616952" y="3694176"/>
            <a:ext cx="941832" cy="146304"/>
          </a:xfrm>
          <a:prstGeom prst="rect">
            <a:avLst/>
          </a:prstGeom>
          <a:noFill/>
          <a:ln/>
        </p:spPr>
        <p:txBody>
          <a:bodyPr wrap="square" lIns="0" tIns="0" rIns="0" bIns="0" rtlCol="0" anchor="t"/>
          <a:lstStyle/>
          <a:p>
            <a:pPr algn="ctr" indent="0" marL="0">
              <a:lnSpc>
                <a:spcPct val="100000"/>
              </a:lnSpc>
              <a:buNone/>
            </a:pPr>
            <a:r>
              <a:rPr lang="en-US" sz="650" b="1" dirty="0">
                <a:solidFill>
                  <a:srgbClr val="FFFFFF"/>
                </a:solidFill>
                <a:latin typeface="Calibri" pitchFamily="34" charset="0"/>
                <a:ea typeface="Calibri" pitchFamily="34" charset="-122"/>
                <a:cs typeface="Calibri" pitchFamily="34" charset="-120"/>
              </a:rPr>
              <a:t>Low</a:t>
            </a:r>
            <a:endParaRPr lang="en-US" sz="650" dirty="0"/>
          </a:p>
        </p:txBody>
      </p:sp>
      <p:sp>
        <p:nvSpPr>
          <p:cNvPr id="40" name="Text 38"/>
          <p:cNvSpPr/>
          <p:nvPr/>
        </p:nvSpPr>
        <p:spPr>
          <a:xfrm>
            <a:off x="7616952" y="3840480"/>
            <a:ext cx="941832" cy="109728"/>
          </a:xfrm>
          <a:prstGeom prst="rect">
            <a:avLst/>
          </a:prstGeom>
          <a:noFill/>
          <a:ln/>
        </p:spPr>
        <p:txBody>
          <a:bodyPr wrap="square" lIns="0" tIns="0" rIns="0" bIns="0" rtlCol="0" anchor="t"/>
          <a:lstStyle/>
          <a:p>
            <a:pPr algn="ctr" indent="0" marL="0">
              <a:lnSpc>
                <a:spcPct val="100000"/>
              </a:lnSpc>
              <a:buNone/>
            </a:pPr>
            <a:r>
              <a:rPr lang="en-US" sz="580" dirty="0">
                <a:solidFill>
                  <a:srgbClr val="FFFFFF"/>
                </a:solidFill>
                <a:latin typeface="Calibri" pitchFamily="34" charset="0"/>
                <a:ea typeface="Calibri" pitchFamily="34" charset="-122"/>
                <a:cs typeface="Calibri" pitchFamily="34" charset="-120"/>
              </a:rPr>
              <a:t>0–24</a:t>
            </a:r>
            <a:endParaRPr lang="en-US" sz="580" dirty="0"/>
          </a:p>
        </p:txBody>
      </p:sp>
      <p:sp>
        <p:nvSpPr>
          <p:cNvPr id="41" name="Shape 39"/>
          <p:cNvSpPr/>
          <p:nvPr/>
        </p:nvSpPr>
        <p:spPr>
          <a:xfrm>
            <a:off x="8558784" y="3675888"/>
            <a:ext cx="941832" cy="310896"/>
          </a:xfrm>
          <a:prstGeom prst="rect">
            <a:avLst/>
          </a:prstGeom>
          <a:solidFill>
            <a:srgbClr val="D97706"/>
          </a:solidFill>
          <a:ln w="12700">
            <a:solidFill>
              <a:srgbClr val="D97706"/>
            </a:solidFill>
            <a:prstDash val="solid"/>
          </a:ln>
        </p:spPr>
        <p:txBody>
          <a:bodyPr/>
          <a:p/>
        </p:txBody>
      </p:sp>
      <p:sp>
        <p:nvSpPr>
          <p:cNvPr id="42" name="Text 40"/>
          <p:cNvSpPr/>
          <p:nvPr/>
        </p:nvSpPr>
        <p:spPr>
          <a:xfrm>
            <a:off x="8558784" y="3694176"/>
            <a:ext cx="941832" cy="146304"/>
          </a:xfrm>
          <a:prstGeom prst="rect">
            <a:avLst/>
          </a:prstGeom>
          <a:noFill/>
          <a:ln/>
        </p:spPr>
        <p:txBody>
          <a:bodyPr wrap="square" lIns="0" tIns="0" rIns="0" bIns="0" rtlCol="0" anchor="t"/>
          <a:lstStyle/>
          <a:p>
            <a:pPr algn="ctr" indent="0" marL="0">
              <a:lnSpc>
                <a:spcPct val="100000"/>
              </a:lnSpc>
              <a:buNone/>
            </a:pPr>
            <a:r>
              <a:rPr lang="en-US" sz="650" b="1" dirty="0">
                <a:solidFill>
                  <a:srgbClr val="FFFFFF"/>
                </a:solidFill>
                <a:latin typeface="Calibri" pitchFamily="34" charset="0"/>
                <a:ea typeface="Calibri" pitchFamily="34" charset="-122"/>
                <a:cs typeface="Calibri" pitchFamily="34" charset="-120"/>
              </a:rPr>
              <a:t>Medium</a:t>
            </a:r>
            <a:endParaRPr lang="en-US" sz="650" dirty="0"/>
          </a:p>
        </p:txBody>
      </p:sp>
      <p:sp>
        <p:nvSpPr>
          <p:cNvPr id="43" name="Text 41"/>
          <p:cNvSpPr/>
          <p:nvPr/>
        </p:nvSpPr>
        <p:spPr>
          <a:xfrm>
            <a:off x="8558784" y="3840480"/>
            <a:ext cx="941832" cy="109728"/>
          </a:xfrm>
          <a:prstGeom prst="rect">
            <a:avLst/>
          </a:prstGeom>
          <a:noFill/>
          <a:ln/>
        </p:spPr>
        <p:txBody>
          <a:bodyPr wrap="square" lIns="0" tIns="0" rIns="0" bIns="0" rtlCol="0" anchor="t"/>
          <a:lstStyle/>
          <a:p>
            <a:pPr algn="ctr" indent="0" marL="0">
              <a:lnSpc>
                <a:spcPct val="100000"/>
              </a:lnSpc>
              <a:buNone/>
            </a:pPr>
            <a:r>
              <a:rPr lang="en-US" sz="580" dirty="0">
                <a:solidFill>
                  <a:srgbClr val="FFFFFF"/>
                </a:solidFill>
                <a:latin typeface="Calibri" pitchFamily="34" charset="0"/>
                <a:ea typeface="Calibri" pitchFamily="34" charset="-122"/>
                <a:cs typeface="Calibri" pitchFamily="34" charset="-120"/>
              </a:rPr>
              <a:t>25–49</a:t>
            </a:r>
            <a:endParaRPr lang="en-US" sz="580" dirty="0"/>
          </a:p>
        </p:txBody>
      </p:sp>
      <p:sp>
        <p:nvSpPr>
          <p:cNvPr id="44" name="Shape 42"/>
          <p:cNvSpPr/>
          <p:nvPr/>
        </p:nvSpPr>
        <p:spPr>
          <a:xfrm>
            <a:off x="9500616" y="3675888"/>
            <a:ext cx="941832" cy="310896"/>
          </a:xfrm>
          <a:prstGeom prst="rect">
            <a:avLst/>
          </a:prstGeom>
          <a:solidFill>
            <a:srgbClr val="B45309"/>
          </a:solidFill>
          <a:ln w="12700">
            <a:solidFill>
              <a:srgbClr val="B45309"/>
            </a:solidFill>
            <a:prstDash val="solid"/>
          </a:ln>
        </p:spPr>
        <p:txBody>
          <a:bodyPr/>
          <a:p/>
        </p:txBody>
      </p:sp>
      <p:sp>
        <p:nvSpPr>
          <p:cNvPr id="45" name="Text 43"/>
          <p:cNvSpPr/>
          <p:nvPr/>
        </p:nvSpPr>
        <p:spPr>
          <a:xfrm>
            <a:off x="9500616" y="3694176"/>
            <a:ext cx="941832" cy="146304"/>
          </a:xfrm>
          <a:prstGeom prst="rect">
            <a:avLst/>
          </a:prstGeom>
          <a:noFill/>
          <a:ln/>
        </p:spPr>
        <p:txBody>
          <a:bodyPr wrap="square" lIns="0" tIns="0" rIns="0" bIns="0" rtlCol="0" anchor="t"/>
          <a:lstStyle/>
          <a:p>
            <a:pPr algn="ctr" indent="0" marL="0">
              <a:lnSpc>
                <a:spcPct val="100000"/>
              </a:lnSpc>
              <a:buNone/>
            </a:pPr>
            <a:r>
              <a:rPr lang="en-US" sz="650" b="1" dirty="0">
                <a:solidFill>
                  <a:srgbClr val="FFFFFF"/>
                </a:solidFill>
                <a:latin typeface="Calibri" pitchFamily="34" charset="0"/>
                <a:ea typeface="Calibri" pitchFamily="34" charset="-122"/>
                <a:cs typeface="Calibri" pitchFamily="34" charset="-120"/>
              </a:rPr>
              <a:t>High</a:t>
            </a:r>
            <a:endParaRPr lang="en-US" sz="650" dirty="0"/>
          </a:p>
        </p:txBody>
      </p:sp>
      <p:sp>
        <p:nvSpPr>
          <p:cNvPr id="46" name="Text 44"/>
          <p:cNvSpPr/>
          <p:nvPr/>
        </p:nvSpPr>
        <p:spPr>
          <a:xfrm>
            <a:off x="9500616" y="3840480"/>
            <a:ext cx="941832" cy="109728"/>
          </a:xfrm>
          <a:prstGeom prst="rect">
            <a:avLst/>
          </a:prstGeom>
          <a:noFill/>
          <a:ln/>
        </p:spPr>
        <p:txBody>
          <a:bodyPr wrap="square" lIns="0" tIns="0" rIns="0" bIns="0" rtlCol="0" anchor="t"/>
          <a:lstStyle/>
          <a:p>
            <a:pPr algn="ctr" indent="0" marL="0">
              <a:lnSpc>
                <a:spcPct val="100000"/>
              </a:lnSpc>
              <a:buNone/>
            </a:pPr>
            <a:r>
              <a:rPr lang="en-US" sz="580" dirty="0">
                <a:solidFill>
                  <a:srgbClr val="FFFFFF"/>
                </a:solidFill>
                <a:latin typeface="Calibri" pitchFamily="34" charset="0"/>
                <a:ea typeface="Calibri" pitchFamily="34" charset="-122"/>
                <a:cs typeface="Calibri" pitchFamily="34" charset="-120"/>
              </a:rPr>
              <a:t>50–74</a:t>
            </a:r>
            <a:endParaRPr lang="en-US" sz="580" dirty="0"/>
          </a:p>
        </p:txBody>
      </p:sp>
      <p:sp>
        <p:nvSpPr>
          <p:cNvPr id="47" name="Shape 45"/>
          <p:cNvSpPr/>
          <p:nvPr/>
        </p:nvSpPr>
        <p:spPr>
          <a:xfrm>
            <a:off x="10442448" y="3675888"/>
            <a:ext cx="941832" cy="310896"/>
          </a:xfrm>
          <a:prstGeom prst="rect">
            <a:avLst/>
          </a:prstGeom>
          <a:solidFill>
            <a:srgbClr val="B3402F"/>
          </a:solidFill>
          <a:ln w="12700">
            <a:solidFill>
              <a:srgbClr val="B3402F"/>
            </a:solidFill>
            <a:prstDash val="solid"/>
          </a:ln>
        </p:spPr>
        <p:txBody>
          <a:bodyPr/>
          <a:p/>
        </p:txBody>
      </p:sp>
      <p:sp>
        <p:nvSpPr>
          <p:cNvPr id="48" name="Text 46"/>
          <p:cNvSpPr/>
          <p:nvPr/>
        </p:nvSpPr>
        <p:spPr>
          <a:xfrm>
            <a:off x="10442448" y="3694176"/>
            <a:ext cx="941832" cy="146304"/>
          </a:xfrm>
          <a:prstGeom prst="rect">
            <a:avLst/>
          </a:prstGeom>
          <a:noFill/>
          <a:ln/>
        </p:spPr>
        <p:txBody>
          <a:bodyPr wrap="square" lIns="0" tIns="0" rIns="0" bIns="0" rtlCol="0" anchor="t"/>
          <a:lstStyle/>
          <a:p>
            <a:pPr algn="ctr" indent="0" marL="0">
              <a:lnSpc>
                <a:spcPct val="100000"/>
              </a:lnSpc>
              <a:buNone/>
            </a:pPr>
            <a:r>
              <a:rPr lang="en-US" sz="650" b="1" dirty="0">
                <a:solidFill>
                  <a:srgbClr val="FFFFFF"/>
                </a:solidFill>
                <a:latin typeface="Calibri" pitchFamily="34" charset="0"/>
                <a:ea typeface="Calibri" pitchFamily="34" charset="-122"/>
                <a:cs typeface="Calibri" pitchFamily="34" charset="-120"/>
              </a:rPr>
              <a:t>Critical</a:t>
            </a:r>
            <a:endParaRPr lang="en-US" sz="650" dirty="0"/>
          </a:p>
        </p:txBody>
      </p:sp>
      <p:sp>
        <p:nvSpPr>
          <p:cNvPr id="49" name="Text 47"/>
          <p:cNvSpPr/>
          <p:nvPr/>
        </p:nvSpPr>
        <p:spPr>
          <a:xfrm>
            <a:off x="10442448" y="3840480"/>
            <a:ext cx="941832" cy="109728"/>
          </a:xfrm>
          <a:prstGeom prst="rect">
            <a:avLst/>
          </a:prstGeom>
          <a:noFill/>
          <a:ln/>
        </p:spPr>
        <p:txBody>
          <a:bodyPr wrap="square" lIns="0" tIns="0" rIns="0" bIns="0" rtlCol="0" anchor="t"/>
          <a:lstStyle/>
          <a:p>
            <a:pPr algn="ctr" indent="0" marL="0">
              <a:lnSpc>
                <a:spcPct val="100000"/>
              </a:lnSpc>
              <a:buNone/>
            </a:pPr>
            <a:r>
              <a:rPr lang="en-US" sz="580" dirty="0">
                <a:solidFill>
                  <a:srgbClr val="FFFFFF"/>
                </a:solidFill>
                <a:latin typeface="Calibri" pitchFamily="34" charset="0"/>
                <a:ea typeface="Calibri" pitchFamily="34" charset="-122"/>
                <a:cs typeface="Calibri" pitchFamily="34" charset="-120"/>
              </a:rPr>
              <a:t>75–100</a:t>
            </a:r>
            <a:endParaRPr lang="en-US" sz="580" dirty="0"/>
          </a:p>
        </p:txBody>
      </p:sp>
      <p:sp>
        <p:nvSpPr>
          <p:cNvPr id="50" name="Text 48"/>
          <p:cNvSpPr/>
          <p:nvPr/>
        </p:nvSpPr>
        <p:spPr>
          <a:xfrm>
            <a:off x="7616952" y="4160520"/>
            <a:ext cx="3675888" cy="420624"/>
          </a:xfrm>
          <a:prstGeom prst="rect">
            <a:avLst/>
          </a:prstGeom>
          <a:noFill/>
          <a:ln/>
        </p:spPr>
        <p:txBody>
          <a:bodyPr wrap="square" lIns="0" tIns="0" rIns="0" bIns="0" rtlCol="0" anchor="t"/>
          <a:lstStyle/>
          <a:p>
            <a:pPr algn="l" indent="0" marL="0">
              <a:lnSpc>
                <a:spcPct val="100000"/>
              </a:lnSpc>
              <a:buNone/>
            </a:pPr>
            <a:r>
              <a:rPr lang="en-US" sz="830" dirty="0">
                <a:solidFill>
                  <a:srgbClr val="6B6258"/>
                </a:solidFill>
                <a:latin typeface="Calibri" pitchFamily="34" charset="0"/>
                <a:ea typeface="Calibri" pitchFamily="34" charset="-122"/>
                <a:cs typeface="Calibri" pitchFamily="34" charset="-120"/>
              </a:rPr>
              <a:t>Hard blockers floor the score at High. The owner sees the factors before the recommendation.</a:t>
            </a:r>
            <a:endParaRPr lang="en-US" sz="830" dirty="0"/>
          </a:p>
        </p:txBody>
      </p:sp>
      <p:sp>
        <p:nvSpPr>
          <p:cNvPr id="51" name="Shape 49"/>
          <p:cNvSpPr/>
          <p:nvPr/>
        </p:nvSpPr>
        <p:spPr>
          <a:xfrm>
            <a:off x="640080" y="5650992"/>
            <a:ext cx="10881360" cy="530352"/>
          </a:xfrm>
          <a:prstGeom prst="roundRect">
            <a:avLst>
              <a:gd name="adj" fmla="val 20690"/>
            </a:avLst>
          </a:prstGeom>
          <a:solidFill>
            <a:srgbClr val="F1E7D8"/>
          </a:solidFill>
          <a:ln w="10160">
            <a:solidFill>
              <a:srgbClr val="E2CFB4"/>
            </a:solidFill>
            <a:prstDash val="solid"/>
          </a:ln>
        </p:spPr>
        <p:txBody>
          <a:bodyPr/>
          <a:p/>
        </p:txBody>
      </p:sp>
      <p:sp>
        <p:nvSpPr>
          <p:cNvPr id="52" name="Text 50"/>
          <p:cNvSpPr/>
          <p:nvPr/>
        </p:nvSpPr>
        <p:spPr>
          <a:xfrm>
            <a:off x="841248" y="5797296"/>
            <a:ext cx="10469880" cy="219456"/>
          </a:xfrm>
          <a:prstGeom prst="rect">
            <a:avLst/>
          </a:prstGeom>
          <a:noFill/>
          <a:ln/>
        </p:spPr>
        <p:txBody>
          <a:bodyPr wrap="square" lIns="0" tIns="0" rIns="0" bIns="0" rtlCol="0" anchor="t"/>
          <a:lstStyle/>
          <a:p>
            <a:pPr algn="l" indent="0" marL="0">
              <a:lnSpc>
                <a:spcPct val="100000"/>
              </a:lnSpc>
              <a:buNone/>
            </a:pPr>
            <a:r>
              <a:rPr lang="en-US" sz="980" b="1" dirty="0">
                <a:solidFill>
                  <a:srgbClr val="1B1714"/>
                </a:solidFill>
                <a:latin typeface="Calibri" pitchFamily="34" charset="0"/>
                <a:ea typeface="Calibri" pitchFamily="34" charset="-122"/>
                <a:cs typeface="Calibri" pitchFamily="34" charset="-120"/>
              </a:rPr>
              <a:t>Recommendation:  Accept with purchase draft  ·  Request information  ·  Do not accept  ·  Override with reason</a:t>
            </a:r>
            <a:endParaRPr lang="en-US" sz="980" dirty="0"/>
          </a:p>
        </p:txBody>
      </p:sp>
      <p:sp>
        <p:nvSpPr>
          <p:cNvPr id="53" name="Text 51"/>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54" name="Text 52"/>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09</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HUMAN CONTROL</a:t>
            </a:r>
            <a:endParaRPr lang="en-US" sz="900" dirty="0"/>
          </a:p>
        </p:txBody>
      </p:sp>
      <p:sp>
        <p:nvSpPr>
          <p:cNvPr id="3" name="Text 1"/>
          <p:cNvSpPr/>
          <p:nvPr/>
        </p:nvSpPr>
        <p:spPr>
          <a:xfrm>
            <a:off x="640080" y="640080"/>
            <a:ext cx="10881360" cy="960120"/>
          </a:xfrm>
          <a:prstGeom prst="rect">
            <a:avLst/>
          </a:prstGeom>
          <a:noFill/>
          <a:ln/>
        </p:spPr>
        <p:txBody>
          <a:bodyPr wrap="square" lIns="0" tIns="0" rIns="0" bIns="0" rtlCol="0" anchor="t"/>
          <a:lstStyle/>
          <a:p>
            <a:pPr algn="l" indent="0" marL="0">
              <a:lnSpc>
                <a:spcPct val="94000"/>
              </a:lnSpc>
              <a:buNone/>
            </a:pPr>
            <a:r>
              <a:rPr lang="en-US" sz="3500" b="1" dirty="0">
                <a:solidFill>
                  <a:srgbClr val="1B1714"/>
                </a:solidFill>
                <a:latin typeface="Cambria" pitchFamily="34" charset="0"/>
                <a:ea typeface="Cambria" pitchFamily="34" charset="-122"/>
                <a:cs typeface="Cambria" pitchFamily="34" charset="-120"/>
              </a:rPr>
              <a:t>People stay in control.</a:t>
            </a:r>
            <a:endParaRPr lang="en-US" sz="3500" dirty="0"/>
          </a:p>
        </p:txBody>
      </p:sp>
      <p:sp>
        <p:nvSpPr>
          <p:cNvPr id="4" name="Text 2"/>
          <p:cNvSpPr/>
          <p:nvPr/>
        </p:nvSpPr>
        <p:spPr>
          <a:xfrm>
            <a:off x="640080" y="1435608"/>
            <a:ext cx="6400800" cy="256032"/>
          </a:xfrm>
          <a:prstGeom prst="rect">
            <a:avLst/>
          </a:prstGeom>
          <a:noFill/>
          <a:ln/>
        </p:spPr>
        <p:txBody>
          <a:bodyPr wrap="square" lIns="0" tIns="0" rIns="0" bIns="0" rtlCol="0" anchor="t"/>
          <a:lstStyle/>
          <a:p>
            <a:pPr algn="l" indent="0" marL="0">
              <a:lnSpc>
                <a:spcPct val="100000"/>
              </a:lnSpc>
              <a:buNone/>
            </a:pPr>
            <a:r>
              <a:rPr lang="en-US" sz="1250" dirty="0">
                <a:solidFill>
                  <a:srgbClr val="6B6258"/>
                </a:solidFill>
                <a:latin typeface="Calibri" pitchFamily="34" charset="0"/>
                <a:ea typeface="Calibri" pitchFamily="34" charset="-122"/>
                <a:cs typeface="Calibri" pitchFamily="34" charset="-120"/>
              </a:rPr>
              <a:t>The system prepares the decision. It does not make it.</a:t>
            </a:r>
            <a:endParaRPr lang="en-US" sz="1250" dirty="0"/>
          </a:p>
        </p:txBody>
      </p:sp>
      <p:sp>
        <p:nvSpPr>
          <p:cNvPr id="5" name="Shape 3"/>
          <p:cNvSpPr/>
          <p:nvPr/>
        </p:nvSpPr>
        <p:spPr>
          <a:xfrm>
            <a:off x="640080" y="1810512"/>
            <a:ext cx="3182112" cy="1609344"/>
          </a:xfrm>
          <a:prstGeom prst="roundRect">
            <a:avLst>
              <a:gd name="adj" fmla="val 7386"/>
            </a:avLst>
          </a:prstGeom>
          <a:solidFill>
            <a:srgbClr val="1B1714"/>
          </a:solidFill>
          <a:ln w="10160">
            <a:solidFill>
              <a:srgbClr val="1B1714"/>
            </a:solidFill>
            <a:prstDash val="solid"/>
          </a:ln>
          <a:effectLst>
            <a:outerShdw sx="100000" sy="100000" kx="0" ky="0" algn="bl" rotWithShape="0" blurRad="31750" dist="50800" dir="2700000">
              <a:srgbClr val="4A3B2A">
                <a:alpha val="10000"/>
              </a:srgbClr>
            </a:outerShdw>
          </a:effectLst>
        </p:spPr>
        <p:txBody>
          <a:bodyPr/>
          <a:p/>
        </p:txBody>
      </p:sp>
      <p:sp>
        <p:nvSpPr>
          <p:cNvPr id="6" name="Shape 4"/>
          <p:cNvSpPr/>
          <p:nvPr/>
        </p:nvSpPr>
        <p:spPr>
          <a:xfrm>
            <a:off x="841248" y="2002536"/>
            <a:ext cx="457200" cy="457200"/>
          </a:xfrm>
          <a:prstGeom prst="roundRect">
            <a:avLst>
              <a:gd name="adj" fmla="val 50000"/>
            </a:avLst>
          </a:prstGeom>
          <a:solidFill>
            <a:srgbClr val="3A3026"/>
          </a:solidFill>
          <a:ln w="12700">
            <a:solidFill>
              <a:srgbClr val="3A3026"/>
            </a:solidFill>
            <a:prstDash val="solid"/>
          </a:ln>
        </p:spPr>
        <p:txBody>
          <a:bodyPr/>
          <a:p/>
        </p:txBody>
      </p:sp>
      <p:pic>
        <p:nvPicPr>
          <p:cNvPr id="7" name="Image 0" descr="/private/tmp/soh-deck/icons/UserCheck-amber.png">    </p:cNvPr>
          <p:cNvPicPr>
            <a:picLocks noChangeAspect="1"/>
          </p:cNvPicPr>
          <p:nvPr/>
        </p:nvPicPr>
        <p:blipFill>
          <a:blip r:embed="rId1"/>
          <a:stretch>
            <a:fillRect/>
          </a:stretch>
        </p:blipFill>
        <p:spPr>
          <a:xfrm>
            <a:off x="932688" y="2093976"/>
            <a:ext cx="274320" cy="274320"/>
          </a:xfrm>
          <a:prstGeom prst="rect">
            <a:avLst/>
          </a:prstGeom>
        </p:spPr>
      </p:pic>
      <p:sp>
        <p:nvSpPr>
          <p:cNvPr id="8" name="Text 5"/>
          <p:cNvSpPr/>
          <p:nvPr/>
        </p:nvSpPr>
        <p:spPr>
          <a:xfrm>
            <a:off x="1408176" y="1984248"/>
            <a:ext cx="2176272" cy="256032"/>
          </a:xfrm>
          <a:prstGeom prst="rect">
            <a:avLst/>
          </a:prstGeom>
          <a:noFill/>
          <a:ln/>
        </p:spPr>
        <p:txBody>
          <a:bodyPr wrap="square" lIns="0" tIns="0" rIns="0" bIns="0" rtlCol="0" anchor="t"/>
          <a:lstStyle/>
          <a:p>
            <a:pPr algn="l" indent="0" marL="0">
              <a:lnSpc>
                <a:spcPct val="100000"/>
              </a:lnSpc>
              <a:buNone/>
            </a:pPr>
            <a:r>
              <a:rPr lang="en-US" sz="1800" b="1" dirty="0">
                <a:solidFill>
                  <a:srgbClr val="F7F2E8"/>
                </a:solidFill>
                <a:latin typeface="Cambria" pitchFamily="34" charset="0"/>
                <a:ea typeface="Cambria" pitchFamily="34" charset="-122"/>
                <a:cs typeface="Cambria" pitchFamily="34" charset="-120"/>
              </a:rPr>
              <a:t>Owner</a:t>
            </a:r>
            <a:endParaRPr lang="en-US" sz="1800" dirty="0"/>
          </a:p>
        </p:txBody>
      </p:sp>
      <p:sp>
        <p:nvSpPr>
          <p:cNvPr id="9" name="Text 6"/>
          <p:cNvSpPr/>
          <p:nvPr/>
        </p:nvSpPr>
        <p:spPr>
          <a:xfrm>
            <a:off x="1408176" y="2286000"/>
            <a:ext cx="2194560" cy="603504"/>
          </a:xfrm>
          <a:prstGeom prst="rect">
            <a:avLst/>
          </a:prstGeom>
          <a:noFill/>
          <a:ln/>
        </p:spPr>
        <p:txBody>
          <a:bodyPr wrap="square" lIns="0" tIns="0" rIns="0" bIns="0" rtlCol="0" anchor="t"/>
          <a:lstStyle/>
          <a:p>
            <a:pPr algn="l" indent="0" marL="0">
              <a:lnSpc>
                <a:spcPct val="100000"/>
              </a:lnSpc>
              <a:buNone/>
            </a:pPr>
            <a:r>
              <a:rPr lang="en-US" sz="880" dirty="0">
                <a:solidFill>
                  <a:srgbClr val="D0C1B0"/>
                </a:solidFill>
                <a:latin typeface="Calibri" pitchFamily="34" charset="0"/>
                <a:ea typeface="Calibri" pitchFamily="34" charset="-122"/>
                <a:cs typeface="Calibri" pitchFamily="34" charset="-120"/>
              </a:rPr>
              <a:t>Approve  ·  Reject  ·  Request info  ·  Override with reason.</a:t>
            </a:r>
            <a:endParaRPr lang="en-US" sz="880" dirty="0"/>
          </a:p>
        </p:txBody>
      </p:sp>
      <p:sp>
        <p:nvSpPr>
          <p:cNvPr id="10" name="Shape 7"/>
          <p:cNvSpPr/>
          <p:nvPr/>
        </p:nvSpPr>
        <p:spPr>
          <a:xfrm>
            <a:off x="859536" y="3108960"/>
            <a:ext cx="1243584" cy="201168"/>
          </a:xfrm>
          <a:prstGeom prst="roundRect">
            <a:avLst>
              <a:gd name="adj" fmla="val 50000"/>
            </a:avLst>
          </a:prstGeom>
          <a:solidFill>
            <a:srgbClr val="D97706"/>
          </a:solidFill>
          <a:ln w="7620">
            <a:solidFill>
              <a:srgbClr val="D97706"/>
            </a:solidFill>
            <a:prstDash val="solid"/>
          </a:ln>
        </p:spPr>
        <p:txBody>
          <a:bodyPr/>
          <a:p/>
        </p:txBody>
      </p:sp>
      <p:sp>
        <p:nvSpPr>
          <p:cNvPr id="11" name="Text 8"/>
          <p:cNvSpPr/>
          <p:nvPr/>
        </p:nvSpPr>
        <p:spPr>
          <a:xfrm>
            <a:off x="950976" y="3127248"/>
            <a:ext cx="1060704" cy="173736"/>
          </a:xfrm>
          <a:prstGeom prst="rect">
            <a:avLst/>
          </a:prstGeom>
          <a:noFill/>
          <a:ln/>
        </p:spPr>
        <p:txBody>
          <a:bodyPr wrap="square" lIns="0" tIns="0" rIns="0" bIns="0" rtlCol="0" anchor="ctr"/>
          <a:lstStyle/>
          <a:p>
            <a:pPr algn="ctr" indent="0" marL="0">
              <a:lnSpc>
                <a:spcPct val="100000"/>
              </a:lnSpc>
              <a:buNone/>
            </a:pPr>
            <a:r>
              <a:rPr lang="en-US" sz="630" b="1" spc="120" kern="0" dirty="0">
                <a:solidFill>
                  <a:srgbClr val="1B1714"/>
                </a:solidFill>
                <a:latin typeface="Calibri" pitchFamily="34" charset="0"/>
                <a:ea typeface="Calibri" pitchFamily="34" charset="-122"/>
                <a:cs typeface="Calibri" pitchFamily="34" charset="-120"/>
              </a:rPr>
              <a:t>DECISION MAKER</a:t>
            </a:r>
            <a:endParaRPr lang="en-US" sz="630" dirty="0"/>
          </a:p>
        </p:txBody>
      </p:sp>
      <p:sp>
        <p:nvSpPr>
          <p:cNvPr id="12" name="Shape 9"/>
          <p:cNvSpPr/>
          <p:nvPr/>
        </p:nvSpPr>
        <p:spPr>
          <a:xfrm>
            <a:off x="640080" y="3639312"/>
            <a:ext cx="3182112" cy="1609344"/>
          </a:xfrm>
          <a:prstGeom prst="roundRect">
            <a:avLst>
              <a:gd name="adj" fmla="val 7386"/>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3" name="Shape 10"/>
          <p:cNvSpPr/>
          <p:nvPr/>
        </p:nvSpPr>
        <p:spPr>
          <a:xfrm>
            <a:off x="841248" y="3831336"/>
            <a:ext cx="457200" cy="457200"/>
          </a:xfrm>
          <a:prstGeom prst="roundRect">
            <a:avLst>
              <a:gd name="adj" fmla="val 50000"/>
            </a:avLst>
          </a:prstGeom>
          <a:solidFill>
            <a:srgbClr val="DFEDE4"/>
          </a:solidFill>
          <a:ln w="12700">
            <a:solidFill>
              <a:srgbClr val="DFEDE4"/>
            </a:solidFill>
            <a:prstDash val="solid"/>
          </a:ln>
        </p:spPr>
        <p:txBody>
          <a:bodyPr/>
          <a:p/>
        </p:txBody>
      </p:sp>
      <p:pic>
        <p:nvPicPr>
          <p:cNvPr id="14" name="Image 1" descr="/private/tmp/soh-deck/icons/ShieldCheck-green.png">    </p:cNvPr>
          <p:cNvPicPr>
            <a:picLocks noChangeAspect="1"/>
          </p:cNvPicPr>
          <p:nvPr/>
        </p:nvPicPr>
        <p:blipFill>
          <a:blip r:embed="rId2"/>
          <a:stretch>
            <a:fillRect/>
          </a:stretch>
        </p:blipFill>
        <p:spPr>
          <a:xfrm>
            <a:off x="932688" y="3922776"/>
            <a:ext cx="274320" cy="274320"/>
          </a:xfrm>
          <a:prstGeom prst="rect">
            <a:avLst/>
          </a:prstGeom>
        </p:spPr>
      </p:pic>
      <p:sp>
        <p:nvSpPr>
          <p:cNvPr id="15" name="Text 11"/>
          <p:cNvSpPr/>
          <p:nvPr/>
        </p:nvSpPr>
        <p:spPr>
          <a:xfrm>
            <a:off x="1408176" y="3813048"/>
            <a:ext cx="2176272" cy="256032"/>
          </a:xfrm>
          <a:prstGeom prst="rect">
            <a:avLst/>
          </a:prstGeom>
          <a:noFill/>
          <a:ln/>
        </p:spPr>
        <p:txBody>
          <a:bodyPr wrap="square" lIns="0" tIns="0" rIns="0" bIns="0" rtlCol="0" anchor="t"/>
          <a:lstStyle/>
          <a:p>
            <a:pPr algn="l" indent="0" marL="0">
              <a:lnSpc>
                <a:spcPct val="100000"/>
              </a:lnSpc>
              <a:buNone/>
            </a:pPr>
            <a:r>
              <a:rPr lang="en-US" sz="1800" b="1" dirty="0">
                <a:solidFill>
                  <a:srgbClr val="1B1714"/>
                </a:solidFill>
                <a:latin typeface="Cambria" pitchFamily="34" charset="0"/>
                <a:ea typeface="Cambria" pitchFamily="34" charset="-122"/>
                <a:cs typeface="Cambria" pitchFamily="34" charset="-120"/>
              </a:rPr>
              <a:t>Staff</a:t>
            </a:r>
            <a:endParaRPr lang="en-US" sz="1800" dirty="0"/>
          </a:p>
        </p:txBody>
      </p:sp>
      <p:sp>
        <p:nvSpPr>
          <p:cNvPr id="16" name="Text 12"/>
          <p:cNvSpPr/>
          <p:nvPr/>
        </p:nvSpPr>
        <p:spPr>
          <a:xfrm>
            <a:off x="1408176" y="4114800"/>
            <a:ext cx="2194560" cy="603504"/>
          </a:xfrm>
          <a:prstGeom prst="rect">
            <a:avLst/>
          </a:prstGeom>
          <a:noFill/>
          <a:ln/>
        </p:spPr>
        <p:txBody>
          <a:bodyPr wrap="square" lIns="0" tIns="0" rIns="0" bIns="0" rtlCol="0" anchor="t"/>
          <a:lstStyle/>
          <a:p>
            <a:pPr algn="l" indent="0" marL="0">
              <a:lnSpc>
                <a:spcPct val="100000"/>
              </a:lnSpc>
              <a:buNone/>
            </a:pPr>
            <a:r>
              <a:rPr lang="en-US" sz="880" dirty="0">
                <a:solidFill>
                  <a:srgbClr val="6B6258"/>
                </a:solidFill>
                <a:latin typeface="Calibri" pitchFamily="34" charset="0"/>
                <a:ea typeface="Calibri" pitchFamily="34" charset="-122"/>
                <a:cs typeface="Calibri" pitchFamily="34" charset="-120"/>
              </a:rPr>
              <a:t>View orders, stock, margin, risk and activity. No decision buttons.</a:t>
            </a:r>
            <a:endParaRPr lang="en-US" sz="880" dirty="0"/>
          </a:p>
        </p:txBody>
      </p:sp>
      <p:sp>
        <p:nvSpPr>
          <p:cNvPr id="17" name="Shape 13"/>
          <p:cNvSpPr/>
          <p:nvPr/>
        </p:nvSpPr>
        <p:spPr>
          <a:xfrm>
            <a:off x="859536" y="4937760"/>
            <a:ext cx="1005840" cy="201168"/>
          </a:xfrm>
          <a:prstGeom prst="roundRect">
            <a:avLst>
              <a:gd name="adj" fmla="val 50000"/>
            </a:avLst>
          </a:prstGeom>
          <a:solidFill>
            <a:srgbClr val="DFEDE4"/>
          </a:solidFill>
          <a:ln w="7620">
            <a:solidFill>
              <a:srgbClr val="2F6B4F"/>
            </a:solidFill>
            <a:prstDash val="solid"/>
          </a:ln>
        </p:spPr>
        <p:txBody>
          <a:bodyPr/>
          <a:p/>
        </p:txBody>
      </p:sp>
      <p:sp>
        <p:nvSpPr>
          <p:cNvPr id="18" name="Text 14"/>
          <p:cNvSpPr/>
          <p:nvPr/>
        </p:nvSpPr>
        <p:spPr>
          <a:xfrm>
            <a:off x="950976" y="4956048"/>
            <a:ext cx="822960" cy="173736"/>
          </a:xfrm>
          <a:prstGeom prst="rect">
            <a:avLst/>
          </a:prstGeom>
          <a:noFill/>
          <a:ln/>
        </p:spPr>
        <p:txBody>
          <a:bodyPr wrap="square" lIns="0" tIns="0" rIns="0" bIns="0" rtlCol="0" anchor="ctr"/>
          <a:lstStyle/>
          <a:p>
            <a:pPr algn="ctr" indent="0" marL="0">
              <a:lnSpc>
                <a:spcPct val="100000"/>
              </a:lnSpc>
              <a:buNone/>
            </a:pPr>
            <a:r>
              <a:rPr lang="en-US" sz="630" b="1" spc="120" kern="0" dirty="0">
                <a:solidFill>
                  <a:srgbClr val="2F6B4F"/>
                </a:solidFill>
                <a:latin typeface="Calibri" pitchFamily="34" charset="0"/>
                <a:ea typeface="Calibri" pitchFamily="34" charset="-122"/>
                <a:cs typeface="Calibri" pitchFamily="34" charset="-120"/>
              </a:rPr>
              <a:t>VIEW ONLY</a:t>
            </a:r>
            <a:endParaRPr lang="en-US" sz="630" dirty="0"/>
          </a:p>
        </p:txBody>
      </p:sp>
      <p:sp>
        <p:nvSpPr>
          <p:cNvPr id="19" name="Text 15"/>
          <p:cNvSpPr/>
          <p:nvPr/>
        </p:nvSpPr>
        <p:spPr>
          <a:xfrm>
            <a:off x="640080" y="5504688"/>
            <a:ext cx="3246120" cy="566928"/>
          </a:xfrm>
          <a:prstGeom prst="rect">
            <a:avLst/>
          </a:prstGeom>
          <a:noFill/>
          <a:ln/>
        </p:spPr>
        <p:txBody>
          <a:bodyPr wrap="square" lIns="0" tIns="0" rIns="0" bIns="0" rtlCol="0" anchor="t"/>
          <a:lstStyle/>
          <a:p>
            <a:pPr algn="l" indent="0" marL="0">
              <a:lnSpc>
                <a:spcPct val="100000"/>
              </a:lnSpc>
              <a:buNone/>
            </a:pPr>
            <a:r>
              <a:rPr lang="en-US" sz="870" dirty="0">
                <a:solidFill>
                  <a:srgbClr val="6B6258"/>
                </a:solidFill>
                <a:latin typeface="Calibri" pitchFamily="34" charset="0"/>
                <a:ea typeface="Calibri" pitchFamily="34" charset="-122"/>
                <a:cs typeface="Calibri" pitchFamily="34" charset="-120"/>
              </a:rPr>
              <a:t>Every import, extraction, analysis, approval and purchase draft is recorded with actor and timestamp.</a:t>
            </a:r>
            <a:endParaRPr lang="en-US" sz="870" dirty="0"/>
          </a:p>
        </p:txBody>
      </p:sp>
      <p:sp>
        <p:nvSpPr>
          <p:cNvPr id="20" name="Shape 16"/>
          <p:cNvSpPr/>
          <p:nvPr/>
        </p:nvSpPr>
        <p:spPr>
          <a:xfrm>
            <a:off x="640080" y="6089904"/>
            <a:ext cx="1938528" cy="219456"/>
          </a:xfrm>
          <a:prstGeom prst="roundRect">
            <a:avLst>
              <a:gd name="adj" fmla="val 50000"/>
            </a:avLst>
          </a:prstGeom>
          <a:solidFill>
            <a:srgbClr val="F1E7D8"/>
          </a:solidFill>
          <a:ln w="7620">
            <a:solidFill>
              <a:srgbClr val="E2CFB4"/>
            </a:solidFill>
            <a:prstDash val="solid"/>
          </a:ln>
        </p:spPr>
        <p:txBody>
          <a:bodyPr/>
          <a:p/>
        </p:txBody>
      </p:sp>
      <p:sp>
        <p:nvSpPr>
          <p:cNvPr id="21" name="Text 17"/>
          <p:cNvSpPr/>
          <p:nvPr/>
        </p:nvSpPr>
        <p:spPr>
          <a:xfrm>
            <a:off x="731520" y="6108192"/>
            <a:ext cx="1755648" cy="192024"/>
          </a:xfrm>
          <a:prstGeom prst="rect">
            <a:avLst/>
          </a:prstGeom>
          <a:noFill/>
          <a:ln/>
        </p:spPr>
        <p:txBody>
          <a:bodyPr wrap="square" lIns="0" tIns="0" rIns="0" bIns="0" rtlCol="0" anchor="ctr"/>
          <a:lstStyle/>
          <a:p>
            <a:pPr algn="ctr" indent="0" marL="0">
              <a:lnSpc>
                <a:spcPct val="100000"/>
              </a:lnSpc>
              <a:buNone/>
            </a:pPr>
            <a:r>
              <a:rPr lang="en-US" sz="640" b="1" spc="120" kern="0" dirty="0">
                <a:solidFill>
                  <a:srgbClr val="6B6258"/>
                </a:solidFill>
                <a:latin typeface="Calibri" pitchFamily="34" charset="0"/>
                <a:ea typeface="Calibri" pitchFamily="34" charset="-122"/>
                <a:cs typeface="Calibri" pitchFamily="34" charset="-120"/>
              </a:rPr>
              <a:t>NO PAYMENTS  ·  NO REAL POs</a:t>
            </a:r>
            <a:endParaRPr lang="en-US" sz="640" dirty="0"/>
          </a:p>
        </p:txBody>
      </p:sp>
      <p:sp>
        <p:nvSpPr>
          <p:cNvPr id="22" name="Shape 18"/>
          <p:cNvSpPr/>
          <p:nvPr/>
        </p:nvSpPr>
        <p:spPr>
          <a:xfrm>
            <a:off x="4160520" y="1554480"/>
            <a:ext cx="6858000" cy="4564009"/>
          </a:xfrm>
          <a:prstGeom prst="roundRect">
            <a:avLst>
              <a:gd name="adj" fmla="val 2404"/>
            </a:avLst>
          </a:prstGeom>
          <a:solidFill>
            <a:srgbClr val="FFFDF8"/>
          </a:solidFill>
          <a:ln w="1270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23" name="Shape 19"/>
          <p:cNvSpPr/>
          <p:nvPr/>
        </p:nvSpPr>
        <p:spPr>
          <a:xfrm>
            <a:off x="4169664" y="1563624"/>
            <a:ext cx="6839712" cy="256032"/>
          </a:xfrm>
          <a:prstGeom prst="rect">
            <a:avLst/>
          </a:prstGeom>
          <a:solidFill>
            <a:srgbClr val="F0E8DB"/>
          </a:solidFill>
          <a:ln w="12700">
            <a:solidFill>
              <a:srgbClr val="F0E8DB"/>
            </a:solidFill>
            <a:prstDash val="solid"/>
          </a:ln>
        </p:spPr>
        <p:txBody>
          <a:bodyPr/>
          <a:p/>
        </p:txBody>
      </p:sp>
      <p:sp>
        <p:nvSpPr>
          <p:cNvPr id="24" name="Shape 20"/>
          <p:cNvSpPr/>
          <p:nvPr/>
        </p:nvSpPr>
        <p:spPr>
          <a:xfrm>
            <a:off x="4270248" y="1645920"/>
            <a:ext cx="50292" cy="50292"/>
          </a:xfrm>
          <a:prstGeom prst="ellipse">
            <a:avLst/>
          </a:prstGeom>
          <a:solidFill>
            <a:srgbClr val="C86B4A"/>
          </a:solidFill>
          <a:ln w="12700">
            <a:solidFill>
              <a:srgbClr val="C86B4A"/>
            </a:solidFill>
            <a:prstDash val="solid"/>
          </a:ln>
        </p:spPr>
        <p:txBody>
          <a:bodyPr/>
          <a:p/>
        </p:txBody>
      </p:sp>
      <p:sp>
        <p:nvSpPr>
          <p:cNvPr id="25" name="Shape 21"/>
          <p:cNvSpPr/>
          <p:nvPr/>
        </p:nvSpPr>
        <p:spPr>
          <a:xfrm>
            <a:off x="4389120" y="1645920"/>
            <a:ext cx="50292" cy="50292"/>
          </a:xfrm>
          <a:prstGeom prst="ellipse">
            <a:avLst/>
          </a:prstGeom>
          <a:solidFill>
            <a:srgbClr val="D3A54A"/>
          </a:solidFill>
          <a:ln w="12700">
            <a:solidFill>
              <a:srgbClr val="D3A54A"/>
            </a:solidFill>
            <a:prstDash val="solid"/>
          </a:ln>
        </p:spPr>
        <p:txBody>
          <a:bodyPr/>
          <a:p/>
        </p:txBody>
      </p:sp>
      <p:sp>
        <p:nvSpPr>
          <p:cNvPr id="26" name="Shape 22"/>
          <p:cNvSpPr/>
          <p:nvPr/>
        </p:nvSpPr>
        <p:spPr>
          <a:xfrm>
            <a:off x="4507992" y="1645920"/>
            <a:ext cx="50292" cy="50292"/>
          </a:xfrm>
          <a:prstGeom prst="ellipse">
            <a:avLst/>
          </a:prstGeom>
          <a:solidFill>
            <a:srgbClr val="7FA27E"/>
          </a:solidFill>
          <a:ln w="12700">
            <a:solidFill>
              <a:srgbClr val="7FA27E"/>
            </a:solidFill>
            <a:prstDash val="solid"/>
          </a:ln>
        </p:spPr>
        <p:txBody>
          <a:bodyPr/>
          <a:p/>
        </p:txBody>
      </p:sp>
      <p:sp>
        <p:nvSpPr>
          <p:cNvPr id="27" name="Text 23"/>
          <p:cNvSpPr/>
          <p:nvPr/>
        </p:nvSpPr>
        <p:spPr>
          <a:xfrm>
            <a:off x="4663440" y="1604772"/>
            <a:ext cx="6172200" cy="146304"/>
          </a:xfrm>
          <a:prstGeom prst="rect">
            <a:avLst/>
          </a:prstGeom>
          <a:noFill/>
          <a:ln/>
        </p:spPr>
        <p:txBody>
          <a:bodyPr wrap="square" lIns="0" tIns="0" rIns="0" bIns="0" rtlCol="0" anchor="ctr"/>
          <a:lstStyle/>
          <a:p>
            <a:pPr algn="l" indent="0" marL="0">
              <a:lnSpc>
                <a:spcPct val="100000"/>
              </a:lnSpc>
              <a:buNone/>
            </a:pPr>
            <a:r>
              <a:rPr lang="en-US" sz="680" dirty="0">
                <a:solidFill>
                  <a:srgbClr val="8C8073"/>
                </a:solidFill>
                <a:latin typeface="Calibri" pitchFamily="34" charset="0"/>
                <a:ea typeface="Calibri" pitchFamily="34" charset="-122"/>
                <a:cs typeface="Calibri" pitchFamily="34" charset="-120"/>
              </a:rPr>
              <a:t>smartorderhub.local  /  activity log</a:t>
            </a:r>
            <a:endParaRPr lang="en-US" sz="680" dirty="0"/>
          </a:p>
        </p:txBody>
      </p:sp>
      <p:pic>
        <p:nvPicPr>
          <p:cNvPr id="28" name="Image 2" descr="/private/tmp/soh-deck/assets/shot-activity.png">    </p:cNvPr>
          <p:cNvPicPr>
            <a:picLocks noChangeAspect="1"/>
          </p:cNvPicPr>
          <p:nvPr/>
        </p:nvPicPr>
        <p:blipFill>
          <a:blip r:embed="rId3"/>
          <a:stretch>
            <a:fillRect/>
          </a:stretch>
        </p:blipFill>
        <p:spPr>
          <a:xfrm>
            <a:off x="4215384" y="1837944"/>
            <a:ext cx="6748272" cy="4253113"/>
          </a:xfrm>
          <a:prstGeom prst="rect">
            <a:avLst/>
          </a:prstGeom>
        </p:spPr>
      </p:pic>
      <p:sp>
        <p:nvSpPr>
          <p:cNvPr id="29" name="Text 24"/>
          <p:cNvSpPr/>
          <p:nvPr/>
        </p:nvSpPr>
        <p:spPr>
          <a:xfrm>
            <a:off x="4224528" y="6263640"/>
            <a:ext cx="6766560" cy="182880"/>
          </a:xfrm>
          <a:prstGeom prst="rect">
            <a:avLst/>
          </a:prstGeom>
          <a:noFill/>
          <a:ln/>
        </p:spPr>
        <p:txBody>
          <a:bodyPr wrap="square" lIns="0" tIns="0" rIns="0" bIns="0" rtlCol="0" anchor="t"/>
          <a:lstStyle/>
          <a:p>
            <a:pPr algn="l" indent="0" marL="0">
              <a:lnSpc>
                <a:spcPct val="100000"/>
              </a:lnSpc>
              <a:buNone/>
            </a:pPr>
            <a:r>
              <a:rPr lang="en-US" sz="780" i="1" dirty="0">
                <a:solidFill>
                  <a:srgbClr val="8C8073"/>
                </a:solidFill>
                <a:latin typeface="Calibri" pitchFamily="34" charset="0"/>
                <a:ea typeface="Calibri" pitchFamily="34" charset="-122"/>
                <a:cs typeface="Calibri" pitchFamily="34" charset="-120"/>
              </a:rPr>
              <a:t>Activity log: the audit trail is a first-class screen, not a hidden table.</a:t>
            </a:r>
            <a:endParaRPr lang="en-US" sz="780" dirty="0"/>
          </a:p>
        </p:txBody>
      </p:sp>
      <p:sp>
        <p:nvSpPr>
          <p:cNvPr id="30" name="Text 25"/>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31" name="Text 26"/>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10</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ORBYTE FIT &amp; REUSE</a:t>
            </a:r>
            <a:endParaRPr lang="en-US" sz="900" dirty="0"/>
          </a:p>
        </p:txBody>
      </p:sp>
      <p:sp>
        <p:nvSpPr>
          <p:cNvPr id="3" name="Text 1"/>
          <p:cNvSpPr/>
          <p:nvPr/>
        </p:nvSpPr>
        <p:spPr>
          <a:xfrm>
            <a:off x="640080" y="640080"/>
            <a:ext cx="10881360" cy="960120"/>
          </a:xfrm>
          <a:prstGeom prst="rect">
            <a:avLst/>
          </a:prstGeom>
          <a:noFill/>
          <a:ln/>
        </p:spPr>
        <p:txBody>
          <a:bodyPr wrap="square" lIns="0" tIns="0" rIns="0" bIns="0" rtlCol="0" anchor="t"/>
          <a:lstStyle/>
          <a:p>
            <a:pPr algn="l" indent="0" marL="0">
              <a:lnSpc>
                <a:spcPct val="94000"/>
              </a:lnSpc>
              <a:buNone/>
            </a:pPr>
            <a:r>
              <a:rPr lang="en-US" sz="3400" b="1" dirty="0">
                <a:solidFill>
                  <a:srgbClr val="1B1714"/>
                </a:solidFill>
                <a:latin typeface="Cambria" pitchFamily="34" charset="0"/>
                <a:ea typeface="Cambria" pitchFamily="34" charset="-122"/>
                <a:cs typeface="Cambria" pitchFamily="34" charset="-120"/>
              </a:rPr>
              <a:t>One workflow. Six SME contexts.</a:t>
            </a:r>
            <a:endParaRPr lang="en-US" sz="3400" dirty="0"/>
          </a:p>
        </p:txBody>
      </p:sp>
      <p:sp>
        <p:nvSpPr>
          <p:cNvPr id="4" name="Text 2"/>
          <p:cNvSpPr/>
          <p:nvPr/>
        </p:nvSpPr>
        <p:spPr>
          <a:xfrm>
            <a:off x="640080" y="1435608"/>
            <a:ext cx="7315200" cy="256032"/>
          </a:xfrm>
          <a:prstGeom prst="rect">
            <a:avLst/>
          </a:prstGeom>
          <a:noFill/>
          <a:ln/>
        </p:spPr>
        <p:txBody>
          <a:bodyPr wrap="square" lIns="0" tIns="0" rIns="0" bIns="0" rtlCol="0" anchor="t"/>
          <a:lstStyle/>
          <a:p>
            <a:pPr algn="l" indent="0" marL="0">
              <a:lnSpc>
                <a:spcPct val="100000"/>
              </a:lnSpc>
              <a:buNone/>
            </a:pPr>
            <a:r>
              <a:rPr lang="en-US" sz="1180" dirty="0">
                <a:solidFill>
                  <a:srgbClr val="6B6258"/>
                </a:solidFill>
                <a:latin typeface="Calibri" pitchFamily="34" charset="0"/>
                <a:ea typeface="Calibri" pitchFamily="34" charset="-122"/>
                <a:cs typeface="Calibri" pitchFamily="34" charset="-120"/>
              </a:rPr>
              <a:t>Same order journey; industry-aware fields, stock semantics and risk weights.</a:t>
            </a:r>
            <a:endParaRPr lang="en-US" sz="1180" dirty="0"/>
          </a:p>
        </p:txBody>
      </p:sp>
      <p:sp>
        <p:nvSpPr>
          <p:cNvPr id="5" name="Shape 3"/>
          <p:cNvSpPr/>
          <p:nvPr/>
        </p:nvSpPr>
        <p:spPr>
          <a:xfrm>
            <a:off x="640080" y="1874520"/>
            <a:ext cx="3310128" cy="1042416"/>
          </a:xfrm>
          <a:prstGeom prst="roundRect">
            <a:avLst>
              <a:gd name="adj" fmla="val 10526"/>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6" name="Shape 4"/>
          <p:cNvSpPr/>
          <p:nvPr/>
        </p:nvSpPr>
        <p:spPr>
          <a:xfrm>
            <a:off x="804672" y="2139696"/>
            <a:ext cx="457200" cy="457200"/>
          </a:xfrm>
          <a:prstGeom prst="roundRect">
            <a:avLst>
              <a:gd name="adj" fmla="val 50000"/>
            </a:avLst>
          </a:prstGeom>
          <a:solidFill>
            <a:srgbClr val="F6E3C4"/>
          </a:solidFill>
          <a:ln w="12700">
            <a:solidFill>
              <a:srgbClr val="F6E3C4"/>
            </a:solidFill>
            <a:prstDash val="solid"/>
          </a:ln>
        </p:spPr>
        <p:txBody>
          <a:bodyPr/>
          <a:p/>
        </p:txBody>
      </p:sp>
      <p:pic>
        <p:nvPicPr>
          <p:cNvPr id="7" name="Image 0" descr="/private/tmp/soh-deck/icons/Store-amber.png">    </p:cNvPr>
          <p:cNvPicPr>
            <a:picLocks noChangeAspect="1"/>
          </p:cNvPicPr>
          <p:nvPr/>
        </p:nvPicPr>
        <p:blipFill>
          <a:blip r:embed="rId1"/>
          <a:stretch>
            <a:fillRect/>
          </a:stretch>
        </p:blipFill>
        <p:spPr>
          <a:xfrm>
            <a:off x="896112" y="2231136"/>
            <a:ext cx="274320" cy="274320"/>
          </a:xfrm>
          <a:prstGeom prst="rect">
            <a:avLst/>
          </a:prstGeom>
        </p:spPr>
      </p:pic>
      <p:sp>
        <p:nvSpPr>
          <p:cNvPr id="8" name="Text 5"/>
          <p:cNvSpPr/>
          <p:nvPr/>
        </p:nvSpPr>
        <p:spPr>
          <a:xfrm>
            <a:off x="1371600" y="2057400"/>
            <a:ext cx="2377440" cy="219456"/>
          </a:xfrm>
          <a:prstGeom prst="rect">
            <a:avLst/>
          </a:prstGeom>
          <a:noFill/>
          <a:ln/>
        </p:spPr>
        <p:txBody>
          <a:bodyPr wrap="square" lIns="0" tIns="0" rIns="0" bIns="0" rtlCol="0" anchor="t"/>
          <a:lstStyle/>
          <a:p>
            <a:pPr algn="l" indent="0" marL="0">
              <a:lnSpc>
                <a:spcPct val="100000"/>
              </a:lnSpc>
              <a:buNone/>
            </a:pPr>
            <a:r>
              <a:rPr lang="en-US" sz="1160" b="1" dirty="0">
                <a:solidFill>
                  <a:srgbClr val="1B1714"/>
                </a:solidFill>
                <a:latin typeface="Calibri" pitchFamily="34" charset="0"/>
                <a:ea typeface="Calibri" pitchFamily="34" charset="-122"/>
                <a:cs typeface="Calibri" pitchFamily="34" charset="-120"/>
              </a:rPr>
              <a:t>F&amp;B / Bakery</a:t>
            </a:r>
            <a:endParaRPr lang="en-US" sz="1160" dirty="0"/>
          </a:p>
        </p:txBody>
      </p:sp>
      <p:sp>
        <p:nvSpPr>
          <p:cNvPr id="9" name="Text 6"/>
          <p:cNvSpPr/>
          <p:nvPr/>
        </p:nvSpPr>
        <p:spPr>
          <a:xfrm>
            <a:off x="1371600" y="2331720"/>
            <a:ext cx="2359152" cy="201168"/>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Delivery window · allergens</a:t>
            </a:r>
            <a:endParaRPr lang="en-US" sz="860" dirty="0"/>
          </a:p>
        </p:txBody>
      </p:sp>
      <p:sp>
        <p:nvSpPr>
          <p:cNvPr id="10" name="Shape 7"/>
          <p:cNvSpPr/>
          <p:nvPr/>
        </p:nvSpPr>
        <p:spPr>
          <a:xfrm>
            <a:off x="4160520" y="1874520"/>
            <a:ext cx="3310128" cy="1042416"/>
          </a:xfrm>
          <a:prstGeom prst="roundRect">
            <a:avLst>
              <a:gd name="adj" fmla="val 10526"/>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1" name="Shape 8"/>
          <p:cNvSpPr/>
          <p:nvPr/>
        </p:nvSpPr>
        <p:spPr>
          <a:xfrm>
            <a:off x="4325112" y="2139696"/>
            <a:ext cx="457200" cy="457200"/>
          </a:xfrm>
          <a:prstGeom prst="roundRect">
            <a:avLst>
              <a:gd name="adj" fmla="val 50000"/>
            </a:avLst>
          </a:prstGeom>
          <a:solidFill>
            <a:srgbClr val="E3EBF5"/>
          </a:solidFill>
          <a:ln w="12700">
            <a:solidFill>
              <a:srgbClr val="E3EBF5"/>
            </a:solidFill>
            <a:prstDash val="solid"/>
          </a:ln>
        </p:spPr>
        <p:txBody>
          <a:bodyPr/>
          <a:p/>
        </p:txBody>
      </p:sp>
      <p:pic>
        <p:nvPicPr>
          <p:cNvPr id="12" name="Image 1" descr="/private/tmp/soh-deck/icons/Boxes-blue.png">    </p:cNvPr>
          <p:cNvPicPr>
            <a:picLocks noChangeAspect="1"/>
          </p:cNvPicPr>
          <p:nvPr/>
        </p:nvPicPr>
        <p:blipFill>
          <a:blip r:embed="rId2"/>
          <a:stretch>
            <a:fillRect/>
          </a:stretch>
        </p:blipFill>
        <p:spPr>
          <a:xfrm>
            <a:off x="4416552" y="2231136"/>
            <a:ext cx="274320" cy="274320"/>
          </a:xfrm>
          <a:prstGeom prst="rect">
            <a:avLst/>
          </a:prstGeom>
        </p:spPr>
      </p:pic>
      <p:sp>
        <p:nvSpPr>
          <p:cNvPr id="13" name="Text 9"/>
          <p:cNvSpPr/>
          <p:nvPr/>
        </p:nvSpPr>
        <p:spPr>
          <a:xfrm>
            <a:off x="4892040" y="2057400"/>
            <a:ext cx="2377440" cy="219456"/>
          </a:xfrm>
          <a:prstGeom prst="rect">
            <a:avLst/>
          </a:prstGeom>
          <a:noFill/>
          <a:ln/>
        </p:spPr>
        <p:txBody>
          <a:bodyPr wrap="square" lIns="0" tIns="0" rIns="0" bIns="0" rtlCol="0" anchor="t"/>
          <a:lstStyle/>
          <a:p>
            <a:pPr algn="l" indent="0" marL="0">
              <a:lnSpc>
                <a:spcPct val="100000"/>
              </a:lnSpc>
              <a:buNone/>
            </a:pPr>
            <a:r>
              <a:rPr lang="en-US" sz="1160" b="1" dirty="0">
                <a:solidFill>
                  <a:srgbClr val="1B1714"/>
                </a:solidFill>
                <a:latin typeface="Calibri" pitchFamily="34" charset="0"/>
                <a:ea typeface="Calibri" pitchFamily="34" charset="-122"/>
                <a:cs typeface="Calibri" pitchFamily="34" charset="-120"/>
              </a:rPr>
              <a:t>Retail</a:t>
            </a:r>
            <a:endParaRPr lang="en-US" sz="1160" dirty="0"/>
          </a:p>
        </p:txBody>
      </p:sp>
      <p:sp>
        <p:nvSpPr>
          <p:cNvPr id="14" name="Text 10"/>
          <p:cNvSpPr/>
          <p:nvPr/>
        </p:nvSpPr>
        <p:spPr>
          <a:xfrm>
            <a:off x="4892040" y="2331720"/>
            <a:ext cx="2359152" cy="201168"/>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SKU · size / colour</a:t>
            </a:r>
            <a:endParaRPr lang="en-US" sz="860" dirty="0"/>
          </a:p>
        </p:txBody>
      </p:sp>
      <p:sp>
        <p:nvSpPr>
          <p:cNvPr id="15" name="Shape 11"/>
          <p:cNvSpPr/>
          <p:nvPr/>
        </p:nvSpPr>
        <p:spPr>
          <a:xfrm>
            <a:off x="640080" y="3136392"/>
            <a:ext cx="3310128" cy="1042416"/>
          </a:xfrm>
          <a:prstGeom prst="roundRect">
            <a:avLst>
              <a:gd name="adj" fmla="val 10526"/>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6" name="Shape 12"/>
          <p:cNvSpPr/>
          <p:nvPr/>
        </p:nvSpPr>
        <p:spPr>
          <a:xfrm>
            <a:off x="804672" y="3401568"/>
            <a:ext cx="457200" cy="457200"/>
          </a:xfrm>
          <a:prstGeom prst="roundRect">
            <a:avLst>
              <a:gd name="adj" fmla="val 50000"/>
            </a:avLst>
          </a:prstGeom>
          <a:solidFill>
            <a:srgbClr val="DFEDE4"/>
          </a:solidFill>
          <a:ln w="12700">
            <a:solidFill>
              <a:srgbClr val="DFEDE4"/>
            </a:solidFill>
            <a:prstDash val="solid"/>
          </a:ln>
        </p:spPr>
        <p:txBody>
          <a:bodyPr/>
          <a:p/>
        </p:txBody>
      </p:sp>
      <p:pic>
        <p:nvPicPr>
          <p:cNvPr id="17" name="Image 2" descr="/private/tmp/soh-deck/icons/Package-green.png">    </p:cNvPr>
          <p:cNvPicPr>
            <a:picLocks noChangeAspect="1"/>
          </p:cNvPicPr>
          <p:nvPr/>
        </p:nvPicPr>
        <p:blipFill>
          <a:blip r:embed="rId3"/>
          <a:stretch>
            <a:fillRect/>
          </a:stretch>
        </p:blipFill>
        <p:spPr>
          <a:xfrm>
            <a:off x="896112" y="3493008"/>
            <a:ext cx="274320" cy="274320"/>
          </a:xfrm>
          <a:prstGeom prst="rect">
            <a:avLst/>
          </a:prstGeom>
        </p:spPr>
      </p:pic>
      <p:sp>
        <p:nvSpPr>
          <p:cNvPr id="18" name="Text 13"/>
          <p:cNvSpPr/>
          <p:nvPr/>
        </p:nvSpPr>
        <p:spPr>
          <a:xfrm>
            <a:off x="1371600" y="3319272"/>
            <a:ext cx="2377440" cy="219456"/>
          </a:xfrm>
          <a:prstGeom prst="rect">
            <a:avLst/>
          </a:prstGeom>
          <a:noFill/>
          <a:ln/>
        </p:spPr>
        <p:txBody>
          <a:bodyPr wrap="square" lIns="0" tIns="0" rIns="0" bIns="0" rtlCol="0" anchor="t"/>
          <a:lstStyle/>
          <a:p>
            <a:pPr algn="l" indent="0" marL="0">
              <a:lnSpc>
                <a:spcPct val="100000"/>
              </a:lnSpc>
              <a:buNone/>
            </a:pPr>
            <a:r>
              <a:rPr lang="en-US" sz="1160" b="1" dirty="0">
                <a:solidFill>
                  <a:srgbClr val="1B1714"/>
                </a:solidFill>
                <a:latin typeface="Calibri" pitchFamily="34" charset="0"/>
                <a:ea typeface="Calibri" pitchFamily="34" charset="-122"/>
                <a:cs typeface="Calibri" pitchFamily="34" charset="-120"/>
              </a:rPr>
              <a:t>Wholesale</a:t>
            </a:r>
            <a:endParaRPr lang="en-US" sz="1160" dirty="0"/>
          </a:p>
        </p:txBody>
      </p:sp>
      <p:sp>
        <p:nvSpPr>
          <p:cNvPr id="19" name="Text 14"/>
          <p:cNvSpPr/>
          <p:nvPr/>
        </p:nvSpPr>
        <p:spPr>
          <a:xfrm>
            <a:off x="1371600" y="3593592"/>
            <a:ext cx="2359152" cy="201168"/>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MOQ · tier price</a:t>
            </a:r>
            <a:endParaRPr lang="en-US" sz="860" dirty="0"/>
          </a:p>
        </p:txBody>
      </p:sp>
      <p:sp>
        <p:nvSpPr>
          <p:cNvPr id="20" name="Shape 15"/>
          <p:cNvSpPr/>
          <p:nvPr/>
        </p:nvSpPr>
        <p:spPr>
          <a:xfrm>
            <a:off x="4160520" y="3136392"/>
            <a:ext cx="3310128" cy="1042416"/>
          </a:xfrm>
          <a:prstGeom prst="roundRect">
            <a:avLst>
              <a:gd name="adj" fmla="val 10526"/>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21" name="Shape 16"/>
          <p:cNvSpPr/>
          <p:nvPr/>
        </p:nvSpPr>
        <p:spPr>
          <a:xfrm>
            <a:off x="4325112" y="3401568"/>
            <a:ext cx="457200" cy="457200"/>
          </a:xfrm>
          <a:prstGeom prst="roundRect">
            <a:avLst>
              <a:gd name="adj" fmla="val 50000"/>
            </a:avLst>
          </a:prstGeom>
          <a:solidFill>
            <a:srgbClr val="F3DDE4"/>
          </a:solidFill>
          <a:ln w="12700">
            <a:solidFill>
              <a:srgbClr val="F3DDE4"/>
            </a:solidFill>
            <a:prstDash val="solid"/>
          </a:ln>
        </p:spPr>
        <p:txBody>
          <a:bodyPr/>
          <a:p/>
        </p:txBody>
      </p:sp>
      <p:pic>
        <p:nvPicPr>
          <p:cNvPr id="22" name="Image 3" descr="/private/tmp/soh-deck/icons/Hand-pink.png">    </p:cNvPr>
          <p:cNvPicPr>
            <a:picLocks noChangeAspect="1"/>
          </p:cNvPicPr>
          <p:nvPr/>
        </p:nvPicPr>
        <p:blipFill>
          <a:blip r:embed="rId4"/>
          <a:stretch>
            <a:fillRect/>
          </a:stretch>
        </p:blipFill>
        <p:spPr>
          <a:xfrm>
            <a:off x="4416552" y="3493008"/>
            <a:ext cx="274320" cy="274320"/>
          </a:xfrm>
          <a:prstGeom prst="rect">
            <a:avLst/>
          </a:prstGeom>
        </p:spPr>
      </p:pic>
      <p:sp>
        <p:nvSpPr>
          <p:cNvPr id="23" name="Text 17"/>
          <p:cNvSpPr/>
          <p:nvPr/>
        </p:nvSpPr>
        <p:spPr>
          <a:xfrm>
            <a:off x="4892040" y="3319272"/>
            <a:ext cx="2377440" cy="219456"/>
          </a:xfrm>
          <a:prstGeom prst="rect">
            <a:avLst/>
          </a:prstGeom>
          <a:noFill/>
          <a:ln/>
        </p:spPr>
        <p:txBody>
          <a:bodyPr wrap="square" lIns="0" tIns="0" rIns="0" bIns="0" rtlCol="0" anchor="t"/>
          <a:lstStyle/>
          <a:p>
            <a:pPr algn="l" indent="0" marL="0">
              <a:lnSpc>
                <a:spcPct val="100000"/>
              </a:lnSpc>
              <a:buNone/>
            </a:pPr>
            <a:r>
              <a:rPr lang="en-US" sz="1160" b="1" dirty="0">
                <a:solidFill>
                  <a:srgbClr val="1B1714"/>
                </a:solidFill>
                <a:latin typeface="Calibri" pitchFamily="34" charset="0"/>
                <a:ea typeface="Calibri" pitchFamily="34" charset="-122"/>
                <a:cs typeface="Calibri" pitchFamily="34" charset="-120"/>
              </a:rPr>
              <a:t>Services</a:t>
            </a:r>
            <a:endParaRPr lang="en-US" sz="1160" dirty="0"/>
          </a:p>
        </p:txBody>
      </p:sp>
      <p:sp>
        <p:nvSpPr>
          <p:cNvPr id="24" name="Text 18"/>
          <p:cNvSpPr/>
          <p:nvPr/>
        </p:nvSpPr>
        <p:spPr>
          <a:xfrm>
            <a:off x="4892040" y="3593592"/>
            <a:ext cx="2359152" cy="201168"/>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Appointment · deposit</a:t>
            </a:r>
            <a:endParaRPr lang="en-US" sz="860" dirty="0"/>
          </a:p>
        </p:txBody>
      </p:sp>
      <p:sp>
        <p:nvSpPr>
          <p:cNvPr id="25" name="Shape 19"/>
          <p:cNvSpPr/>
          <p:nvPr/>
        </p:nvSpPr>
        <p:spPr>
          <a:xfrm>
            <a:off x="640080" y="4398264"/>
            <a:ext cx="3310128" cy="1042416"/>
          </a:xfrm>
          <a:prstGeom prst="roundRect">
            <a:avLst>
              <a:gd name="adj" fmla="val 10526"/>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26" name="Shape 20"/>
          <p:cNvSpPr/>
          <p:nvPr/>
        </p:nvSpPr>
        <p:spPr>
          <a:xfrm>
            <a:off x="804672" y="4663440"/>
            <a:ext cx="457200" cy="457200"/>
          </a:xfrm>
          <a:prstGeom prst="roundRect">
            <a:avLst>
              <a:gd name="adj" fmla="val 50000"/>
            </a:avLst>
          </a:prstGeom>
          <a:solidFill>
            <a:srgbClr val="E9E2D8"/>
          </a:solidFill>
          <a:ln w="12700">
            <a:solidFill>
              <a:srgbClr val="E9E2D8"/>
            </a:solidFill>
            <a:prstDash val="solid"/>
          </a:ln>
        </p:spPr>
        <p:txBody>
          <a:bodyPr/>
          <a:p/>
        </p:txBody>
      </p:sp>
      <p:pic>
        <p:nvPicPr>
          <p:cNvPr id="27" name="Image 4" descr="/private/tmp/soh-deck/icons/Factory-muted.png">    </p:cNvPr>
          <p:cNvPicPr>
            <a:picLocks noChangeAspect="1"/>
          </p:cNvPicPr>
          <p:nvPr/>
        </p:nvPicPr>
        <p:blipFill>
          <a:blip r:embed="rId5"/>
          <a:stretch>
            <a:fillRect/>
          </a:stretch>
        </p:blipFill>
        <p:spPr>
          <a:xfrm>
            <a:off x="896112" y="4754880"/>
            <a:ext cx="274320" cy="274320"/>
          </a:xfrm>
          <a:prstGeom prst="rect">
            <a:avLst/>
          </a:prstGeom>
        </p:spPr>
      </p:pic>
      <p:sp>
        <p:nvSpPr>
          <p:cNvPr id="28" name="Text 21"/>
          <p:cNvSpPr/>
          <p:nvPr/>
        </p:nvSpPr>
        <p:spPr>
          <a:xfrm>
            <a:off x="1371600" y="4581144"/>
            <a:ext cx="2377440" cy="219456"/>
          </a:xfrm>
          <a:prstGeom prst="rect">
            <a:avLst/>
          </a:prstGeom>
          <a:noFill/>
          <a:ln/>
        </p:spPr>
        <p:txBody>
          <a:bodyPr wrap="square" lIns="0" tIns="0" rIns="0" bIns="0" rtlCol="0" anchor="t"/>
          <a:lstStyle/>
          <a:p>
            <a:pPr algn="l" indent="0" marL="0">
              <a:lnSpc>
                <a:spcPct val="100000"/>
              </a:lnSpc>
              <a:buNone/>
            </a:pPr>
            <a:r>
              <a:rPr lang="en-US" sz="1160" b="1" dirty="0">
                <a:solidFill>
                  <a:srgbClr val="1B1714"/>
                </a:solidFill>
                <a:latin typeface="Calibri" pitchFamily="34" charset="0"/>
                <a:ea typeface="Calibri" pitchFamily="34" charset="-122"/>
                <a:cs typeface="Calibri" pitchFamily="34" charset="-120"/>
              </a:rPr>
              <a:t>Manufacturing</a:t>
            </a:r>
            <a:endParaRPr lang="en-US" sz="1160" dirty="0"/>
          </a:p>
        </p:txBody>
      </p:sp>
      <p:sp>
        <p:nvSpPr>
          <p:cNvPr id="29" name="Text 22"/>
          <p:cNvSpPr/>
          <p:nvPr/>
        </p:nvSpPr>
        <p:spPr>
          <a:xfrm>
            <a:off x="1371600" y="4855464"/>
            <a:ext cx="2359152" cy="201168"/>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Material · tolerance</a:t>
            </a:r>
            <a:endParaRPr lang="en-US" sz="860" dirty="0"/>
          </a:p>
        </p:txBody>
      </p:sp>
      <p:sp>
        <p:nvSpPr>
          <p:cNvPr id="30" name="Shape 23"/>
          <p:cNvSpPr/>
          <p:nvPr/>
        </p:nvSpPr>
        <p:spPr>
          <a:xfrm>
            <a:off x="4160520" y="4398264"/>
            <a:ext cx="3310128" cy="1042416"/>
          </a:xfrm>
          <a:prstGeom prst="roundRect">
            <a:avLst>
              <a:gd name="adj" fmla="val 10526"/>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31" name="Shape 24"/>
          <p:cNvSpPr/>
          <p:nvPr/>
        </p:nvSpPr>
        <p:spPr>
          <a:xfrm>
            <a:off x="4325112" y="4663440"/>
            <a:ext cx="457200" cy="457200"/>
          </a:xfrm>
          <a:prstGeom prst="roundRect">
            <a:avLst>
              <a:gd name="adj" fmla="val 50000"/>
            </a:avLst>
          </a:prstGeom>
          <a:solidFill>
            <a:srgbClr val="DFEEF4"/>
          </a:solidFill>
          <a:ln w="12700">
            <a:solidFill>
              <a:srgbClr val="DFEEF4"/>
            </a:solidFill>
            <a:prstDash val="solid"/>
          </a:ln>
        </p:spPr>
        <p:txBody>
          <a:bodyPr/>
          <a:p/>
        </p:txBody>
      </p:sp>
      <p:pic>
        <p:nvPicPr>
          <p:cNvPr id="32" name="Image 5" descr="/private/tmp/soh-deck/icons/Truck-sky.png">    </p:cNvPr>
          <p:cNvPicPr>
            <a:picLocks noChangeAspect="1"/>
          </p:cNvPicPr>
          <p:nvPr/>
        </p:nvPicPr>
        <p:blipFill>
          <a:blip r:embed="rId6"/>
          <a:stretch>
            <a:fillRect/>
          </a:stretch>
        </p:blipFill>
        <p:spPr>
          <a:xfrm>
            <a:off x="4416552" y="4754880"/>
            <a:ext cx="274320" cy="274320"/>
          </a:xfrm>
          <a:prstGeom prst="rect">
            <a:avLst/>
          </a:prstGeom>
        </p:spPr>
      </p:pic>
      <p:sp>
        <p:nvSpPr>
          <p:cNvPr id="33" name="Text 25"/>
          <p:cNvSpPr/>
          <p:nvPr/>
        </p:nvSpPr>
        <p:spPr>
          <a:xfrm>
            <a:off x="4892040" y="4581144"/>
            <a:ext cx="2377440" cy="219456"/>
          </a:xfrm>
          <a:prstGeom prst="rect">
            <a:avLst/>
          </a:prstGeom>
          <a:noFill/>
          <a:ln/>
        </p:spPr>
        <p:txBody>
          <a:bodyPr wrap="square" lIns="0" tIns="0" rIns="0" bIns="0" rtlCol="0" anchor="t"/>
          <a:lstStyle/>
          <a:p>
            <a:pPr algn="l" indent="0" marL="0">
              <a:lnSpc>
                <a:spcPct val="100000"/>
              </a:lnSpc>
              <a:buNone/>
            </a:pPr>
            <a:r>
              <a:rPr lang="en-US" sz="1160" b="1" dirty="0">
                <a:solidFill>
                  <a:srgbClr val="1B1714"/>
                </a:solidFill>
                <a:latin typeface="Calibri" pitchFamily="34" charset="0"/>
                <a:ea typeface="Calibri" pitchFamily="34" charset="-122"/>
                <a:cs typeface="Calibri" pitchFamily="34" charset="-120"/>
              </a:rPr>
              <a:t>Logistics</a:t>
            </a:r>
            <a:endParaRPr lang="en-US" sz="1160" dirty="0"/>
          </a:p>
        </p:txBody>
      </p:sp>
      <p:sp>
        <p:nvSpPr>
          <p:cNvPr id="34" name="Text 26"/>
          <p:cNvSpPr/>
          <p:nvPr/>
        </p:nvSpPr>
        <p:spPr>
          <a:xfrm>
            <a:off x="4892040" y="4855464"/>
            <a:ext cx="2359152" cy="201168"/>
          </a:xfrm>
          <a:prstGeom prst="rect">
            <a:avLst/>
          </a:prstGeom>
          <a:noFill/>
          <a:ln/>
        </p:spPr>
        <p:txBody>
          <a:bodyPr wrap="square" lIns="0" tIns="0" rIns="0" bIns="0" rtlCol="0" anchor="t"/>
          <a:lstStyle/>
          <a:p>
            <a:pPr algn="l" indent="0" marL="0">
              <a:lnSpc>
                <a:spcPct val="100000"/>
              </a:lnSpc>
              <a:buNone/>
            </a:pPr>
            <a:r>
              <a:rPr lang="en-US" sz="860" dirty="0">
                <a:solidFill>
                  <a:srgbClr val="6B6258"/>
                </a:solidFill>
                <a:latin typeface="Calibri" pitchFamily="34" charset="0"/>
                <a:ea typeface="Calibri" pitchFamily="34" charset="-122"/>
                <a:cs typeface="Calibri" pitchFamily="34" charset="-120"/>
              </a:rPr>
              <a:t>Vehicle · drop-off</a:t>
            </a:r>
            <a:endParaRPr lang="en-US" sz="860" dirty="0"/>
          </a:p>
        </p:txBody>
      </p:sp>
      <p:sp>
        <p:nvSpPr>
          <p:cNvPr id="35" name="Shape 27"/>
          <p:cNvSpPr/>
          <p:nvPr/>
        </p:nvSpPr>
        <p:spPr>
          <a:xfrm>
            <a:off x="7818120" y="1810512"/>
            <a:ext cx="3730752" cy="3931920"/>
          </a:xfrm>
          <a:prstGeom prst="roundRect">
            <a:avLst>
              <a:gd name="adj" fmla="val 3431"/>
            </a:avLst>
          </a:prstGeom>
          <a:solidFill>
            <a:srgbClr val="1B1714"/>
          </a:solidFill>
          <a:ln w="10160">
            <a:solidFill>
              <a:srgbClr val="1B1714"/>
            </a:solidFill>
            <a:prstDash val="solid"/>
          </a:ln>
          <a:effectLst>
            <a:outerShdw sx="100000" sy="100000" kx="0" ky="0" algn="bl" rotWithShape="0" blurRad="31750" dist="50800" dir="2700000">
              <a:srgbClr val="4A3B2A">
                <a:alpha val="10000"/>
              </a:srgbClr>
            </a:outerShdw>
          </a:effectLst>
        </p:spPr>
        <p:txBody>
          <a:bodyPr/>
          <a:p/>
        </p:txBody>
      </p:sp>
      <p:sp>
        <p:nvSpPr>
          <p:cNvPr id="36" name="Text 28"/>
          <p:cNvSpPr/>
          <p:nvPr/>
        </p:nvSpPr>
        <p:spPr>
          <a:xfrm>
            <a:off x="8065008" y="1993392"/>
            <a:ext cx="3246120" cy="201168"/>
          </a:xfrm>
          <a:prstGeom prst="rect">
            <a:avLst/>
          </a:prstGeom>
          <a:noFill/>
          <a:ln/>
        </p:spPr>
        <p:txBody>
          <a:bodyPr wrap="square" lIns="0" tIns="0" rIns="0" bIns="0" rtlCol="0" anchor="t"/>
          <a:lstStyle/>
          <a:p>
            <a:pPr algn="l" indent="0" marL="0">
              <a:lnSpc>
                <a:spcPct val="100000"/>
              </a:lnSpc>
              <a:buNone/>
            </a:pPr>
            <a:r>
              <a:rPr lang="en-US" sz="800" b="1" spc="160" kern="0" dirty="0">
                <a:solidFill>
                  <a:srgbClr val="D97706"/>
                </a:solidFill>
                <a:latin typeface="Calibri" pitchFamily="34" charset="0"/>
                <a:ea typeface="Calibri" pitchFamily="34" charset="-122"/>
                <a:cs typeface="Calibri" pitchFamily="34" charset="-120"/>
              </a:rPr>
              <a:t>ORBYTE FIT</a:t>
            </a:r>
            <a:endParaRPr lang="en-US" sz="800" dirty="0"/>
          </a:p>
        </p:txBody>
      </p:sp>
      <p:sp>
        <p:nvSpPr>
          <p:cNvPr id="37" name="Text 29"/>
          <p:cNvSpPr/>
          <p:nvPr/>
        </p:nvSpPr>
        <p:spPr>
          <a:xfrm>
            <a:off x="8065008" y="2267712"/>
            <a:ext cx="3246120" cy="438912"/>
          </a:xfrm>
          <a:prstGeom prst="rect">
            <a:avLst/>
          </a:prstGeom>
          <a:noFill/>
          <a:ln/>
        </p:spPr>
        <p:txBody>
          <a:bodyPr wrap="square" lIns="0" tIns="0" rIns="0" bIns="0" rtlCol="0" anchor="t"/>
          <a:lstStyle/>
          <a:p>
            <a:pPr algn="l" indent="0" marL="0">
              <a:lnSpc>
                <a:spcPct val="95000"/>
              </a:lnSpc>
              <a:buNone/>
            </a:pPr>
            <a:r>
              <a:rPr lang="en-US" sz="1700" b="1" dirty="0">
                <a:solidFill>
                  <a:srgbClr val="F7F2E8"/>
                </a:solidFill>
                <a:latin typeface="Cambria" pitchFamily="34" charset="0"/>
                <a:ea typeface="Cambria" pitchFamily="34" charset="-122"/>
                <a:cs typeface="Cambria" pitchFamily="34" charset="-120"/>
              </a:rPr>
              <a:t>Connected hub, not another silo.</a:t>
            </a:r>
            <a:endParaRPr lang="en-US" sz="1700" dirty="0"/>
          </a:p>
        </p:txBody>
      </p:sp>
      <p:sp>
        <p:nvSpPr>
          <p:cNvPr id="38" name="Shape 30"/>
          <p:cNvSpPr/>
          <p:nvPr/>
        </p:nvSpPr>
        <p:spPr>
          <a:xfrm>
            <a:off x="8065008" y="2871216"/>
            <a:ext cx="3054096" cy="457200"/>
          </a:xfrm>
          <a:prstGeom prst="roundRect">
            <a:avLst>
              <a:gd name="adj" fmla="val 18000"/>
            </a:avLst>
          </a:prstGeom>
          <a:solidFill>
            <a:srgbClr val="F1E7D8"/>
          </a:solidFill>
          <a:ln w="10160">
            <a:solidFill>
              <a:srgbClr val="E2CFB4"/>
            </a:solidFill>
            <a:prstDash val="solid"/>
          </a:ln>
        </p:spPr>
        <p:txBody>
          <a:bodyPr/>
          <a:p/>
        </p:txBody>
      </p:sp>
      <p:sp>
        <p:nvSpPr>
          <p:cNvPr id="39" name="Text 31"/>
          <p:cNvSpPr/>
          <p:nvPr/>
        </p:nvSpPr>
        <p:spPr>
          <a:xfrm>
            <a:off x="8211312" y="2935224"/>
            <a:ext cx="2761488" cy="228600"/>
          </a:xfrm>
          <a:prstGeom prst="rect">
            <a:avLst/>
          </a:prstGeom>
          <a:noFill/>
          <a:ln/>
        </p:spPr>
        <p:txBody>
          <a:bodyPr wrap="square" lIns="0" tIns="0" rIns="0" bIns="0" rtlCol="0" anchor="t"/>
          <a:lstStyle/>
          <a:p>
            <a:pPr algn="ctr" indent="0" marL="0">
              <a:lnSpc>
                <a:spcPct val="100000"/>
              </a:lnSpc>
              <a:buNone/>
            </a:pPr>
            <a:r>
              <a:rPr lang="en-US" sz="880" b="1" dirty="0">
                <a:solidFill>
                  <a:srgbClr val="D97706"/>
                </a:solidFill>
                <a:latin typeface="Calibri" pitchFamily="34" charset="0"/>
                <a:ea typeface="Calibri" pitchFamily="34" charset="-122"/>
                <a:cs typeface="Calibri" pitchFamily="34" charset="-120"/>
              </a:rPr>
              <a:t>SmartOrder Hub</a:t>
            </a:r>
            <a:endParaRPr lang="en-US" sz="880" dirty="0"/>
          </a:p>
        </p:txBody>
      </p:sp>
      <p:pic>
        <p:nvPicPr>
          <p:cNvPr id="40" name="Image 6" descr="/private/tmp/soh-deck/icons/ArrowRight-amber.png">    </p:cNvPr>
          <p:cNvPicPr>
            <a:picLocks noChangeAspect="1"/>
          </p:cNvPicPr>
          <p:nvPr/>
        </p:nvPicPr>
        <p:blipFill>
          <a:blip r:embed="rId7"/>
          <a:stretch>
            <a:fillRect/>
          </a:stretch>
        </p:blipFill>
        <p:spPr>
          <a:xfrm>
            <a:off x="9400032" y="3273552"/>
            <a:ext cx="164592" cy="164592"/>
          </a:xfrm>
          <a:prstGeom prst="rect">
            <a:avLst/>
          </a:prstGeom>
        </p:spPr>
      </p:pic>
      <p:sp>
        <p:nvSpPr>
          <p:cNvPr id="41" name="Shape 32"/>
          <p:cNvSpPr/>
          <p:nvPr/>
        </p:nvSpPr>
        <p:spPr>
          <a:xfrm>
            <a:off x="8065008" y="3529584"/>
            <a:ext cx="3054096" cy="457200"/>
          </a:xfrm>
          <a:prstGeom prst="roundRect">
            <a:avLst>
              <a:gd name="adj" fmla="val 18000"/>
            </a:avLst>
          </a:prstGeom>
          <a:solidFill>
            <a:srgbClr val="F1E7D8"/>
          </a:solidFill>
          <a:ln w="10160">
            <a:solidFill>
              <a:srgbClr val="E2CFB4"/>
            </a:solidFill>
            <a:prstDash val="solid"/>
          </a:ln>
        </p:spPr>
        <p:txBody>
          <a:bodyPr/>
          <a:p/>
        </p:txBody>
      </p:sp>
      <p:sp>
        <p:nvSpPr>
          <p:cNvPr id="42" name="Text 33"/>
          <p:cNvSpPr/>
          <p:nvPr/>
        </p:nvSpPr>
        <p:spPr>
          <a:xfrm>
            <a:off x="8211312" y="3593592"/>
            <a:ext cx="2761488" cy="228600"/>
          </a:xfrm>
          <a:prstGeom prst="rect">
            <a:avLst/>
          </a:prstGeom>
          <a:noFill/>
          <a:ln/>
        </p:spPr>
        <p:txBody>
          <a:bodyPr wrap="square" lIns="0" tIns="0" rIns="0" bIns="0" rtlCol="0" anchor="t"/>
          <a:lstStyle/>
          <a:p>
            <a:pPr algn="ctr" indent="0" marL="0">
              <a:lnSpc>
                <a:spcPct val="100000"/>
              </a:lnSpc>
              <a:buNone/>
            </a:pPr>
            <a:r>
              <a:rPr lang="en-US" sz="880" b="1" dirty="0">
                <a:solidFill>
                  <a:srgbClr val="1B1714"/>
                </a:solidFill>
                <a:latin typeface="Calibri" pitchFamily="34" charset="0"/>
                <a:ea typeface="Calibri" pitchFamily="34" charset="-122"/>
                <a:cs typeface="Calibri" pitchFamily="34" charset="-120"/>
              </a:rPr>
              <a:t>OrbyteAdapter</a:t>
            </a:r>
            <a:endParaRPr lang="en-US" sz="880" dirty="0"/>
          </a:p>
        </p:txBody>
      </p:sp>
      <p:pic>
        <p:nvPicPr>
          <p:cNvPr id="43" name="Image 7" descr="/private/tmp/soh-deck/icons/ArrowRight-amber.png">    </p:cNvPr>
          <p:cNvPicPr>
            <a:picLocks noChangeAspect="1"/>
          </p:cNvPicPr>
          <p:nvPr/>
        </p:nvPicPr>
        <p:blipFill>
          <a:blip r:embed="rId8"/>
          <a:stretch>
            <a:fillRect/>
          </a:stretch>
        </p:blipFill>
        <p:spPr>
          <a:xfrm>
            <a:off x="9400032" y="3931920"/>
            <a:ext cx="164592" cy="164592"/>
          </a:xfrm>
          <a:prstGeom prst="rect">
            <a:avLst/>
          </a:prstGeom>
        </p:spPr>
      </p:pic>
      <p:sp>
        <p:nvSpPr>
          <p:cNvPr id="44" name="Shape 34"/>
          <p:cNvSpPr/>
          <p:nvPr/>
        </p:nvSpPr>
        <p:spPr>
          <a:xfrm>
            <a:off x="8065008" y="4187952"/>
            <a:ext cx="3054096" cy="457200"/>
          </a:xfrm>
          <a:prstGeom prst="roundRect">
            <a:avLst>
              <a:gd name="adj" fmla="val 18000"/>
            </a:avLst>
          </a:prstGeom>
          <a:solidFill>
            <a:srgbClr val="243B2C"/>
          </a:solidFill>
          <a:ln w="10160">
            <a:solidFill>
              <a:srgbClr val="3B5C47"/>
            </a:solidFill>
            <a:prstDash val="solid"/>
          </a:ln>
        </p:spPr>
        <p:txBody>
          <a:bodyPr/>
          <a:p/>
        </p:txBody>
      </p:sp>
      <p:sp>
        <p:nvSpPr>
          <p:cNvPr id="45" name="Text 35"/>
          <p:cNvSpPr/>
          <p:nvPr/>
        </p:nvSpPr>
        <p:spPr>
          <a:xfrm>
            <a:off x="8211312" y="4251960"/>
            <a:ext cx="2761488" cy="228600"/>
          </a:xfrm>
          <a:prstGeom prst="rect">
            <a:avLst/>
          </a:prstGeom>
          <a:noFill/>
          <a:ln/>
        </p:spPr>
        <p:txBody>
          <a:bodyPr wrap="square" lIns="0" tIns="0" rIns="0" bIns="0" rtlCol="0" anchor="t"/>
          <a:lstStyle/>
          <a:p>
            <a:pPr algn="ctr" indent="0" marL="0">
              <a:lnSpc>
                <a:spcPct val="100000"/>
              </a:lnSpc>
              <a:buNone/>
            </a:pPr>
            <a:r>
              <a:rPr lang="en-US" sz="880" b="1" dirty="0">
                <a:solidFill>
                  <a:srgbClr val="F7F2E8"/>
                </a:solidFill>
                <a:latin typeface="Calibri" pitchFamily="34" charset="0"/>
                <a:ea typeface="Calibri" pitchFamily="34" charset="-122"/>
                <a:cs typeface="Calibri" pitchFamily="34" charset="-120"/>
              </a:rPr>
              <a:t>Orbyte ecosystem</a:t>
            </a:r>
            <a:endParaRPr lang="en-US" sz="880" dirty="0"/>
          </a:p>
        </p:txBody>
      </p:sp>
      <p:sp>
        <p:nvSpPr>
          <p:cNvPr id="46" name="Text 36"/>
          <p:cNvSpPr/>
          <p:nvPr/>
        </p:nvSpPr>
        <p:spPr>
          <a:xfrm>
            <a:off x="8065008" y="4937760"/>
            <a:ext cx="3127248" cy="621792"/>
          </a:xfrm>
          <a:prstGeom prst="rect">
            <a:avLst/>
          </a:prstGeom>
          <a:noFill/>
          <a:ln/>
        </p:spPr>
        <p:txBody>
          <a:bodyPr wrap="square" lIns="0" tIns="0" rIns="0" bIns="0" rtlCol="0" anchor="t"/>
          <a:lstStyle/>
          <a:p>
            <a:pPr algn="l" indent="0" marL="0">
              <a:lnSpc>
                <a:spcPct val="100000"/>
              </a:lnSpc>
              <a:buNone/>
            </a:pPr>
            <a:r>
              <a:rPr lang="en-US" sz="830" dirty="0">
                <a:solidFill>
                  <a:srgbClr val="C9BBAA"/>
                </a:solidFill>
                <a:latin typeface="Calibri" pitchFamily="34" charset="0"/>
                <a:ea typeface="Calibri" pitchFamily="34" charset="-122"/>
                <a:cs typeface="Calibri" pitchFamily="34" charset="-120"/>
              </a:rPr>
              <a:t>Mock adapter today. Swap in Orbyte catalog, roles, approvals and audit APIs without changing the order workflow.</a:t>
            </a:r>
            <a:endParaRPr lang="en-US" sz="830" dirty="0"/>
          </a:p>
        </p:txBody>
      </p:sp>
      <p:sp>
        <p:nvSpPr>
          <p:cNvPr id="47" name="Shape 37"/>
          <p:cNvSpPr/>
          <p:nvPr/>
        </p:nvSpPr>
        <p:spPr>
          <a:xfrm>
            <a:off x="640080" y="5989320"/>
            <a:ext cx="1682496" cy="256032"/>
          </a:xfrm>
          <a:prstGeom prst="roundRect">
            <a:avLst>
              <a:gd name="adj" fmla="val 50000"/>
            </a:avLst>
          </a:prstGeom>
          <a:solidFill>
            <a:srgbClr val="DFEDE4"/>
          </a:solidFill>
          <a:ln w="7620">
            <a:solidFill>
              <a:srgbClr val="2F6B4F"/>
            </a:solidFill>
            <a:prstDash val="solid"/>
          </a:ln>
        </p:spPr>
        <p:txBody>
          <a:bodyPr/>
          <a:p/>
        </p:txBody>
      </p:sp>
      <p:sp>
        <p:nvSpPr>
          <p:cNvPr id="48" name="Text 38"/>
          <p:cNvSpPr/>
          <p:nvPr/>
        </p:nvSpPr>
        <p:spPr>
          <a:xfrm>
            <a:off x="731520" y="6007608"/>
            <a:ext cx="1499616" cy="228600"/>
          </a:xfrm>
          <a:prstGeom prst="rect">
            <a:avLst/>
          </a:prstGeom>
          <a:noFill/>
          <a:ln/>
        </p:spPr>
        <p:txBody>
          <a:bodyPr wrap="square" lIns="0" tIns="0" rIns="0" bIns="0" rtlCol="0" anchor="ctr"/>
          <a:lstStyle/>
          <a:p>
            <a:pPr algn="ctr" indent="0" marL="0">
              <a:lnSpc>
                <a:spcPct val="100000"/>
              </a:lnSpc>
              <a:buNone/>
            </a:pPr>
            <a:r>
              <a:rPr lang="en-US" sz="720" b="1" spc="120" kern="0" dirty="0">
                <a:solidFill>
                  <a:srgbClr val="2F6B4F"/>
                </a:solidFill>
                <a:latin typeface="Calibri" pitchFamily="34" charset="0"/>
                <a:ea typeface="Calibri" pitchFamily="34" charset="-122"/>
                <a:cs typeface="Calibri" pitchFamily="34" charset="-120"/>
              </a:rPr>
              <a:t>EN  ·  中文  ·  BM</a:t>
            </a:r>
            <a:endParaRPr lang="en-US" sz="720" dirty="0"/>
          </a:p>
        </p:txBody>
      </p:sp>
      <p:sp>
        <p:nvSpPr>
          <p:cNvPr id="49" name="Text 39"/>
          <p:cNvSpPr/>
          <p:nvPr/>
        </p:nvSpPr>
        <p:spPr>
          <a:xfrm>
            <a:off x="2560320" y="6016752"/>
            <a:ext cx="5120640" cy="219456"/>
          </a:xfrm>
          <a:prstGeom prst="rect">
            <a:avLst/>
          </a:prstGeom>
          <a:noFill/>
          <a:ln/>
        </p:spPr>
        <p:txBody>
          <a:bodyPr wrap="square" lIns="0" tIns="0" rIns="0" bIns="0" rtlCol="0" anchor="t"/>
          <a:lstStyle/>
          <a:p>
            <a:pPr algn="l" indent="0" marL="0">
              <a:lnSpc>
                <a:spcPct val="100000"/>
              </a:lnSpc>
              <a:buNone/>
            </a:pPr>
            <a:r>
              <a:rPr lang="en-US" sz="920" i="1" dirty="0">
                <a:solidFill>
                  <a:srgbClr val="6B6258"/>
                </a:solidFill>
                <a:latin typeface="Calibri" pitchFamily="34" charset="0"/>
                <a:ea typeface="Calibri" pitchFamily="34" charset="-122"/>
                <a:cs typeface="Calibri" pitchFamily="34" charset="-120"/>
              </a:rPr>
              <a:t>Easy to learn: one table, three languages, no formal training.</a:t>
            </a:r>
            <a:endParaRPr lang="en-US" sz="920" dirty="0"/>
          </a:p>
        </p:txBody>
      </p:sp>
      <p:sp>
        <p:nvSpPr>
          <p:cNvPr id="50" name="Shape 40"/>
          <p:cNvSpPr/>
          <p:nvPr/>
        </p:nvSpPr>
        <p:spPr>
          <a:xfrm>
            <a:off x="8065008" y="5925312"/>
            <a:ext cx="1993392" cy="219456"/>
          </a:xfrm>
          <a:prstGeom prst="roundRect">
            <a:avLst>
              <a:gd name="adj" fmla="val 50000"/>
            </a:avLst>
          </a:prstGeom>
          <a:solidFill>
            <a:srgbClr val="3A3026"/>
          </a:solidFill>
          <a:ln w="7620">
            <a:solidFill>
              <a:srgbClr val="5A4939"/>
            </a:solidFill>
            <a:prstDash val="solid"/>
          </a:ln>
        </p:spPr>
        <p:txBody>
          <a:bodyPr/>
          <a:p/>
        </p:txBody>
      </p:sp>
      <p:sp>
        <p:nvSpPr>
          <p:cNvPr id="51" name="Text 41"/>
          <p:cNvSpPr/>
          <p:nvPr/>
        </p:nvSpPr>
        <p:spPr>
          <a:xfrm>
            <a:off x="8156448" y="5943600"/>
            <a:ext cx="1810512" cy="192024"/>
          </a:xfrm>
          <a:prstGeom prst="rect">
            <a:avLst/>
          </a:prstGeom>
          <a:noFill/>
          <a:ln/>
        </p:spPr>
        <p:txBody>
          <a:bodyPr wrap="square" lIns="0" tIns="0" rIns="0" bIns="0" rtlCol="0" anchor="ctr"/>
          <a:lstStyle/>
          <a:p>
            <a:pPr algn="ctr" indent="0" marL="0">
              <a:lnSpc>
                <a:spcPct val="100000"/>
              </a:lnSpc>
              <a:buNone/>
            </a:pPr>
            <a:r>
              <a:rPr lang="en-US" sz="640" b="1" spc="120" kern="0" dirty="0">
                <a:solidFill>
                  <a:srgbClr val="D97706"/>
                </a:solidFill>
                <a:latin typeface="Calibri" pitchFamily="34" charset="0"/>
                <a:ea typeface="Calibri" pitchFamily="34" charset="-122"/>
                <a:cs typeface="Calibri" pitchFamily="34" charset="-120"/>
              </a:rPr>
              <a:t>REUSABLE ACROSS SMEs</a:t>
            </a:r>
            <a:endParaRPr lang="en-US" sz="640" dirty="0"/>
          </a:p>
        </p:txBody>
      </p:sp>
      <p:sp>
        <p:nvSpPr>
          <p:cNvPr id="52" name="Text 42"/>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53" name="Text 43"/>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11</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FEASIBILITY &amp; ARCHITECTURE</a:t>
            </a:r>
            <a:endParaRPr lang="en-US" sz="900" dirty="0"/>
          </a:p>
        </p:txBody>
      </p:sp>
      <p:sp>
        <p:nvSpPr>
          <p:cNvPr id="3" name="Text 1"/>
          <p:cNvSpPr/>
          <p:nvPr/>
        </p:nvSpPr>
        <p:spPr>
          <a:xfrm>
            <a:off x="640080" y="640080"/>
            <a:ext cx="10515600" cy="960120"/>
          </a:xfrm>
          <a:prstGeom prst="rect">
            <a:avLst/>
          </a:prstGeom>
          <a:noFill/>
          <a:ln/>
        </p:spPr>
        <p:txBody>
          <a:bodyPr wrap="square" lIns="0" tIns="0" rIns="0" bIns="0" rtlCol="0" anchor="t"/>
          <a:lstStyle/>
          <a:p>
            <a:pPr algn="l" indent="0" marL="0">
              <a:lnSpc>
                <a:spcPct val="94000"/>
              </a:lnSpc>
              <a:buNone/>
            </a:pPr>
            <a:r>
              <a:rPr lang="en-US" sz="3200" b="1" dirty="0">
                <a:solidFill>
                  <a:srgbClr val="1B1714"/>
                </a:solidFill>
                <a:latin typeface="Cambria" pitchFamily="34" charset="0"/>
                <a:ea typeface="Cambria" pitchFamily="34" charset="-122"/>
                <a:cs typeface="Cambria" pitchFamily="34" charset="-120"/>
              </a:rPr>
              <a:t>Working today. Built to survive a pilot.</a:t>
            </a:r>
            <a:endParaRPr lang="en-US" sz="3200" dirty="0"/>
          </a:p>
        </p:txBody>
      </p:sp>
      <p:sp>
        <p:nvSpPr>
          <p:cNvPr id="4" name="Shape 2"/>
          <p:cNvSpPr/>
          <p:nvPr/>
        </p:nvSpPr>
        <p:spPr>
          <a:xfrm>
            <a:off x="640080" y="1572768"/>
            <a:ext cx="3255264" cy="3785616"/>
          </a:xfrm>
          <a:prstGeom prst="roundRect">
            <a:avLst>
              <a:gd name="adj" fmla="val 3371"/>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5" name="Text 3"/>
          <p:cNvSpPr/>
          <p:nvPr/>
        </p:nvSpPr>
        <p:spPr>
          <a:xfrm>
            <a:off x="859536" y="1755648"/>
            <a:ext cx="2377440" cy="201168"/>
          </a:xfrm>
          <a:prstGeom prst="rect">
            <a:avLst/>
          </a:prstGeom>
          <a:noFill/>
          <a:ln/>
        </p:spPr>
        <p:txBody>
          <a:bodyPr wrap="square" lIns="0" tIns="0" rIns="0" bIns="0" rtlCol="0" anchor="t"/>
          <a:lstStyle/>
          <a:p>
            <a:pPr algn="l" indent="0" marL="0">
              <a:lnSpc>
                <a:spcPct val="100000"/>
              </a:lnSpc>
              <a:buNone/>
            </a:pPr>
            <a:r>
              <a:rPr lang="en-US" sz="800" b="1" spc="150" kern="0" dirty="0">
                <a:solidFill>
                  <a:srgbClr val="D97706"/>
                </a:solidFill>
                <a:latin typeface="Calibri" pitchFamily="34" charset="0"/>
                <a:ea typeface="Calibri" pitchFamily="34" charset="-122"/>
                <a:cs typeface="Calibri" pitchFamily="34" charset="-120"/>
              </a:rPr>
              <a:t>BUILT</a:t>
            </a:r>
            <a:endParaRPr lang="en-US" sz="800" dirty="0"/>
          </a:p>
        </p:txBody>
      </p:sp>
      <p:pic>
        <p:nvPicPr>
          <p:cNvPr id="6" name="Image 0" descr="/private/tmp/soh-deck/icons/CheckCircle2-green.png">    </p:cNvPr>
          <p:cNvPicPr>
            <a:picLocks noChangeAspect="1"/>
          </p:cNvPicPr>
          <p:nvPr/>
        </p:nvPicPr>
        <p:blipFill>
          <a:blip r:embed="rId1"/>
          <a:stretch>
            <a:fillRect/>
          </a:stretch>
        </p:blipFill>
        <p:spPr>
          <a:xfrm>
            <a:off x="859536" y="2084832"/>
            <a:ext cx="182880" cy="182880"/>
          </a:xfrm>
          <a:prstGeom prst="rect">
            <a:avLst/>
          </a:prstGeom>
        </p:spPr>
      </p:pic>
      <p:sp>
        <p:nvSpPr>
          <p:cNvPr id="7" name="Text 4"/>
          <p:cNvSpPr/>
          <p:nvPr/>
        </p:nvSpPr>
        <p:spPr>
          <a:xfrm>
            <a:off x="1152144" y="2039112"/>
            <a:ext cx="2487168" cy="256032"/>
          </a:xfrm>
          <a:prstGeom prst="rect">
            <a:avLst/>
          </a:prstGeom>
          <a:noFill/>
          <a:ln/>
        </p:spPr>
        <p:txBody>
          <a:bodyPr wrap="square" lIns="0" tIns="0" rIns="0" bIns="0" rtlCol="0" anchor="t"/>
          <a:lstStyle/>
          <a:p>
            <a:pPr algn="l" indent="0" marL="0">
              <a:lnSpc>
                <a:spcPct val="100000"/>
              </a:lnSpc>
              <a:buNone/>
            </a:pPr>
            <a:r>
              <a:rPr lang="en-US" sz="930" dirty="0">
                <a:solidFill>
                  <a:srgbClr val="6B6258"/>
                </a:solidFill>
                <a:latin typeface="Calibri" pitchFamily="34" charset="0"/>
                <a:ea typeface="Calibri" pitchFamily="34" charset="-122"/>
                <a:cs typeface="Calibri" pitchFamily="34" charset="-120"/>
              </a:rPr>
              <a:t>React 19 + TypeScript + Tailwind</a:t>
            </a:r>
            <a:endParaRPr lang="en-US" sz="930" dirty="0"/>
          </a:p>
        </p:txBody>
      </p:sp>
      <p:pic>
        <p:nvPicPr>
          <p:cNvPr id="8" name="Image 1" descr="/private/tmp/soh-deck/icons/CheckCircle2-green.png">    </p:cNvPr>
          <p:cNvPicPr>
            <a:picLocks noChangeAspect="1"/>
          </p:cNvPicPr>
          <p:nvPr/>
        </p:nvPicPr>
        <p:blipFill>
          <a:blip r:embed="rId2"/>
          <a:stretch>
            <a:fillRect/>
          </a:stretch>
        </p:blipFill>
        <p:spPr>
          <a:xfrm>
            <a:off x="859536" y="2542032"/>
            <a:ext cx="182880" cy="182880"/>
          </a:xfrm>
          <a:prstGeom prst="rect">
            <a:avLst/>
          </a:prstGeom>
        </p:spPr>
      </p:pic>
      <p:sp>
        <p:nvSpPr>
          <p:cNvPr id="9" name="Text 5"/>
          <p:cNvSpPr/>
          <p:nvPr/>
        </p:nvSpPr>
        <p:spPr>
          <a:xfrm>
            <a:off x="1152144" y="2496312"/>
            <a:ext cx="2487168" cy="256032"/>
          </a:xfrm>
          <a:prstGeom prst="rect">
            <a:avLst/>
          </a:prstGeom>
          <a:noFill/>
          <a:ln/>
        </p:spPr>
        <p:txBody>
          <a:bodyPr wrap="square" lIns="0" tIns="0" rIns="0" bIns="0" rtlCol="0" anchor="t"/>
          <a:lstStyle/>
          <a:p>
            <a:pPr algn="l" indent="0" marL="0">
              <a:lnSpc>
                <a:spcPct val="100000"/>
              </a:lnSpc>
              <a:buNone/>
            </a:pPr>
            <a:r>
              <a:rPr lang="en-US" sz="930" dirty="0">
                <a:solidFill>
                  <a:srgbClr val="6B6258"/>
                </a:solidFill>
                <a:latin typeface="Calibri" pitchFamily="34" charset="0"/>
                <a:ea typeface="Calibri" pitchFamily="34" charset="-122"/>
                <a:cs typeface="Calibri" pitchFamily="34" charset="-120"/>
              </a:rPr>
              <a:t>FastAPI + Pydantic backend</a:t>
            </a:r>
            <a:endParaRPr lang="en-US" sz="930" dirty="0"/>
          </a:p>
        </p:txBody>
      </p:sp>
      <p:pic>
        <p:nvPicPr>
          <p:cNvPr id="10" name="Image 2" descr="/private/tmp/soh-deck/icons/CheckCircle2-green.png">    </p:cNvPr>
          <p:cNvPicPr>
            <a:picLocks noChangeAspect="1"/>
          </p:cNvPicPr>
          <p:nvPr/>
        </p:nvPicPr>
        <p:blipFill>
          <a:blip r:embed="rId3"/>
          <a:stretch>
            <a:fillRect/>
          </a:stretch>
        </p:blipFill>
        <p:spPr>
          <a:xfrm>
            <a:off x="859536" y="2999232"/>
            <a:ext cx="182880" cy="182880"/>
          </a:xfrm>
          <a:prstGeom prst="rect">
            <a:avLst/>
          </a:prstGeom>
        </p:spPr>
      </p:pic>
      <p:sp>
        <p:nvSpPr>
          <p:cNvPr id="11" name="Text 6"/>
          <p:cNvSpPr/>
          <p:nvPr/>
        </p:nvSpPr>
        <p:spPr>
          <a:xfrm>
            <a:off x="1152144" y="2953512"/>
            <a:ext cx="2487168" cy="256032"/>
          </a:xfrm>
          <a:prstGeom prst="rect">
            <a:avLst/>
          </a:prstGeom>
          <a:noFill/>
          <a:ln/>
        </p:spPr>
        <p:txBody>
          <a:bodyPr wrap="square" lIns="0" tIns="0" rIns="0" bIns="0" rtlCol="0" anchor="t"/>
          <a:lstStyle/>
          <a:p>
            <a:pPr algn="l" indent="0" marL="0">
              <a:lnSpc>
                <a:spcPct val="100000"/>
              </a:lnSpc>
              <a:buNone/>
            </a:pPr>
            <a:r>
              <a:rPr lang="en-US" sz="930" dirty="0">
                <a:solidFill>
                  <a:srgbClr val="6B6258"/>
                </a:solidFill>
                <a:latin typeface="Calibri" pitchFamily="34" charset="0"/>
                <a:ea typeface="Calibri" pitchFamily="34" charset="-122"/>
                <a:cs typeface="Calibri" pitchFamily="34" charset="-120"/>
              </a:rPr>
              <a:t>Read-only IMAP connector</a:t>
            </a:r>
            <a:endParaRPr lang="en-US" sz="930" dirty="0"/>
          </a:p>
        </p:txBody>
      </p:sp>
      <p:pic>
        <p:nvPicPr>
          <p:cNvPr id="12" name="Image 3" descr="/private/tmp/soh-deck/icons/CheckCircle2-green.png">    </p:cNvPr>
          <p:cNvPicPr>
            <a:picLocks noChangeAspect="1"/>
          </p:cNvPicPr>
          <p:nvPr/>
        </p:nvPicPr>
        <p:blipFill>
          <a:blip r:embed="rId4"/>
          <a:stretch>
            <a:fillRect/>
          </a:stretch>
        </p:blipFill>
        <p:spPr>
          <a:xfrm>
            <a:off x="859536" y="3456432"/>
            <a:ext cx="182880" cy="182880"/>
          </a:xfrm>
          <a:prstGeom prst="rect">
            <a:avLst/>
          </a:prstGeom>
        </p:spPr>
      </p:pic>
      <p:sp>
        <p:nvSpPr>
          <p:cNvPr id="13" name="Text 7"/>
          <p:cNvSpPr/>
          <p:nvPr/>
        </p:nvSpPr>
        <p:spPr>
          <a:xfrm>
            <a:off x="1152144" y="3410712"/>
            <a:ext cx="2487168" cy="256032"/>
          </a:xfrm>
          <a:prstGeom prst="rect">
            <a:avLst/>
          </a:prstGeom>
          <a:noFill/>
          <a:ln/>
        </p:spPr>
        <p:txBody>
          <a:bodyPr wrap="square" lIns="0" tIns="0" rIns="0" bIns="0" rtlCol="0" anchor="t"/>
          <a:lstStyle/>
          <a:p>
            <a:pPr algn="l" indent="0" marL="0">
              <a:lnSpc>
                <a:spcPct val="100000"/>
              </a:lnSpc>
              <a:buNone/>
            </a:pPr>
            <a:r>
              <a:rPr lang="en-US" sz="930" dirty="0">
                <a:solidFill>
                  <a:srgbClr val="6B6258"/>
                </a:solidFill>
                <a:latin typeface="Calibri" pitchFamily="34" charset="0"/>
                <a:ea typeface="Calibri" pitchFamily="34" charset="-122"/>
                <a:cs typeface="Calibri" pitchFamily="34" charset="-120"/>
              </a:rPr>
              <a:t>Atomic JSON store + file lock</a:t>
            </a:r>
            <a:endParaRPr lang="en-US" sz="930" dirty="0"/>
          </a:p>
        </p:txBody>
      </p:sp>
      <p:pic>
        <p:nvPicPr>
          <p:cNvPr id="14" name="Image 4" descr="/private/tmp/soh-deck/icons/CheckCircle2-green.png">    </p:cNvPr>
          <p:cNvPicPr>
            <a:picLocks noChangeAspect="1"/>
          </p:cNvPicPr>
          <p:nvPr/>
        </p:nvPicPr>
        <p:blipFill>
          <a:blip r:embed="rId5"/>
          <a:stretch>
            <a:fillRect/>
          </a:stretch>
        </p:blipFill>
        <p:spPr>
          <a:xfrm>
            <a:off x="859536" y="3913632"/>
            <a:ext cx="182880" cy="182880"/>
          </a:xfrm>
          <a:prstGeom prst="rect">
            <a:avLst/>
          </a:prstGeom>
        </p:spPr>
      </p:pic>
      <p:sp>
        <p:nvSpPr>
          <p:cNvPr id="15" name="Text 8"/>
          <p:cNvSpPr/>
          <p:nvPr/>
        </p:nvSpPr>
        <p:spPr>
          <a:xfrm>
            <a:off x="1152144" y="3867912"/>
            <a:ext cx="2487168" cy="256032"/>
          </a:xfrm>
          <a:prstGeom prst="rect">
            <a:avLst/>
          </a:prstGeom>
          <a:noFill/>
          <a:ln/>
        </p:spPr>
        <p:txBody>
          <a:bodyPr wrap="square" lIns="0" tIns="0" rIns="0" bIns="0" rtlCol="0" anchor="t"/>
          <a:lstStyle/>
          <a:p>
            <a:pPr algn="l" indent="0" marL="0">
              <a:lnSpc>
                <a:spcPct val="100000"/>
              </a:lnSpc>
              <a:buNone/>
            </a:pPr>
            <a:r>
              <a:rPr lang="en-US" sz="930" dirty="0">
                <a:solidFill>
                  <a:srgbClr val="6B6258"/>
                </a:solidFill>
                <a:latin typeface="Calibri" pitchFamily="34" charset="0"/>
                <a:ea typeface="Calibri" pitchFamily="34" charset="-122"/>
                <a:cs typeface="Calibri" pitchFamily="34" charset="-120"/>
              </a:rPr>
              <a:t>34 automated tests</a:t>
            </a:r>
            <a:endParaRPr lang="en-US" sz="930" dirty="0"/>
          </a:p>
        </p:txBody>
      </p:sp>
      <p:pic>
        <p:nvPicPr>
          <p:cNvPr id="16" name="Image 5" descr="/private/tmp/soh-deck/icons/CheckCircle2-green.png">    </p:cNvPr>
          <p:cNvPicPr>
            <a:picLocks noChangeAspect="1"/>
          </p:cNvPicPr>
          <p:nvPr/>
        </p:nvPicPr>
        <p:blipFill>
          <a:blip r:embed="rId6"/>
          <a:stretch>
            <a:fillRect/>
          </a:stretch>
        </p:blipFill>
        <p:spPr>
          <a:xfrm>
            <a:off x="859536" y="4370832"/>
            <a:ext cx="182880" cy="182880"/>
          </a:xfrm>
          <a:prstGeom prst="rect">
            <a:avLst/>
          </a:prstGeom>
        </p:spPr>
      </p:pic>
      <p:sp>
        <p:nvSpPr>
          <p:cNvPr id="17" name="Text 9"/>
          <p:cNvSpPr/>
          <p:nvPr/>
        </p:nvSpPr>
        <p:spPr>
          <a:xfrm>
            <a:off x="1152144" y="4325112"/>
            <a:ext cx="2487168" cy="256032"/>
          </a:xfrm>
          <a:prstGeom prst="rect">
            <a:avLst/>
          </a:prstGeom>
          <a:noFill/>
          <a:ln/>
        </p:spPr>
        <p:txBody>
          <a:bodyPr wrap="square" lIns="0" tIns="0" rIns="0" bIns="0" rtlCol="0" anchor="t"/>
          <a:lstStyle/>
          <a:p>
            <a:pPr algn="l" indent="0" marL="0">
              <a:lnSpc>
                <a:spcPct val="100000"/>
              </a:lnSpc>
              <a:buNone/>
            </a:pPr>
            <a:r>
              <a:rPr lang="en-US" sz="930" dirty="0">
                <a:solidFill>
                  <a:srgbClr val="6B6258"/>
                </a:solidFill>
                <a:latin typeface="Calibri" pitchFamily="34" charset="0"/>
                <a:ea typeface="Calibri" pitchFamily="34" charset="-122"/>
                <a:cs typeface="Calibri" pitchFamily="34" charset="-120"/>
              </a:rPr>
              <a:t>Live on Replit</a:t>
            </a:r>
            <a:endParaRPr lang="en-US" sz="930" dirty="0"/>
          </a:p>
        </p:txBody>
      </p:sp>
      <p:sp>
        <p:nvSpPr>
          <p:cNvPr id="18" name="Shape 10"/>
          <p:cNvSpPr/>
          <p:nvPr/>
        </p:nvSpPr>
        <p:spPr>
          <a:xfrm>
            <a:off x="4133088" y="1572768"/>
            <a:ext cx="3822192" cy="3785616"/>
          </a:xfrm>
          <a:prstGeom prst="roundRect">
            <a:avLst>
              <a:gd name="adj" fmla="val 2899"/>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9" name="Text 11"/>
          <p:cNvSpPr/>
          <p:nvPr/>
        </p:nvSpPr>
        <p:spPr>
          <a:xfrm>
            <a:off x="4352544" y="1755648"/>
            <a:ext cx="2560320" cy="201168"/>
          </a:xfrm>
          <a:prstGeom prst="rect">
            <a:avLst/>
          </a:prstGeom>
          <a:noFill/>
          <a:ln/>
        </p:spPr>
        <p:txBody>
          <a:bodyPr wrap="square" lIns="0" tIns="0" rIns="0" bIns="0" rtlCol="0" anchor="t"/>
          <a:lstStyle/>
          <a:p>
            <a:pPr algn="l" indent="0" marL="0">
              <a:lnSpc>
                <a:spcPct val="100000"/>
              </a:lnSpc>
              <a:buNone/>
            </a:pPr>
            <a:r>
              <a:rPr lang="en-US" sz="800" b="1" spc="150" kern="0" dirty="0">
                <a:solidFill>
                  <a:srgbClr val="D97706"/>
                </a:solidFill>
                <a:latin typeface="Calibri" pitchFamily="34" charset="0"/>
                <a:ea typeface="Calibri" pitchFamily="34" charset="-122"/>
                <a:cs typeface="Calibri" pitchFamily="34" charset="-120"/>
              </a:rPr>
              <a:t>ARCHITECTURE</a:t>
            </a:r>
            <a:endParaRPr lang="en-US" sz="800" dirty="0"/>
          </a:p>
        </p:txBody>
      </p:sp>
      <p:sp>
        <p:nvSpPr>
          <p:cNvPr id="20" name="Shape 12"/>
          <p:cNvSpPr/>
          <p:nvPr/>
        </p:nvSpPr>
        <p:spPr>
          <a:xfrm>
            <a:off x="4663440" y="2121408"/>
            <a:ext cx="2724912" cy="420624"/>
          </a:xfrm>
          <a:prstGeom prst="roundRect">
            <a:avLst>
              <a:gd name="adj" fmla="val 17391"/>
            </a:avLst>
          </a:prstGeom>
          <a:solidFill>
            <a:srgbClr val="1B1714"/>
          </a:solidFill>
          <a:ln w="10160">
            <a:solidFill>
              <a:srgbClr val="1B1714"/>
            </a:solidFill>
            <a:prstDash val="solid"/>
          </a:ln>
        </p:spPr>
        <p:txBody>
          <a:bodyPr/>
          <a:p/>
        </p:txBody>
      </p:sp>
      <p:sp>
        <p:nvSpPr>
          <p:cNvPr id="21" name="Text 13"/>
          <p:cNvSpPr/>
          <p:nvPr/>
        </p:nvSpPr>
        <p:spPr>
          <a:xfrm>
            <a:off x="4736592" y="2212848"/>
            <a:ext cx="2578608" cy="274320"/>
          </a:xfrm>
          <a:prstGeom prst="rect">
            <a:avLst/>
          </a:prstGeom>
          <a:noFill/>
          <a:ln/>
        </p:spPr>
        <p:txBody>
          <a:bodyPr wrap="square" lIns="0" tIns="0" rIns="0" bIns="0" rtlCol="0" anchor="ctr"/>
          <a:lstStyle/>
          <a:p>
            <a:pPr algn="ctr" indent="0" marL="0">
              <a:lnSpc>
                <a:spcPct val="100000"/>
              </a:lnSpc>
              <a:buNone/>
            </a:pPr>
            <a:r>
              <a:rPr lang="en-US" sz="840" b="1" dirty="0">
                <a:solidFill>
                  <a:srgbClr val="F7F2E8"/>
                </a:solidFill>
                <a:latin typeface="Calibri" pitchFamily="34" charset="0"/>
                <a:ea typeface="Calibri" pitchFamily="34" charset="-122"/>
                <a:cs typeface="Calibri" pitchFamily="34" charset="-120"/>
              </a:rPr>
              <a:t>React SPA</a:t>
            </a:r>
            <a:endParaRPr lang="en-US" sz="840" dirty="0"/>
          </a:p>
        </p:txBody>
      </p:sp>
      <p:sp>
        <p:nvSpPr>
          <p:cNvPr id="22" name="Shape 14"/>
          <p:cNvSpPr/>
          <p:nvPr/>
        </p:nvSpPr>
        <p:spPr>
          <a:xfrm>
            <a:off x="6025896" y="2578608"/>
            <a:ext cx="0" cy="164592"/>
          </a:xfrm>
          <a:prstGeom prst="line">
            <a:avLst/>
          </a:prstGeom>
          <a:noFill/>
          <a:ln w="15240">
            <a:solidFill>
              <a:srgbClr val="D97706"/>
            </a:solidFill>
            <a:prstDash val="solid"/>
            <a:tailEnd type="triangle"/>
          </a:ln>
        </p:spPr>
        <p:txBody>
          <a:bodyPr/>
          <a:p/>
        </p:txBody>
      </p:sp>
      <p:sp>
        <p:nvSpPr>
          <p:cNvPr id="23" name="Shape 15"/>
          <p:cNvSpPr/>
          <p:nvPr/>
        </p:nvSpPr>
        <p:spPr>
          <a:xfrm>
            <a:off x="4663440" y="2816352"/>
            <a:ext cx="2724912" cy="420624"/>
          </a:xfrm>
          <a:prstGeom prst="roundRect">
            <a:avLst>
              <a:gd name="adj" fmla="val 17391"/>
            </a:avLst>
          </a:prstGeom>
          <a:solidFill>
            <a:srgbClr val="D97706"/>
          </a:solidFill>
          <a:ln w="10160">
            <a:solidFill>
              <a:srgbClr val="D97706"/>
            </a:solidFill>
            <a:prstDash val="solid"/>
          </a:ln>
        </p:spPr>
        <p:txBody>
          <a:bodyPr/>
          <a:p/>
        </p:txBody>
      </p:sp>
      <p:sp>
        <p:nvSpPr>
          <p:cNvPr id="24" name="Text 16"/>
          <p:cNvSpPr/>
          <p:nvPr/>
        </p:nvSpPr>
        <p:spPr>
          <a:xfrm>
            <a:off x="4736592" y="2907792"/>
            <a:ext cx="2578608" cy="274320"/>
          </a:xfrm>
          <a:prstGeom prst="rect">
            <a:avLst/>
          </a:prstGeom>
          <a:noFill/>
          <a:ln/>
        </p:spPr>
        <p:txBody>
          <a:bodyPr wrap="square" lIns="0" tIns="0" rIns="0" bIns="0" rtlCol="0" anchor="ctr"/>
          <a:lstStyle/>
          <a:p>
            <a:pPr algn="ctr" indent="0" marL="0">
              <a:lnSpc>
                <a:spcPct val="100000"/>
              </a:lnSpc>
              <a:buNone/>
            </a:pPr>
            <a:r>
              <a:rPr lang="en-US" sz="840" b="1" dirty="0">
                <a:solidFill>
                  <a:srgbClr val="1B1714"/>
                </a:solidFill>
                <a:latin typeface="Calibri" pitchFamily="34" charset="0"/>
                <a:ea typeface="Calibri" pitchFamily="34" charset="-122"/>
                <a:cs typeface="Calibri" pitchFamily="34" charset="-120"/>
              </a:rPr>
              <a:t>FastAPI API</a:t>
            </a:r>
            <a:endParaRPr lang="en-US" sz="840" dirty="0"/>
          </a:p>
        </p:txBody>
      </p:sp>
      <p:sp>
        <p:nvSpPr>
          <p:cNvPr id="25" name="Shape 17"/>
          <p:cNvSpPr/>
          <p:nvPr/>
        </p:nvSpPr>
        <p:spPr>
          <a:xfrm>
            <a:off x="5349240" y="3273552"/>
            <a:ext cx="0" cy="128016"/>
          </a:xfrm>
          <a:prstGeom prst="line">
            <a:avLst/>
          </a:prstGeom>
          <a:noFill/>
          <a:ln w="15240">
            <a:solidFill>
              <a:srgbClr val="D97706"/>
            </a:solidFill>
            <a:prstDash val="solid"/>
            <a:tailEnd type="triangle"/>
          </a:ln>
        </p:spPr>
        <p:txBody>
          <a:bodyPr/>
          <a:p/>
        </p:txBody>
      </p:sp>
      <p:sp>
        <p:nvSpPr>
          <p:cNvPr id="26" name="Shape 18"/>
          <p:cNvSpPr/>
          <p:nvPr/>
        </p:nvSpPr>
        <p:spPr>
          <a:xfrm>
            <a:off x="6675120" y="3273552"/>
            <a:ext cx="0" cy="128016"/>
          </a:xfrm>
          <a:prstGeom prst="line">
            <a:avLst/>
          </a:prstGeom>
          <a:noFill/>
          <a:ln w="15240">
            <a:solidFill>
              <a:srgbClr val="D97706"/>
            </a:solidFill>
            <a:prstDash val="solid"/>
            <a:tailEnd type="triangle"/>
          </a:ln>
        </p:spPr>
        <p:txBody>
          <a:bodyPr/>
          <a:p/>
        </p:txBody>
      </p:sp>
      <p:sp>
        <p:nvSpPr>
          <p:cNvPr id="27" name="Shape 19"/>
          <p:cNvSpPr/>
          <p:nvPr/>
        </p:nvSpPr>
        <p:spPr>
          <a:xfrm>
            <a:off x="4352544" y="3511296"/>
            <a:ext cx="1408176" cy="402336"/>
          </a:xfrm>
          <a:prstGeom prst="roundRect">
            <a:avLst>
              <a:gd name="adj" fmla="val 18182"/>
            </a:avLst>
          </a:prstGeom>
          <a:solidFill>
            <a:srgbClr val="DFEDE4"/>
          </a:solidFill>
          <a:ln w="10160">
            <a:solidFill>
              <a:srgbClr val="2F6B4F"/>
            </a:solidFill>
            <a:prstDash val="solid"/>
          </a:ln>
        </p:spPr>
        <p:txBody>
          <a:bodyPr/>
          <a:p/>
        </p:txBody>
      </p:sp>
      <p:sp>
        <p:nvSpPr>
          <p:cNvPr id="28" name="Text 20"/>
          <p:cNvSpPr/>
          <p:nvPr/>
        </p:nvSpPr>
        <p:spPr>
          <a:xfrm>
            <a:off x="4425696" y="3602736"/>
            <a:ext cx="1261872" cy="256032"/>
          </a:xfrm>
          <a:prstGeom prst="rect">
            <a:avLst/>
          </a:prstGeom>
          <a:noFill/>
          <a:ln/>
        </p:spPr>
        <p:txBody>
          <a:bodyPr wrap="square" lIns="0" tIns="0" rIns="0" bIns="0" rtlCol="0" anchor="ctr"/>
          <a:lstStyle/>
          <a:p>
            <a:pPr algn="ctr" indent="0" marL="0">
              <a:lnSpc>
                <a:spcPct val="100000"/>
              </a:lnSpc>
              <a:buNone/>
            </a:pPr>
            <a:r>
              <a:rPr lang="en-US" sz="840" b="1" dirty="0">
                <a:solidFill>
                  <a:srgbClr val="2F6B4F"/>
                </a:solidFill>
                <a:latin typeface="Calibri" pitchFamily="34" charset="0"/>
                <a:ea typeface="Calibri" pitchFamily="34" charset="-122"/>
                <a:cs typeface="Calibri" pitchFamily="34" charset="-120"/>
              </a:rPr>
              <a:t>Rules &amp; risk</a:t>
            </a:r>
            <a:endParaRPr lang="en-US" sz="840" dirty="0"/>
          </a:p>
        </p:txBody>
      </p:sp>
      <p:sp>
        <p:nvSpPr>
          <p:cNvPr id="29" name="Shape 21"/>
          <p:cNvSpPr/>
          <p:nvPr/>
        </p:nvSpPr>
        <p:spPr>
          <a:xfrm>
            <a:off x="5980176" y="3511296"/>
            <a:ext cx="1737360" cy="402336"/>
          </a:xfrm>
          <a:prstGeom prst="roundRect">
            <a:avLst>
              <a:gd name="adj" fmla="val 18182"/>
            </a:avLst>
          </a:prstGeom>
          <a:solidFill>
            <a:srgbClr val="F1E7D8"/>
          </a:solidFill>
          <a:ln w="10160">
            <a:solidFill>
              <a:srgbClr val="E2CFB4"/>
            </a:solidFill>
            <a:prstDash val="solid"/>
          </a:ln>
        </p:spPr>
        <p:txBody>
          <a:bodyPr/>
          <a:p/>
        </p:txBody>
      </p:sp>
      <p:sp>
        <p:nvSpPr>
          <p:cNvPr id="30" name="Text 22"/>
          <p:cNvSpPr/>
          <p:nvPr/>
        </p:nvSpPr>
        <p:spPr>
          <a:xfrm>
            <a:off x="6053328" y="3602736"/>
            <a:ext cx="1591056" cy="256032"/>
          </a:xfrm>
          <a:prstGeom prst="rect">
            <a:avLst/>
          </a:prstGeom>
          <a:noFill/>
          <a:ln/>
        </p:spPr>
        <p:txBody>
          <a:bodyPr wrap="square" lIns="0" tIns="0" rIns="0" bIns="0" rtlCol="0" anchor="ctr"/>
          <a:lstStyle/>
          <a:p>
            <a:pPr algn="ctr" indent="0" marL="0">
              <a:lnSpc>
                <a:spcPct val="100000"/>
              </a:lnSpc>
              <a:buNone/>
            </a:pPr>
            <a:r>
              <a:rPr lang="en-US" sz="840" b="1" dirty="0">
                <a:solidFill>
                  <a:srgbClr val="1B1714"/>
                </a:solidFill>
                <a:latin typeface="Calibri" pitchFamily="34" charset="0"/>
                <a:ea typeface="Calibri" pitchFamily="34" charset="-122"/>
                <a:cs typeface="Calibri" pitchFamily="34" charset="-120"/>
              </a:rPr>
              <a:t>JSON store</a:t>
            </a:r>
            <a:endParaRPr lang="en-US" sz="840" dirty="0"/>
          </a:p>
        </p:txBody>
      </p:sp>
      <p:sp>
        <p:nvSpPr>
          <p:cNvPr id="31" name="Shape 23"/>
          <p:cNvSpPr/>
          <p:nvPr/>
        </p:nvSpPr>
        <p:spPr>
          <a:xfrm>
            <a:off x="5349240" y="3968496"/>
            <a:ext cx="0" cy="128016"/>
          </a:xfrm>
          <a:prstGeom prst="line">
            <a:avLst/>
          </a:prstGeom>
          <a:noFill/>
          <a:ln w="15240">
            <a:solidFill>
              <a:srgbClr val="D97706"/>
            </a:solidFill>
            <a:prstDash val="solid"/>
            <a:tailEnd type="triangle"/>
          </a:ln>
        </p:spPr>
        <p:txBody>
          <a:bodyPr/>
          <a:p/>
        </p:txBody>
      </p:sp>
      <p:sp>
        <p:nvSpPr>
          <p:cNvPr id="32" name="Shape 24"/>
          <p:cNvSpPr/>
          <p:nvPr/>
        </p:nvSpPr>
        <p:spPr>
          <a:xfrm>
            <a:off x="6675120" y="3968496"/>
            <a:ext cx="0" cy="128016"/>
          </a:xfrm>
          <a:prstGeom prst="line">
            <a:avLst/>
          </a:prstGeom>
          <a:noFill/>
          <a:ln w="15240">
            <a:solidFill>
              <a:srgbClr val="D97706"/>
            </a:solidFill>
            <a:prstDash val="solid"/>
            <a:tailEnd type="triangle"/>
          </a:ln>
        </p:spPr>
        <p:txBody>
          <a:bodyPr/>
          <a:p/>
        </p:txBody>
      </p:sp>
      <p:sp>
        <p:nvSpPr>
          <p:cNvPr id="33" name="Shape 25"/>
          <p:cNvSpPr/>
          <p:nvPr/>
        </p:nvSpPr>
        <p:spPr>
          <a:xfrm>
            <a:off x="4352544" y="4206240"/>
            <a:ext cx="1408176" cy="402336"/>
          </a:xfrm>
          <a:prstGeom prst="roundRect">
            <a:avLst>
              <a:gd name="adj" fmla="val 18182"/>
            </a:avLst>
          </a:prstGeom>
          <a:solidFill>
            <a:srgbClr val="E3EBF5"/>
          </a:solidFill>
          <a:ln w="10160">
            <a:solidFill>
              <a:srgbClr val="3B6EA5"/>
            </a:solidFill>
            <a:prstDash val="solid"/>
          </a:ln>
        </p:spPr>
        <p:txBody>
          <a:bodyPr/>
          <a:p/>
        </p:txBody>
      </p:sp>
      <p:sp>
        <p:nvSpPr>
          <p:cNvPr id="34" name="Text 26"/>
          <p:cNvSpPr/>
          <p:nvPr/>
        </p:nvSpPr>
        <p:spPr>
          <a:xfrm>
            <a:off x="4425696" y="4297680"/>
            <a:ext cx="1261872" cy="256032"/>
          </a:xfrm>
          <a:prstGeom prst="rect">
            <a:avLst/>
          </a:prstGeom>
          <a:noFill/>
          <a:ln/>
        </p:spPr>
        <p:txBody>
          <a:bodyPr wrap="square" lIns="0" tIns="0" rIns="0" bIns="0" rtlCol="0" anchor="ctr"/>
          <a:lstStyle/>
          <a:p>
            <a:pPr algn="ctr" indent="0" marL="0">
              <a:lnSpc>
                <a:spcPct val="100000"/>
              </a:lnSpc>
              <a:buNone/>
            </a:pPr>
            <a:r>
              <a:rPr lang="en-US" sz="840" b="1" dirty="0">
                <a:solidFill>
                  <a:srgbClr val="3B6EA5"/>
                </a:solidFill>
                <a:latin typeface="Calibri" pitchFamily="34" charset="0"/>
                <a:ea typeface="Calibri" pitchFamily="34" charset="-122"/>
                <a:cs typeface="Calibri" pitchFamily="34" charset="-120"/>
              </a:rPr>
              <a:t>IMAP inbox</a:t>
            </a:r>
            <a:endParaRPr lang="en-US" sz="840" dirty="0"/>
          </a:p>
        </p:txBody>
      </p:sp>
      <p:sp>
        <p:nvSpPr>
          <p:cNvPr id="35" name="Shape 27"/>
          <p:cNvSpPr/>
          <p:nvPr/>
        </p:nvSpPr>
        <p:spPr>
          <a:xfrm>
            <a:off x="5980176" y="4206240"/>
            <a:ext cx="1737360" cy="402336"/>
          </a:xfrm>
          <a:prstGeom prst="roundRect">
            <a:avLst>
              <a:gd name="adj" fmla="val 18182"/>
            </a:avLst>
          </a:prstGeom>
          <a:solidFill>
            <a:srgbClr val="F6E3C4"/>
          </a:solidFill>
          <a:ln w="10160">
            <a:solidFill>
              <a:srgbClr val="D97706"/>
            </a:solidFill>
            <a:prstDash val="solid"/>
          </a:ln>
        </p:spPr>
        <p:txBody>
          <a:bodyPr/>
          <a:p/>
        </p:txBody>
      </p:sp>
      <p:sp>
        <p:nvSpPr>
          <p:cNvPr id="36" name="Text 28"/>
          <p:cNvSpPr/>
          <p:nvPr/>
        </p:nvSpPr>
        <p:spPr>
          <a:xfrm>
            <a:off x="6053328" y="4297680"/>
            <a:ext cx="1591056" cy="256032"/>
          </a:xfrm>
          <a:prstGeom prst="rect">
            <a:avLst/>
          </a:prstGeom>
          <a:noFill/>
          <a:ln/>
        </p:spPr>
        <p:txBody>
          <a:bodyPr wrap="square" lIns="0" tIns="0" rIns="0" bIns="0" rtlCol="0" anchor="ctr"/>
          <a:lstStyle/>
          <a:p>
            <a:pPr algn="ctr" indent="0" marL="0">
              <a:lnSpc>
                <a:spcPct val="100000"/>
              </a:lnSpc>
              <a:buNone/>
            </a:pPr>
            <a:r>
              <a:rPr lang="en-US" sz="840" b="1" dirty="0">
                <a:solidFill>
                  <a:srgbClr val="D97706"/>
                </a:solidFill>
                <a:latin typeface="Calibri" pitchFamily="34" charset="0"/>
                <a:ea typeface="Calibri" pitchFamily="34" charset="-122"/>
                <a:cs typeface="Calibri" pitchFamily="34" charset="-120"/>
              </a:rPr>
              <a:t>AI (optional)</a:t>
            </a:r>
            <a:endParaRPr lang="en-US" sz="840" dirty="0"/>
          </a:p>
        </p:txBody>
      </p:sp>
      <p:sp>
        <p:nvSpPr>
          <p:cNvPr id="37" name="Text 29"/>
          <p:cNvSpPr/>
          <p:nvPr/>
        </p:nvSpPr>
        <p:spPr>
          <a:xfrm>
            <a:off x="4352544" y="4828032"/>
            <a:ext cx="3346704" cy="329184"/>
          </a:xfrm>
          <a:prstGeom prst="rect">
            <a:avLst/>
          </a:prstGeom>
          <a:noFill/>
          <a:ln/>
        </p:spPr>
        <p:txBody>
          <a:bodyPr wrap="square" lIns="0" tIns="0" rIns="0" bIns="0" rtlCol="0" anchor="t"/>
          <a:lstStyle/>
          <a:p>
            <a:pPr algn="l" indent="0" marL="0">
              <a:lnSpc>
                <a:spcPct val="98000"/>
              </a:lnSpc>
              <a:buNone/>
            </a:pPr>
            <a:r>
              <a:rPr lang="en-US" sz="770" dirty="0">
                <a:solidFill>
                  <a:srgbClr val="8C8073"/>
                </a:solidFill>
                <a:latin typeface="Calibri" pitchFamily="34" charset="0"/>
                <a:ea typeface="Calibri" pitchFamily="34" charset="-122"/>
                <a:cs typeface="Calibri" pitchFamily="34" charset="-120"/>
              </a:rPr>
              <a:t>Rules remain the source of truth for stock, margin and risk.</a:t>
            </a:r>
            <a:endParaRPr lang="en-US" sz="770" dirty="0"/>
          </a:p>
        </p:txBody>
      </p:sp>
      <p:sp>
        <p:nvSpPr>
          <p:cNvPr id="38" name="Shape 30"/>
          <p:cNvSpPr/>
          <p:nvPr/>
        </p:nvSpPr>
        <p:spPr>
          <a:xfrm>
            <a:off x="8193024" y="1572768"/>
            <a:ext cx="3346704" cy="3785616"/>
          </a:xfrm>
          <a:prstGeom prst="roundRect">
            <a:avLst>
              <a:gd name="adj" fmla="val 3552"/>
            </a:avLst>
          </a:prstGeom>
          <a:solidFill>
            <a:srgbClr val="1B1714"/>
          </a:solidFill>
          <a:ln w="10160">
            <a:solidFill>
              <a:srgbClr val="1B1714"/>
            </a:solidFill>
            <a:prstDash val="solid"/>
          </a:ln>
          <a:effectLst>
            <a:outerShdw sx="100000" sy="100000" kx="0" ky="0" algn="bl" rotWithShape="0" blurRad="31750" dist="50800" dir="2700000">
              <a:srgbClr val="4A3B2A">
                <a:alpha val="10000"/>
              </a:srgbClr>
            </a:outerShdw>
          </a:effectLst>
        </p:spPr>
        <p:txBody>
          <a:bodyPr/>
          <a:p/>
        </p:txBody>
      </p:sp>
      <p:sp>
        <p:nvSpPr>
          <p:cNvPr id="39" name="Text 31"/>
          <p:cNvSpPr/>
          <p:nvPr/>
        </p:nvSpPr>
        <p:spPr>
          <a:xfrm>
            <a:off x="8394192" y="1755648"/>
            <a:ext cx="2907792" cy="201168"/>
          </a:xfrm>
          <a:prstGeom prst="rect">
            <a:avLst/>
          </a:prstGeom>
          <a:noFill/>
          <a:ln/>
        </p:spPr>
        <p:txBody>
          <a:bodyPr wrap="square" lIns="0" tIns="0" rIns="0" bIns="0" rtlCol="0" anchor="t"/>
          <a:lstStyle/>
          <a:p>
            <a:pPr algn="l" indent="0" marL="0">
              <a:lnSpc>
                <a:spcPct val="100000"/>
              </a:lnSpc>
              <a:buNone/>
            </a:pPr>
            <a:r>
              <a:rPr lang="en-US" sz="780" b="1" spc="110" kern="0" dirty="0">
                <a:solidFill>
                  <a:srgbClr val="D97706"/>
                </a:solidFill>
                <a:latin typeface="Calibri" pitchFamily="34" charset="0"/>
                <a:ea typeface="Calibri" pitchFamily="34" charset="-122"/>
                <a:cs typeface="Calibri" pitchFamily="34" charset="-120"/>
              </a:rPr>
              <a:t>HARDEST RISK  →  FALLBACK</a:t>
            </a:r>
            <a:endParaRPr lang="en-US" sz="780" dirty="0"/>
          </a:p>
        </p:txBody>
      </p:sp>
      <p:sp>
        <p:nvSpPr>
          <p:cNvPr id="40" name="Shape 32"/>
          <p:cNvSpPr/>
          <p:nvPr/>
        </p:nvSpPr>
        <p:spPr>
          <a:xfrm>
            <a:off x="8394192" y="2103120"/>
            <a:ext cx="347472" cy="347472"/>
          </a:xfrm>
          <a:prstGeom prst="roundRect">
            <a:avLst>
              <a:gd name="adj" fmla="val 50000"/>
            </a:avLst>
          </a:prstGeom>
          <a:solidFill>
            <a:srgbClr val="3A3026"/>
          </a:solidFill>
          <a:ln w="12700">
            <a:solidFill>
              <a:srgbClr val="3A3026"/>
            </a:solidFill>
            <a:prstDash val="solid"/>
          </a:ln>
        </p:spPr>
        <p:txBody>
          <a:bodyPr/>
          <a:p/>
        </p:txBody>
      </p:sp>
      <p:pic>
        <p:nvPicPr>
          <p:cNvPr id="41" name="Image 6" descr="/private/tmp/soh-deck/icons/AlertTriangle-amber.png">    </p:cNvPr>
          <p:cNvPicPr>
            <a:picLocks noChangeAspect="1"/>
          </p:cNvPicPr>
          <p:nvPr/>
        </p:nvPicPr>
        <p:blipFill>
          <a:blip r:embed="rId7"/>
          <a:stretch>
            <a:fillRect/>
          </a:stretch>
        </p:blipFill>
        <p:spPr>
          <a:xfrm>
            <a:off x="8463686" y="2172614"/>
            <a:ext cx="208483" cy="208483"/>
          </a:xfrm>
          <a:prstGeom prst="rect">
            <a:avLst/>
          </a:prstGeom>
        </p:spPr>
      </p:pic>
      <p:sp>
        <p:nvSpPr>
          <p:cNvPr id="42" name="Text 33"/>
          <p:cNvSpPr/>
          <p:nvPr/>
        </p:nvSpPr>
        <p:spPr>
          <a:xfrm>
            <a:off x="8869680" y="2084832"/>
            <a:ext cx="2432304" cy="201168"/>
          </a:xfrm>
          <a:prstGeom prst="rect">
            <a:avLst/>
          </a:prstGeom>
          <a:noFill/>
          <a:ln/>
        </p:spPr>
        <p:txBody>
          <a:bodyPr wrap="square" lIns="0" tIns="0" rIns="0" bIns="0" rtlCol="0" anchor="t"/>
          <a:lstStyle/>
          <a:p>
            <a:pPr algn="l" indent="0" marL="0">
              <a:lnSpc>
                <a:spcPct val="100000"/>
              </a:lnSpc>
              <a:buNone/>
            </a:pPr>
            <a:r>
              <a:rPr lang="en-US" sz="960" b="1" dirty="0">
                <a:solidFill>
                  <a:srgbClr val="F7F2E8"/>
                </a:solidFill>
                <a:latin typeface="Calibri" pitchFamily="34" charset="0"/>
                <a:ea typeface="Calibri" pitchFamily="34" charset="-122"/>
                <a:cs typeface="Calibri" pitchFamily="34" charset="-120"/>
              </a:rPr>
              <a:t>No live Orbyte access</a:t>
            </a:r>
            <a:endParaRPr lang="en-US" sz="960" dirty="0"/>
          </a:p>
        </p:txBody>
      </p:sp>
      <p:sp>
        <p:nvSpPr>
          <p:cNvPr id="43" name="Text 34"/>
          <p:cNvSpPr/>
          <p:nvPr/>
        </p:nvSpPr>
        <p:spPr>
          <a:xfrm>
            <a:off x="8869680" y="2322576"/>
            <a:ext cx="2395728" cy="438912"/>
          </a:xfrm>
          <a:prstGeom prst="rect">
            <a:avLst/>
          </a:prstGeom>
          <a:noFill/>
          <a:ln/>
        </p:spPr>
        <p:txBody>
          <a:bodyPr wrap="square" lIns="0" tIns="0" rIns="0" bIns="0" rtlCol="0" anchor="t"/>
          <a:lstStyle/>
          <a:p>
            <a:pPr algn="l" indent="0" marL="0">
              <a:lnSpc>
                <a:spcPct val="98000"/>
              </a:lnSpc>
              <a:buNone/>
            </a:pPr>
            <a:r>
              <a:rPr lang="en-US" sz="820" dirty="0">
                <a:solidFill>
                  <a:srgbClr val="C9BBAA"/>
                </a:solidFill>
                <a:latin typeface="Calibri" pitchFamily="34" charset="0"/>
                <a:ea typeface="Calibri" pitchFamily="34" charset="-122"/>
                <a:cs typeface="Calibri" pitchFamily="34" charset="-120"/>
              </a:rPr>
              <a:t>Mock adapter; no dependency for the demo.</a:t>
            </a:r>
            <a:endParaRPr lang="en-US" sz="820" dirty="0"/>
          </a:p>
        </p:txBody>
      </p:sp>
      <p:sp>
        <p:nvSpPr>
          <p:cNvPr id="44" name="Shape 35"/>
          <p:cNvSpPr/>
          <p:nvPr/>
        </p:nvSpPr>
        <p:spPr>
          <a:xfrm>
            <a:off x="8394192" y="3108960"/>
            <a:ext cx="347472" cy="347472"/>
          </a:xfrm>
          <a:prstGeom prst="roundRect">
            <a:avLst>
              <a:gd name="adj" fmla="val 50000"/>
            </a:avLst>
          </a:prstGeom>
          <a:solidFill>
            <a:srgbClr val="3A3026"/>
          </a:solidFill>
          <a:ln w="12700">
            <a:solidFill>
              <a:srgbClr val="3A3026"/>
            </a:solidFill>
            <a:prstDash val="solid"/>
          </a:ln>
        </p:spPr>
        <p:txBody>
          <a:bodyPr/>
          <a:p/>
        </p:txBody>
      </p:sp>
      <p:pic>
        <p:nvPicPr>
          <p:cNvPr id="45" name="Image 7" descr="/private/tmp/soh-deck/icons/AlertTriangle-amber.png">    </p:cNvPr>
          <p:cNvPicPr>
            <a:picLocks noChangeAspect="1"/>
          </p:cNvPicPr>
          <p:nvPr/>
        </p:nvPicPr>
        <p:blipFill>
          <a:blip r:embed="rId8"/>
          <a:stretch>
            <a:fillRect/>
          </a:stretch>
        </p:blipFill>
        <p:spPr>
          <a:xfrm>
            <a:off x="8463686" y="3178454"/>
            <a:ext cx="208483" cy="208483"/>
          </a:xfrm>
          <a:prstGeom prst="rect">
            <a:avLst/>
          </a:prstGeom>
        </p:spPr>
      </p:pic>
      <p:sp>
        <p:nvSpPr>
          <p:cNvPr id="46" name="Text 36"/>
          <p:cNvSpPr/>
          <p:nvPr/>
        </p:nvSpPr>
        <p:spPr>
          <a:xfrm>
            <a:off x="8869680" y="3090672"/>
            <a:ext cx="2432304" cy="201168"/>
          </a:xfrm>
          <a:prstGeom prst="rect">
            <a:avLst/>
          </a:prstGeom>
          <a:noFill/>
          <a:ln/>
        </p:spPr>
        <p:txBody>
          <a:bodyPr wrap="square" lIns="0" tIns="0" rIns="0" bIns="0" rtlCol="0" anchor="t"/>
          <a:lstStyle/>
          <a:p>
            <a:pPr algn="l" indent="0" marL="0">
              <a:lnSpc>
                <a:spcPct val="100000"/>
              </a:lnSpc>
              <a:buNone/>
            </a:pPr>
            <a:r>
              <a:rPr lang="en-US" sz="960" b="1" dirty="0">
                <a:solidFill>
                  <a:srgbClr val="F7F2E8"/>
                </a:solidFill>
                <a:latin typeface="Calibri" pitchFamily="34" charset="0"/>
                <a:ea typeface="Calibri" pitchFamily="34" charset="-122"/>
                <a:cs typeface="Calibri" pitchFamily="34" charset="-120"/>
              </a:rPr>
              <a:t>AI output varies</a:t>
            </a:r>
            <a:endParaRPr lang="en-US" sz="960" dirty="0"/>
          </a:p>
        </p:txBody>
      </p:sp>
      <p:sp>
        <p:nvSpPr>
          <p:cNvPr id="47" name="Text 37"/>
          <p:cNvSpPr/>
          <p:nvPr/>
        </p:nvSpPr>
        <p:spPr>
          <a:xfrm>
            <a:off x="8869680" y="3328416"/>
            <a:ext cx="2395728" cy="438912"/>
          </a:xfrm>
          <a:prstGeom prst="rect">
            <a:avLst/>
          </a:prstGeom>
          <a:noFill/>
          <a:ln/>
        </p:spPr>
        <p:txBody>
          <a:bodyPr wrap="square" lIns="0" tIns="0" rIns="0" bIns="0" rtlCol="0" anchor="t"/>
          <a:lstStyle/>
          <a:p>
            <a:pPr algn="l" indent="0" marL="0">
              <a:lnSpc>
                <a:spcPct val="98000"/>
              </a:lnSpc>
              <a:buNone/>
            </a:pPr>
            <a:r>
              <a:rPr lang="en-US" sz="820" dirty="0">
                <a:solidFill>
                  <a:srgbClr val="C9BBAA"/>
                </a:solidFill>
                <a:latin typeface="Calibri" pitchFamily="34" charset="0"/>
                <a:ea typeface="Calibri" pitchFamily="34" charset="-122"/>
                <a:cs typeface="Calibri" pitchFamily="34" charset="-120"/>
              </a:rPr>
              <a:t>Rule extraction fallback + human approval.</a:t>
            </a:r>
            <a:endParaRPr lang="en-US" sz="820" dirty="0"/>
          </a:p>
        </p:txBody>
      </p:sp>
      <p:sp>
        <p:nvSpPr>
          <p:cNvPr id="48" name="Shape 38"/>
          <p:cNvSpPr/>
          <p:nvPr/>
        </p:nvSpPr>
        <p:spPr>
          <a:xfrm>
            <a:off x="8394192" y="4114800"/>
            <a:ext cx="347472" cy="347472"/>
          </a:xfrm>
          <a:prstGeom prst="roundRect">
            <a:avLst>
              <a:gd name="adj" fmla="val 50000"/>
            </a:avLst>
          </a:prstGeom>
          <a:solidFill>
            <a:srgbClr val="3A3026"/>
          </a:solidFill>
          <a:ln w="12700">
            <a:solidFill>
              <a:srgbClr val="3A3026"/>
            </a:solidFill>
            <a:prstDash val="solid"/>
          </a:ln>
        </p:spPr>
        <p:txBody>
          <a:bodyPr/>
          <a:p/>
        </p:txBody>
      </p:sp>
      <p:pic>
        <p:nvPicPr>
          <p:cNvPr id="49" name="Image 8" descr="/private/tmp/soh-deck/icons/AlertTriangle-amber.png">    </p:cNvPr>
          <p:cNvPicPr>
            <a:picLocks noChangeAspect="1"/>
          </p:cNvPicPr>
          <p:nvPr/>
        </p:nvPicPr>
        <p:blipFill>
          <a:blip r:embed="rId9"/>
          <a:stretch>
            <a:fillRect/>
          </a:stretch>
        </p:blipFill>
        <p:spPr>
          <a:xfrm>
            <a:off x="8463686" y="4184294"/>
            <a:ext cx="208483" cy="208483"/>
          </a:xfrm>
          <a:prstGeom prst="rect">
            <a:avLst/>
          </a:prstGeom>
        </p:spPr>
      </p:pic>
      <p:sp>
        <p:nvSpPr>
          <p:cNvPr id="50" name="Text 39"/>
          <p:cNvSpPr/>
          <p:nvPr/>
        </p:nvSpPr>
        <p:spPr>
          <a:xfrm>
            <a:off x="8869680" y="4096512"/>
            <a:ext cx="2432304" cy="201168"/>
          </a:xfrm>
          <a:prstGeom prst="rect">
            <a:avLst/>
          </a:prstGeom>
          <a:noFill/>
          <a:ln/>
        </p:spPr>
        <p:txBody>
          <a:bodyPr wrap="square" lIns="0" tIns="0" rIns="0" bIns="0" rtlCol="0" anchor="t"/>
          <a:lstStyle/>
          <a:p>
            <a:pPr algn="l" indent="0" marL="0">
              <a:lnSpc>
                <a:spcPct val="100000"/>
              </a:lnSpc>
              <a:buNone/>
            </a:pPr>
            <a:r>
              <a:rPr lang="en-US" sz="960" b="1" dirty="0">
                <a:solidFill>
                  <a:srgbClr val="F7F2E8"/>
                </a:solidFill>
                <a:latin typeface="Calibri" pitchFamily="34" charset="0"/>
                <a:ea typeface="Calibri" pitchFamily="34" charset="-122"/>
                <a:cs typeface="Calibri" pitchFamily="34" charset="-120"/>
              </a:rPr>
              <a:t>Email provider limits</a:t>
            </a:r>
            <a:endParaRPr lang="en-US" sz="960" dirty="0"/>
          </a:p>
        </p:txBody>
      </p:sp>
      <p:sp>
        <p:nvSpPr>
          <p:cNvPr id="51" name="Text 40"/>
          <p:cNvSpPr/>
          <p:nvPr/>
        </p:nvSpPr>
        <p:spPr>
          <a:xfrm>
            <a:off x="8869680" y="4334256"/>
            <a:ext cx="2395728" cy="438912"/>
          </a:xfrm>
          <a:prstGeom prst="rect">
            <a:avLst/>
          </a:prstGeom>
          <a:noFill/>
          <a:ln/>
        </p:spPr>
        <p:txBody>
          <a:bodyPr wrap="square" lIns="0" tIns="0" rIns="0" bIns="0" rtlCol="0" anchor="t"/>
          <a:lstStyle/>
          <a:p>
            <a:pPr algn="l" indent="0" marL="0">
              <a:lnSpc>
                <a:spcPct val="98000"/>
              </a:lnSpc>
              <a:buNone/>
            </a:pPr>
            <a:r>
              <a:rPr lang="en-US" sz="820" dirty="0">
                <a:solidFill>
                  <a:srgbClr val="C9BBAA"/>
                </a:solidFill>
                <a:latin typeface="Calibri" pitchFamily="34" charset="0"/>
                <a:ea typeface="Calibri" pitchFamily="34" charset="-122"/>
                <a:cs typeface="Calibri" pitchFamily="34" charset="-120"/>
              </a:rPr>
              <a:t>IMAP app password today; OAuth next.</a:t>
            </a:r>
            <a:endParaRPr lang="en-US" sz="820" dirty="0"/>
          </a:p>
        </p:txBody>
      </p:sp>
      <p:sp>
        <p:nvSpPr>
          <p:cNvPr id="52" name="Shape 41"/>
          <p:cNvSpPr/>
          <p:nvPr/>
        </p:nvSpPr>
        <p:spPr>
          <a:xfrm>
            <a:off x="8394192" y="5056632"/>
            <a:ext cx="2212848" cy="219456"/>
          </a:xfrm>
          <a:prstGeom prst="roundRect">
            <a:avLst>
              <a:gd name="adj" fmla="val 50000"/>
            </a:avLst>
          </a:prstGeom>
          <a:solidFill>
            <a:srgbClr val="3A3026"/>
          </a:solidFill>
          <a:ln w="7620">
            <a:solidFill>
              <a:srgbClr val="5A4939"/>
            </a:solidFill>
            <a:prstDash val="solid"/>
          </a:ln>
        </p:spPr>
        <p:txBody>
          <a:bodyPr/>
          <a:p/>
        </p:txBody>
      </p:sp>
      <p:sp>
        <p:nvSpPr>
          <p:cNvPr id="53" name="Text 42"/>
          <p:cNvSpPr/>
          <p:nvPr/>
        </p:nvSpPr>
        <p:spPr>
          <a:xfrm>
            <a:off x="8485632" y="5074920"/>
            <a:ext cx="2029968" cy="192024"/>
          </a:xfrm>
          <a:prstGeom prst="rect">
            <a:avLst/>
          </a:prstGeom>
          <a:noFill/>
          <a:ln/>
        </p:spPr>
        <p:txBody>
          <a:bodyPr wrap="square" lIns="0" tIns="0" rIns="0" bIns="0" rtlCol="0" anchor="ctr"/>
          <a:lstStyle/>
          <a:p>
            <a:pPr algn="ctr" indent="0" marL="0">
              <a:lnSpc>
                <a:spcPct val="100000"/>
              </a:lnSpc>
              <a:buNone/>
            </a:pPr>
            <a:r>
              <a:rPr lang="en-US" sz="620" b="1" spc="120" kern="0" dirty="0">
                <a:solidFill>
                  <a:srgbClr val="D97706"/>
                </a:solidFill>
                <a:latin typeface="Calibri" pitchFamily="34" charset="0"/>
                <a:ea typeface="Calibri" pitchFamily="34" charset="-122"/>
                <a:cs typeface="Calibri" pitchFamily="34" charset="-120"/>
              </a:rPr>
              <a:t>NO LIVE ORBYTE DEPENDENCY</a:t>
            </a:r>
            <a:endParaRPr lang="en-US" sz="620" dirty="0"/>
          </a:p>
        </p:txBody>
      </p:sp>
      <p:sp>
        <p:nvSpPr>
          <p:cNvPr id="54" name="Shape 43"/>
          <p:cNvSpPr/>
          <p:nvPr/>
        </p:nvSpPr>
        <p:spPr>
          <a:xfrm>
            <a:off x="640080" y="5596128"/>
            <a:ext cx="10899648" cy="566928"/>
          </a:xfrm>
          <a:prstGeom prst="roundRect">
            <a:avLst>
              <a:gd name="adj" fmla="val 19355"/>
            </a:avLst>
          </a:prstGeom>
          <a:solidFill>
            <a:srgbClr val="F1E7D8"/>
          </a:solidFill>
          <a:ln w="10160">
            <a:solidFill>
              <a:srgbClr val="E2CFB4"/>
            </a:solidFill>
            <a:prstDash val="solid"/>
          </a:ln>
        </p:spPr>
        <p:txBody>
          <a:bodyPr/>
          <a:p/>
        </p:txBody>
      </p:sp>
      <p:sp>
        <p:nvSpPr>
          <p:cNvPr id="55" name="Text 44"/>
          <p:cNvSpPr/>
          <p:nvPr/>
        </p:nvSpPr>
        <p:spPr>
          <a:xfrm>
            <a:off x="841248" y="5760720"/>
            <a:ext cx="10469880" cy="219456"/>
          </a:xfrm>
          <a:prstGeom prst="rect">
            <a:avLst/>
          </a:prstGeom>
          <a:noFill/>
          <a:ln/>
        </p:spPr>
        <p:txBody>
          <a:bodyPr wrap="square" lIns="0" tIns="0" rIns="0" bIns="0" rtlCol="0" anchor="t"/>
          <a:lstStyle/>
          <a:p>
            <a:pPr algn="l" indent="0" marL="0">
              <a:lnSpc>
                <a:spcPct val="100000"/>
              </a:lnSpc>
              <a:buNone/>
            </a:pPr>
            <a:r>
              <a:rPr lang="en-US" sz="840" dirty="0">
                <a:solidFill>
                  <a:srgbClr val="6B6258"/>
                </a:solidFill>
                <a:latin typeface="Calibri" pitchFamily="34" charset="0"/>
                <a:ea typeface="Calibri" pitchFamily="34" charset="-122"/>
                <a:cs typeface="Calibri" pitchFamily="34" charset="-120"/>
              </a:rPr>
              <a:t>Security:  owner password option  ·  CORS allowlist  ·  read-only IMAP  ·  CSV-injection guards  ·  no secrets in the repo</a:t>
            </a:r>
            <a:endParaRPr lang="en-US" sz="840" dirty="0"/>
          </a:p>
        </p:txBody>
      </p:sp>
      <p:sp>
        <p:nvSpPr>
          <p:cNvPr id="56" name="Text 45"/>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57" name="Text 46"/>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12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IMPACT &amp; SDG</a:t>
            </a:r>
            <a:endParaRPr lang="en-US" sz="900" dirty="0"/>
          </a:p>
        </p:txBody>
      </p:sp>
      <p:sp>
        <p:nvSpPr>
          <p:cNvPr id="3" name="Text 1"/>
          <p:cNvSpPr/>
          <p:nvPr/>
        </p:nvSpPr>
        <p:spPr>
          <a:xfrm>
            <a:off x="640080" y="640080"/>
            <a:ext cx="10881360" cy="960120"/>
          </a:xfrm>
          <a:prstGeom prst="rect">
            <a:avLst/>
          </a:prstGeom>
          <a:noFill/>
          <a:ln/>
        </p:spPr>
        <p:txBody>
          <a:bodyPr wrap="square" lIns="0" tIns="0" rIns="0" bIns="0" rtlCol="0" anchor="t"/>
          <a:lstStyle/>
          <a:p>
            <a:pPr algn="l" indent="0" marL="0">
              <a:lnSpc>
                <a:spcPct val="94000"/>
              </a:lnSpc>
              <a:buNone/>
            </a:pPr>
            <a:r>
              <a:rPr lang="en-US" sz="3600" b="1" dirty="0">
                <a:solidFill>
                  <a:srgbClr val="1B1714"/>
                </a:solidFill>
                <a:latin typeface="Cambria" pitchFamily="34" charset="0"/>
                <a:ea typeface="Cambria" pitchFamily="34" charset="-122"/>
                <a:cs typeface="Cambria" pitchFamily="34" charset="-120"/>
              </a:rPr>
              <a:t>Less busywork. Better business.</a:t>
            </a:r>
            <a:endParaRPr lang="en-US" sz="3600" dirty="0"/>
          </a:p>
        </p:txBody>
      </p:sp>
      <p:sp>
        <p:nvSpPr>
          <p:cNvPr id="4" name="Text 2"/>
          <p:cNvSpPr/>
          <p:nvPr/>
        </p:nvSpPr>
        <p:spPr>
          <a:xfrm>
            <a:off x="640080" y="1435608"/>
            <a:ext cx="9144000" cy="256032"/>
          </a:xfrm>
          <a:prstGeom prst="rect">
            <a:avLst/>
          </a:prstGeom>
          <a:noFill/>
          <a:ln/>
        </p:spPr>
        <p:txBody>
          <a:bodyPr wrap="square" lIns="0" tIns="0" rIns="0" bIns="0" rtlCol="0" anchor="t"/>
          <a:lstStyle/>
          <a:p>
            <a:pPr algn="l" indent="0" marL="0">
              <a:lnSpc>
                <a:spcPct val="100000"/>
              </a:lnSpc>
              <a:buNone/>
            </a:pPr>
            <a:r>
              <a:rPr lang="en-US" sz="1220" dirty="0">
                <a:solidFill>
                  <a:srgbClr val="6B6258"/>
                </a:solidFill>
                <a:latin typeface="Calibri" pitchFamily="34" charset="0"/>
                <a:ea typeface="Calibri" pitchFamily="34" charset="-122"/>
                <a:cs typeface="Calibri" pitchFamily="34" charset="-120"/>
              </a:rPr>
              <a:t>What changes for the owner — and what we will prove in a pilot.</a:t>
            </a:r>
            <a:endParaRPr lang="en-US" sz="1220" dirty="0"/>
          </a:p>
        </p:txBody>
      </p:sp>
      <p:sp>
        <p:nvSpPr>
          <p:cNvPr id="5" name="Shape 3"/>
          <p:cNvSpPr/>
          <p:nvPr/>
        </p:nvSpPr>
        <p:spPr>
          <a:xfrm>
            <a:off x="640080" y="1810512"/>
            <a:ext cx="2560320" cy="1280160"/>
          </a:xfrm>
          <a:prstGeom prst="roundRect">
            <a:avLst>
              <a:gd name="adj" fmla="val 8571"/>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6" name="Shape 4"/>
          <p:cNvSpPr/>
          <p:nvPr/>
        </p:nvSpPr>
        <p:spPr>
          <a:xfrm>
            <a:off x="2798064" y="1938528"/>
            <a:ext cx="274320" cy="274320"/>
          </a:xfrm>
          <a:prstGeom prst="roundRect">
            <a:avLst>
              <a:gd name="adj" fmla="val 50000"/>
            </a:avLst>
          </a:prstGeom>
          <a:solidFill>
            <a:srgbClr val="F6E3C4"/>
          </a:solidFill>
          <a:ln w="12700">
            <a:solidFill>
              <a:srgbClr val="F6E3C4"/>
            </a:solidFill>
            <a:prstDash val="solid"/>
          </a:ln>
        </p:spPr>
        <p:txBody>
          <a:bodyPr/>
          <a:p/>
        </p:txBody>
      </p:sp>
      <p:pic>
        <p:nvPicPr>
          <p:cNvPr id="7" name="Image 0" descr="/private/tmp/soh-deck/icons/Inbox-amber.png">    </p:cNvPr>
          <p:cNvPicPr>
            <a:picLocks noChangeAspect="1"/>
          </p:cNvPicPr>
          <p:nvPr/>
        </p:nvPicPr>
        <p:blipFill>
          <a:blip r:embed="rId1"/>
          <a:stretch>
            <a:fillRect/>
          </a:stretch>
        </p:blipFill>
        <p:spPr>
          <a:xfrm>
            <a:off x="2852928" y="1993392"/>
            <a:ext cx="164592" cy="164592"/>
          </a:xfrm>
          <a:prstGeom prst="rect">
            <a:avLst/>
          </a:prstGeom>
        </p:spPr>
      </p:pic>
      <p:sp>
        <p:nvSpPr>
          <p:cNvPr id="8" name="Text 5"/>
          <p:cNvSpPr/>
          <p:nvPr/>
        </p:nvSpPr>
        <p:spPr>
          <a:xfrm>
            <a:off x="822960" y="1938528"/>
            <a:ext cx="1874520" cy="457200"/>
          </a:xfrm>
          <a:prstGeom prst="rect">
            <a:avLst/>
          </a:prstGeom>
          <a:noFill/>
          <a:ln/>
        </p:spPr>
        <p:txBody>
          <a:bodyPr wrap="square" lIns="0" tIns="0" rIns="0" bIns="0" rtlCol="0" anchor="t"/>
          <a:lstStyle/>
          <a:p>
            <a:pPr algn="l" indent="0" marL="0">
              <a:lnSpc>
                <a:spcPct val="100000"/>
              </a:lnSpc>
              <a:buNone/>
            </a:pPr>
            <a:r>
              <a:rPr lang="en-US" sz="2400" b="1" dirty="0">
                <a:solidFill>
                  <a:srgbClr val="1B1714"/>
                </a:solidFill>
                <a:latin typeface="Cambria" pitchFamily="34" charset="0"/>
                <a:ea typeface="Cambria" pitchFamily="34" charset="-122"/>
                <a:cs typeface="Cambria" pitchFamily="34" charset="-120"/>
              </a:rPr>
              <a:t>34 → 15</a:t>
            </a:r>
            <a:endParaRPr lang="en-US" sz="2400" dirty="0"/>
          </a:p>
        </p:txBody>
      </p:sp>
      <p:sp>
        <p:nvSpPr>
          <p:cNvPr id="9" name="Text 6"/>
          <p:cNvSpPr/>
          <p:nvPr/>
        </p:nvSpPr>
        <p:spPr>
          <a:xfrm>
            <a:off x="822960" y="2441448"/>
            <a:ext cx="2212848" cy="310896"/>
          </a:xfrm>
          <a:prstGeom prst="rect">
            <a:avLst/>
          </a:prstGeom>
          <a:noFill/>
          <a:ln/>
        </p:spPr>
        <p:txBody>
          <a:bodyPr wrap="square" lIns="0" tIns="0" rIns="0" bIns="0" rtlCol="0" anchor="t"/>
          <a:lstStyle/>
          <a:p>
            <a:pPr algn="l" indent="0" marL="0">
              <a:lnSpc>
                <a:spcPct val="98000"/>
              </a:lnSpc>
              <a:buNone/>
            </a:pPr>
            <a:r>
              <a:rPr lang="en-US" sz="840" dirty="0">
                <a:solidFill>
                  <a:srgbClr val="6B6258"/>
                </a:solidFill>
                <a:latin typeface="Calibri" pitchFamily="34" charset="0"/>
                <a:ea typeface="Calibri" pitchFamily="34" charset="-122"/>
                <a:cs typeface="Calibri" pitchFamily="34" charset="-120"/>
              </a:rPr>
              <a:t>messages → reviewable orders</a:t>
            </a:r>
            <a:endParaRPr lang="en-US" sz="840" dirty="0"/>
          </a:p>
        </p:txBody>
      </p:sp>
      <p:sp>
        <p:nvSpPr>
          <p:cNvPr id="10" name="Shape 7"/>
          <p:cNvSpPr/>
          <p:nvPr/>
        </p:nvSpPr>
        <p:spPr>
          <a:xfrm>
            <a:off x="3429000" y="1810512"/>
            <a:ext cx="2560320" cy="1280160"/>
          </a:xfrm>
          <a:prstGeom prst="roundRect">
            <a:avLst>
              <a:gd name="adj" fmla="val 8571"/>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1" name="Shape 8"/>
          <p:cNvSpPr/>
          <p:nvPr/>
        </p:nvSpPr>
        <p:spPr>
          <a:xfrm>
            <a:off x="5586984" y="1938528"/>
            <a:ext cx="274320" cy="274320"/>
          </a:xfrm>
          <a:prstGeom prst="roundRect">
            <a:avLst>
              <a:gd name="adj" fmla="val 50000"/>
            </a:avLst>
          </a:prstGeom>
          <a:solidFill>
            <a:srgbClr val="DFEDE4"/>
          </a:solidFill>
          <a:ln w="12700">
            <a:solidFill>
              <a:srgbClr val="DFEDE4"/>
            </a:solidFill>
            <a:prstDash val="solid"/>
          </a:ln>
        </p:spPr>
        <p:txBody>
          <a:bodyPr/>
          <a:p/>
        </p:txBody>
      </p:sp>
      <p:pic>
        <p:nvPicPr>
          <p:cNvPr id="12" name="Image 1" descr="/private/tmp/soh-deck/icons/ClipboardCheck-green.png">    </p:cNvPr>
          <p:cNvPicPr>
            <a:picLocks noChangeAspect="1"/>
          </p:cNvPicPr>
          <p:nvPr/>
        </p:nvPicPr>
        <p:blipFill>
          <a:blip r:embed="rId2"/>
          <a:stretch>
            <a:fillRect/>
          </a:stretch>
        </p:blipFill>
        <p:spPr>
          <a:xfrm>
            <a:off x="5641848" y="1993392"/>
            <a:ext cx="164592" cy="164592"/>
          </a:xfrm>
          <a:prstGeom prst="rect">
            <a:avLst/>
          </a:prstGeom>
        </p:spPr>
      </p:pic>
      <p:sp>
        <p:nvSpPr>
          <p:cNvPr id="13" name="Text 9"/>
          <p:cNvSpPr/>
          <p:nvPr/>
        </p:nvSpPr>
        <p:spPr>
          <a:xfrm>
            <a:off x="3611880" y="1938528"/>
            <a:ext cx="1874520" cy="457200"/>
          </a:xfrm>
          <a:prstGeom prst="rect">
            <a:avLst/>
          </a:prstGeom>
          <a:noFill/>
          <a:ln/>
        </p:spPr>
        <p:txBody>
          <a:bodyPr wrap="square" lIns="0" tIns="0" rIns="0" bIns="0" rtlCol="0" anchor="t"/>
          <a:lstStyle/>
          <a:p>
            <a:pPr algn="l" indent="0" marL="0">
              <a:lnSpc>
                <a:spcPct val="100000"/>
              </a:lnSpc>
              <a:buNone/>
            </a:pPr>
            <a:r>
              <a:rPr lang="en-US" sz="2400" b="1" dirty="0">
                <a:solidFill>
                  <a:srgbClr val="1B1714"/>
                </a:solidFill>
                <a:latin typeface="Cambria" pitchFamily="34" charset="0"/>
                <a:ea typeface="Cambria" pitchFamily="34" charset="-122"/>
                <a:cs typeface="Cambria" pitchFamily="34" charset="-120"/>
              </a:rPr>
              <a:t>1 screen</a:t>
            </a:r>
            <a:endParaRPr lang="en-US" sz="2400" dirty="0"/>
          </a:p>
        </p:txBody>
      </p:sp>
      <p:sp>
        <p:nvSpPr>
          <p:cNvPr id="14" name="Text 10"/>
          <p:cNvSpPr/>
          <p:nvPr/>
        </p:nvSpPr>
        <p:spPr>
          <a:xfrm>
            <a:off x="3611880" y="2441448"/>
            <a:ext cx="2212848" cy="310896"/>
          </a:xfrm>
          <a:prstGeom prst="rect">
            <a:avLst/>
          </a:prstGeom>
          <a:noFill/>
          <a:ln/>
        </p:spPr>
        <p:txBody>
          <a:bodyPr wrap="square" lIns="0" tIns="0" rIns="0" bIns="0" rtlCol="0" anchor="t"/>
          <a:lstStyle/>
          <a:p>
            <a:pPr algn="l" indent="0" marL="0">
              <a:lnSpc>
                <a:spcPct val="98000"/>
              </a:lnSpc>
              <a:buNone/>
            </a:pPr>
            <a:r>
              <a:rPr lang="en-US" sz="840" dirty="0">
                <a:solidFill>
                  <a:srgbClr val="6B6258"/>
                </a:solidFill>
                <a:latin typeface="Calibri" pitchFamily="34" charset="0"/>
                <a:ea typeface="Calibri" pitchFamily="34" charset="-122"/>
                <a:cs typeface="Calibri" pitchFamily="34" charset="-120"/>
              </a:rPr>
              <a:t>to review and approve</a:t>
            </a:r>
            <a:endParaRPr lang="en-US" sz="840" dirty="0"/>
          </a:p>
        </p:txBody>
      </p:sp>
      <p:sp>
        <p:nvSpPr>
          <p:cNvPr id="15" name="Shape 11"/>
          <p:cNvSpPr/>
          <p:nvPr/>
        </p:nvSpPr>
        <p:spPr>
          <a:xfrm>
            <a:off x="6217920" y="1810512"/>
            <a:ext cx="2560320" cy="1280160"/>
          </a:xfrm>
          <a:prstGeom prst="roundRect">
            <a:avLst>
              <a:gd name="adj" fmla="val 8571"/>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16" name="Shape 12"/>
          <p:cNvSpPr/>
          <p:nvPr/>
        </p:nvSpPr>
        <p:spPr>
          <a:xfrm>
            <a:off x="8375904" y="1938528"/>
            <a:ext cx="274320" cy="274320"/>
          </a:xfrm>
          <a:prstGeom prst="roundRect">
            <a:avLst>
              <a:gd name="adj" fmla="val 50000"/>
            </a:avLst>
          </a:prstGeom>
          <a:solidFill>
            <a:srgbClr val="E3EBF5"/>
          </a:solidFill>
          <a:ln w="12700">
            <a:solidFill>
              <a:srgbClr val="E3EBF5"/>
            </a:solidFill>
            <a:prstDash val="solid"/>
          </a:ln>
        </p:spPr>
        <p:txBody>
          <a:bodyPr/>
          <a:p/>
        </p:txBody>
      </p:sp>
      <p:pic>
        <p:nvPicPr>
          <p:cNvPr id="17" name="Image 2" descr="/private/tmp/soh-deck/icons/Network-blue.png">    </p:cNvPr>
          <p:cNvPicPr>
            <a:picLocks noChangeAspect="1"/>
          </p:cNvPicPr>
          <p:nvPr/>
        </p:nvPicPr>
        <p:blipFill>
          <a:blip r:embed="rId3"/>
          <a:stretch>
            <a:fillRect/>
          </a:stretch>
        </p:blipFill>
        <p:spPr>
          <a:xfrm>
            <a:off x="8430768" y="1993392"/>
            <a:ext cx="164592" cy="164592"/>
          </a:xfrm>
          <a:prstGeom prst="rect">
            <a:avLst/>
          </a:prstGeom>
        </p:spPr>
      </p:pic>
      <p:sp>
        <p:nvSpPr>
          <p:cNvPr id="18" name="Text 13"/>
          <p:cNvSpPr/>
          <p:nvPr/>
        </p:nvSpPr>
        <p:spPr>
          <a:xfrm>
            <a:off x="6400800" y="1938528"/>
            <a:ext cx="1874520" cy="457200"/>
          </a:xfrm>
          <a:prstGeom prst="rect">
            <a:avLst/>
          </a:prstGeom>
          <a:noFill/>
          <a:ln/>
        </p:spPr>
        <p:txBody>
          <a:bodyPr wrap="square" lIns="0" tIns="0" rIns="0" bIns="0" rtlCol="0" anchor="t"/>
          <a:lstStyle/>
          <a:p>
            <a:pPr algn="l" indent="0" marL="0">
              <a:lnSpc>
                <a:spcPct val="100000"/>
              </a:lnSpc>
              <a:buNone/>
            </a:pPr>
            <a:r>
              <a:rPr lang="en-US" sz="2400" b="1" dirty="0">
                <a:solidFill>
                  <a:srgbClr val="1B1714"/>
                </a:solidFill>
                <a:latin typeface="Cambria" pitchFamily="34" charset="0"/>
                <a:ea typeface="Cambria" pitchFamily="34" charset="-122"/>
                <a:cs typeface="Cambria" pitchFamily="34" charset="-120"/>
              </a:rPr>
              <a:t>6</a:t>
            </a:r>
            <a:endParaRPr lang="en-US" sz="2400" dirty="0"/>
          </a:p>
        </p:txBody>
      </p:sp>
      <p:sp>
        <p:nvSpPr>
          <p:cNvPr id="19" name="Text 14"/>
          <p:cNvSpPr/>
          <p:nvPr/>
        </p:nvSpPr>
        <p:spPr>
          <a:xfrm>
            <a:off x="6400800" y="2441448"/>
            <a:ext cx="2212848" cy="310896"/>
          </a:xfrm>
          <a:prstGeom prst="rect">
            <a:avLst/>
          </a:prstGeom>
          <a:noFill/>
          <a:ln/>
        </p:spPr>
        <p:txBody>
          <a:bodyPr wrap="square" lIns="0" tIns="0" rIns="0" bIns="0" rtlCol="0" anchor="t"/>
          <a:lstStyle/>
          <a:p>
            <a:pPr algn="l" indent="0" marL="0">
              <a:lnSpc>
                <a:spcPct val="98000"/>
              </a:lnSpc>
              <a:buNone/>
            </a:pPr>
            <a:r>
              <a:rPr lang="en-US" sz="840" dirty="0">
                <a:solidFill>
                  <a:srgbClr val="6B6258"/>
                </a:solidFill>
                <a:latin typeface="Calibri" pitchFamily="34" charset="0"/>
                <a:ea typeface="Calibri" pitchFamily="34" charset="-122"/>
                <a:cs typeface="Calibri" pitchFamily="34" charset="-120"/>
              </a:rPr>
              <a:t>channels consolidated</a:t>
            </a:r>
            <a:endParaRPr lang="en-US" sz="840" dirty="0"/>
          </a:p>
        </p:txBody>
      </p:sp>
      <p:sp>
        <p:nvSpPr>
          <p:cNvPr id="20" name="Shape 15"/>
          <p:cNvSpPr/>
          <p:nvPr/>
        </p:nvSpPr>
        <p:spPr>
          <a:xfrm>
            <a:off x="9006840" y="1810512"/>
            <a:ext cx="2560320" cy="1280160"/>
          </a:xfrm>
          <a:prstGeom prst="roundRect">
            <a:avLst>
              <a:gd name="adj" fmla="val 8571"/>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21" name="Shape 16"/>
          <p:cNvSpPr/>
          <p:nvPr/>
        </p:nvSpPr>
        <p:spPr>
          <a:xfrm>
            <a:off x="11164824" y="1938528"/>
            <a:ext cx="274320" cy="274320"/>
          </a:xfrm>
          <a:prstGeom prst="roundRect">
            <a:avLst>
              <a:gd name="adj" fmla="val 50000"/>
            </a:avLst>
          </a:prstGeom>
          <a:solidFill>
            <a:srgbClr val="DFEDE4"/>
          </a:solidFill>
          <a:ln w="12700">
            <a:solidFill>
              <a:srgbClr val="DFEDE4"/>
            </a:solidFill>
            <a:prstDash val="solid"/>
          </a:ln>
        </p:spPr>
        <p:txBody>
          <a:bodyPr/>
          <a:p/>
        </p:txBody>
      </p:sp>
      <p:pic>
        <p:nvPicPr>
          <p:cNvPr id="22" name="Image 3" descr="/private/tmp/soh-deck/icons/History-green.png">    </p:cNvPr>
          <p:cNvPicPr>
            <a:picLocks noChangeAspect="1"/>
          </p:cNvPicPr>
          <p:nvPr/>
        </p:nvPicPr>
        <p:blipFill>
          <a:blip r:embed="rId4"/>
          <a:stretch>
            <a:fillRect/>
          </a:stretch>
        </p:blipFill>
        <p:spPr>
          <a:xfrm>
            <a:off x="11219688" y="1993392"/>
            <a:ext cx="164592" cy="164592"/>
          </a:xfrm>
          <a:prstGeom prst="rect">
            <a:avLst/>
          </a:prstGeom>
        </p:spPr>
      </p:pic>
      <p:sp>
        <p:nvSpPr>
          <p:cNvPr id="23" name="Text 17"/>
          <p:cNvSpPr/>
          <p:nvPr/>
        </p:nvSpPr>
        <p:spPr>
          <a:xfrm>
            <a:off x="9189720" y="1938528"/>
            <a:ext cx="1874520" cy="457200"/>
          </a:xfrm>
          <a:prstGeom prst="rect">
            <a:avLst/>
          </a:prstGeom>
          <a:noFill/>
          <a:ln/>
        </p:spPr>
        <p:txBody>
          <a:bodyPr wrap="square" lIns="0" tIns="0" rIns="0" bIns="0" rtlCol="0" anchor="t"/>
          <a:lstStyle/>
          <a:p>
            <a:pPr algn="l" indent="0" marL="0">
              <a:lnSpc>
                <a:spcPct val="100000"/>
              </a:lnSpc>
              <a:buNone/>
            </a:pPr>
            <a:r>
              <a:rPr lang="en-US" sz="2400" b="1" dirty="0">
                <a:solidFill>
                  <a:srgbClr val="1B1714"/>
                </a:solidFill>
                <a:latin typeface="Cambria" pitchFamily="34" charset="0"/>
                <a:ea typeface="Cambria" pitchFamily="34" charset="-122"/>
                <a:cs typeface="Cambria" pitchFamily="34" charset="-120"/>
              </a:rPr>
              <a:t>100%</a:t>
            </a:r>
            <a:endParaRPr lang="en-US" sz="2400" dirty="0"/>
          </a:p>
        </p:txBody>
      </p:sp>
      <p:sp>
        <p:nvSpPr>
          <p:cNvPr id="24" name="Text 18"/>
          <p:cNvSpPr/>
          <p:nvPr/>
        </p:nvSpPr>
        <p:spPr>
          <a:xfrm>
            <a:off x="9189720" y="2441448"/>
            <a:ext cx="2212848" cy="310896"/>
          </a:xfrm>
          <a:prstGeom prst="rect">
            <a:avLst/>
          </a:prstGeom>
          <a:noFill/>
          <a:ln/>
        </p:spPr>
        <p:txBody>
          <a:bodyPr wrap="square" lIns="0" tIns="0" rIns="0" bIns="0" rtlCol="0" anchor="t"/>
          <a:lstStyle/>
          <a:p>
            <a:pPr algn="l" indent="0" marL="0">
              <a:lnSpc>
                <a:spcPct val="98000"/>
              </a:lnSpc>
              <a:buNone/>
            </a:pPr>
            <a:r>
              <a:rPr lang="en-US" sz="840" dirty="0">
                <a:solidFill>
                  <a:srgbClr val="6B6258"/>
                </a:solidFill>
                <a:latin typeface="Calibri" pitchFamily="34" charset="0"/>
                <a:ea typeface="Calibri" pitchFamily="34" charset="-122"/>
                <a:cs typeface="Calibri" pitchFamily="34" charset="-120"/>
              </a:rPr>
              <a:t>actions logged</a:t>
            </a:r>
            <a:endParaRPr lang="en-US" sz="840" dirty="0"/>
          </a:p>
        </p:txBody>
      </p:sp>
      <p:sp>
        <p:nvSpPr>
          <p:cNvPr id="25" name="Shape 19"/>
          <p:cNvSpPr/>
          <p:nvPr/>
        </p:nvSpPr>
        <p:spPr>
          <a:xfrm>
            <a:off x="640080" y="3346704"/>
            <a:ext cx="5413248" cy="1554480"/>
          </a:xfrm>
          <a:prstGeom prst="roundRect">
            <a:avLst>
              <a:gd name="adj" fmla="val 7059"/>
            </a:avLst>
          </a:prstGeom>
          <a:solidFill>
            <a:srgbClr val="F1E7D8"/>
          </a:solidFill>
          <a:ln w="10160">
            <a:solidFill>
              <a:srgbClr val="E2CFB4"/>
            </a:solidFill>
            <a:prstDash val="solid"/>
          </a:ln>
          <a:effectLst>
            <a:outerShdw sx="100000" sy="100000" kx="0" ky="0" algn="bl" rotWithShape="0" blurRad="31750" dist="50800" dir="2700000">
              <a:srgbClr val="4A3B2A">
                <a:alpha val="10000"/>
              </a:srgbClr>
            </a:outerShdw>
          </a:effectLst>
        </p:spPr>
        <p:txBody>
          <a:bodyPr/>
          <a:p/>
        </p:txBody>
      </p:sp>
      <p:sp>
        <p:nvSpPr>
          <p:cNvPr id="26" name="Shape 20"/>
          <p:cNvSpPr/>
          <p:nvPr/>
        </p:nvSpPr>
        <p:spPr>
          <a:xfrm>
            <a:off x="859536" y="3547872"/>
            <a:ext cx="457200" cy="457200"/>
          </a:xfrm>
          <a:prstGeom prst="roundRect">
            <a:avLst>
              <a:gd name="adj" fmla="val 50000"/>
            </a:avLst>
          </a:prstGeom>
          <a:solidFill>
            <a:srgbClr val="F7E9D2"/>
          </a:solidFill>
          <a:ln w="12700">
            <a:solidFill>
              <a:srgbClr val="F7E9D2"/>
            </a:solidFill>
            <a:prstDash val="solid"/>
          </a:ln>
        </p:spPr>
        <p:txBody>
          <a:bodyPr/>
          <a:p/>
        </p:txBody>
      </p:sp>
      <p:pic>
        <p:nvPicPr>
          <p:cNvPr id="27" name="Image 4" descr="/private/tmp/soh-deck/icons/Clock-amber.png">    </p:cNvPr>
          <p:cNvPicPr>
            <a:picLocks noChangeAspect="1"/>
          </p:cNvPicPr>
          <p:nvPr/>
        </p:nvPicPr>
        <p:blipFill>
          <a:blip r:embed="rId5"/>
          <a:stretch>
            <a:fillRect/>
          </a:stretch>
        </p:blipFill>
        <p:spPr>
          <a:xfrm>
            <a:off x="950976" y="3639312"/>
            <a:ext cx="274320" cy="274320"/>
          </a:xfrm>
          <a:prstGeom prst="rect">
            <a:avLst/>
          </a:prstGeom>
        </p:spPr>
      </p:pic>
      <p:sp>
        <p:nvSpPr>
          <p:cNvPr id="28" name="Text 21"/>
          <p:cNvSpPr/>
          <p:nvPr/>
        </p:nvSpPr>
        <p:spPr>
          <a:xfrm>
            <a:off x="1426464" y="3529584"/>
            <a:ext cx="4206240" cy="228600"/>
          </a:xfrm>
          <a:prstGeom prst="rect">
            <a:avLst/>
          </a:prstGeom>
          <a:noFill/>
          <a:ln/>
        </p:spPr>
        <p:txBody>
          <a:bodyPr wrap="square" lIns="0" tIns="0" rIns="0" bIns="0" rtlCol="0" anchor="t"/>
          <a:lstStyle/>
          <a:p>
            <a:pPr algn="l" indent="0" marL="0">
              <a:lnSpc>
                <a:spcPct val="100000"/>
              </a:lnSpc>
              <a:buNone/>
            </a:pPr>
            <a:r>
              <a:rPr lang="en-US" sz="1500" b="1" dirty="0">
                <a:solidFill>
                  <a:srgbClr val="1B1714"/>
                </a:solidFill>
                <a:latin typeface="Cambria" pitchFamily="34" charset="0"/>
                <a:ea typeface="Cambria" pitchFamily="34" charset="-122"/>
                <a:cs typeface="Cambria" pitchFamily="34" charset="-120"/>
              </a:rPr>
              <a:t>Illustrative impact</a:t>
            </a:r>
            <a:endParaRPr lang="en-US" sz="1500" dirty="0"/>
          </a:p>
        </p:txBody>
      </p:sp>
      <p:sp>
        <p:nvSpPr>
          <p:cNvPr id="29" name="Text 22"/>
          <p:cNvSpPr/>
          <p:nvPr/>
        </p:nvSpPr>
        <p:spPr>
          <a:xfrm>
            <a:off x="1426464" y="3803904"/>
            <a:ext cx="4206240" cy="438912"/>
          </a:xfrm>
          <a:prstGeom prst="rect">
            <a:avLst/>
          </a:prstGeom>
          <a:noFill/>
          <a:ln/>
        </p:spPr>
        <p:txBody>
          <a:bodyPr wrap="square" lIns="0" tIns="0" rIns="0" bIns="0" rtlCol="0" anchor="t"/>
          <a:lstStyle/>
          <a:p>
            <a:pPr algn="l" indent="0" marL="0">
              <a:lnSpc>
                <a:spcPct val="100000"/>
              </a:lnSpc>
              <a:buNone/>
            </a:pPr>
            <a:r>
              <a:rPr lang="en-US" sz="1060" dirty="0">
                <a:solidFill>
                  <a:srgbClr val="1B1714"/>
                </a:solidFill>
                <a:latin typeface="Calibri" pitchFamily="34" charset="0"/>
                <a:ea typeface="Calibri" pitchFamily="34" charset="-122"/>
                <a:cs typeface="Calibri" pitchFamily="34" charset="-120"/>
              </a:rPr>
              <a:t>8 minutes saved per order × 20 orders/week ≈ 2.7 hours/week back to the owner.</a:t>
            </a:r>
            <a:endParaRPr lang="en-US" sz="1060" dirty="0"/>
          </a:p>
        </p:txBody>
      </p:sp>
      <p:sp>
        <p:nvSpPr>
          <p:cNvPr id="30" name="Text 23"/>
          <p:cNvSpPr/>
          <p:nvPr/>
        </p:nvSpPr>
        <p:spPr>
          <a:xfrm>
            <a:off x="1426464" y="4352544"/>
            <a:ext cx="4206240" cy="182880"/>
          </a:xfrm>
          <a:prstGeom prst="rect">
            <a:avLst/>
          </a:prstGeom>
          <a:noFill/>
          <a:ln/>
        </p:spPr>
        <p:txBody>
          <a:bodyPr wrap="square" lIns="0" tIns="0" rIns="0" bIns="0" rtlCol="0" anchor="t"/>
          <a:lstStyle/>
          <a:p>
            <a:pPr algn="l" indent="0" marL="0">
              <a:lnSpc>
                <a:spcPct val="100000"/>
              </a:lnSpc>
              <a:buNone/>
            </a:pPr>
            <a:r>
              <a:rPr lang="en-US" sz="780" i="1" dirty="0">
                <a:solidFill>
                  <a:srgbClr val="8C8073"/>
                </a:solidFill>
                <a:latin typeface="Calibri" pitchFamily="34" charset="0"/>
                <a:ea typeface="Calibri" pitchFamily="34" charset="-122"/>
                <a:cs typeface="Calibri" pitchFamily="34" charset="-120"/>
              </a:rPr>
              <a:t>Illustrative only — validate with each pilot SME.</a:t>
            </a:r>
            <a:endParaRPr lang="en-US" sz="780" dirty="0"/>
          </a:p>
        </p:txBody>
      </p:sp>
      <p:sp>
        <p:nvSpPr>
          <p:cNvPr id="31" name="Shape 24"/>
          <p:cNvSpPr/>
          <p:nvPr/>
        </p:nvSpPr>
        <p:spPr>
          <a:xfrm>
            <a:off x="6291072" y="3346704"/>
            <a:ext cx="5248656" cy="1554480"/>
          </a:xfrm>
          <a:prstGeom prst="roundRect">
            <a:avLst>
              <a:gd name="adj" fmla="val 7059"/>
            </a:avLst>
          </a:prstGeom>
          <a:solidFill>
            <a:srgbClr val="FFFDF8"/>
          </a:solidFill>
          <a:ln w="10160">
            <a:solidFill>
              <a:srgbClr val="DCCDB9"/>
            </a:solidFill>
            <a:prstDash val="solid"/>
          </a:ln>
          <a:effectLst>
            <a:outerShdw sx="100000" sy="100000" kx="0" ky="0" algn="bl" rotWithShape="0" blurRad="31750" dist="50800" dir="2700000">
              <a:srgbClr val="4A3B2A">
                <a:alpha val="10000"/>
              </a:srgbClr>
            </a:outerShdw>
          </a:effectLst>
        </p:spPr>
        <p:txBody>
          <a:bodyPr/>
          <a:p/>
        </p:txBody>
      </p:sp>
      <p:sp>
        <p:nvSpPr>
          <p:cNvPr id="32" name="Shape 25"/>
          <p:cNvSpPr/>
          <p:nvPr/>
        </p:nvSpPr>
        <p:spPr>
          <a:xfrm>
            <a:off x="6510528" y="3547872"/>
            <a:ext cx="457200" cy="457200"/>
          </a:xfrm>
          <a:prstGeom prst="roundRect">
            <a:avLst>
              <a:gd name="adj" fmla="val 50000"/>
            </a:avLst>
          </a:prstGeom>
          <a:solidFill>
            <a:srgbClr val="DFEDE4"/>
          </a:solidFill>
          <a:ln w="12700">
            <a:solidFill>
              <a:srgbClr val="DFEDE4"/>
            </a:solidFill>
            <a:prstDash val="solid"/>
          </a:ln>
        </p:spPr>
        <p:txBody>
          <a:bodyPr/>
          <a:p/>
        </p:txBody>
      </p:sp>
      <p:pic>
        <p:nvPicPr>
          <p:cNvPr id="33" name="Image 5" descr="/private/tmp/soh-deck/icons/ChartNoAxesCombined-green.png">    </p:cNvPr>
          <p:cNvPicPr>
            <a:picLocks noChangeAspect="1"/>
          </p:cNvPicPr>
          <p:nvPr/>
        </p:nvPicPr>
        <p:blipFill>
          <a:blip r:embed="rId6"/>
          <a:stretch>
            <a:fillRect/>
          </a:stretch>
        </p:blipFill>
        <p:spPr>
          <a:xfrm>
            <a:off x="6601968" y="3639312"/>
            <a:ext cx="274320" cy="274320"/>
          </a:xfrm>
          <a:prstGeom prst="rect">
            <a:avLst/>
          </a:prstGeom>
        </p:spPr>
      </p:pic>
      <p:sp>
        <p:nvSpPr>
          <p:cNvPr id="34" name="Text 26"/>
          <p:cNvSpPr/>
          <p:nvPr/>
        </p:nvSpPr>
        <p:spPr>
          <a:xfrm>
            <a:off x="7077456" y="3529584"/>
            <a:ext cx="4206240" cy="228600"/>
          </a:xfrm>
          <a:prstGeom prst="rect">
            <a:avLst/>
          </a:prstGeom>
          <a:noFill/>
          <a:ln/>
        </p:spPr>
        <p:txBody>
          <a:bodyPr wrap="square" lIns="0" tIns="0" rIns="0" bIns="0" rtlCol="0" anchor="t"/>
          <a:lstStyle/>
          <a:p>
            <a:pPr algn="l" indent="0" marL="0">
              <a:lnSpc>
                <a:spcPct val="100000"/>
              </a:lnSpc>
              <a:buNone/>
            </a:pPr>
            <a:r>
              <a:rPr lang="en-US" sz="1500" b="1" dirty="0">
                <a:solidFill>
                  <a:srgbClr val="1B1714"/>
                </a:solidFill>
                <a:latin typeface="Cambria" pitchFamily="34" charset="0"/>
                <a:ea typeface="Cambria" pitchFamily="34" charset="-122"/>
                <a:cs typeface="Cambria" pitchFamily="34" charset="-120"/>
              </a:rPr>
              <a:t>Pilot scorecard</a:t>
            </a:r>
            <a:endParaRPr lang="en-US" sz="1500" dirty="0"/>
          </a:p>
        </p:txBody>
      </p:sp>
      <p:sp>
        <p:nvSpPr>
          <p:cNvPr id="35" name="Text 27"/>
          <p:cNvSpPr/>
          <p:nvPr/>
        </p:nvSpPr>
        <p:spPr>
          <a:xfrm>
            <a:off x="7077456" y="3803904"/>
            <a:ext cx="4187952" cy="475488"/>
          </a:xfrm>
          <a:prstGeom prst="rect">
            <a:avLst/>
          </a:prstGeom>
          <a:noFill/>
          <a:ln/>
        </p:spPr>
        <p:txBody>
          <a:bodyPr wrap="square" lIns="0" tIns="0" rIns="0" bIns="0" rtlCol="0" anchor="t"/>
          <a:lstStyle/>
          <a:p>
            <a:pPr algn="l" indent="0" marL="0">
              <a:lnSpc>
                <a:spcPct val="100000"/>
              </a:lnSpc>
              <a:buNone/>
            </a:pPr>
            <a:r>
              <a:rPr lang="en-US" sz="940" dirty="0">
                <a:solidFill>
                  <a:srgbClr val="6B6258"/>
                </a:solidFill>
                <a:latin typeface="Calibri" pitchFamily="34" charset="0"/>
                <a:ea typeface="Calibri" pitchFamily="34" charset="-122"/>
                <a:cs typeface="Calibri" pitchFamily="34" charset="-120"/>
              </a:rPr>
              <a:t>Measure: order-entry time · missed orders · pricing errors · stockout surprises · approval turnaround.</a:t>
            </a:r>
            <a:endParaRPr lang="en-US" sz="940" dirty="0"/>
          </a:p>
        </p:txBody>
      </p:sp>
      <p:sp>
        <p:nvSpPr>
          <p:cNvPr id="36" name="Text 28"/>
          <p:cNvSpPr/>
          <p:nvPr/>
        </p:nvSpPr>
        <p:spPr>
          <a:xfrm>
            <a:off x="7077456" y="4352544"/>
            <a:ext cx="4187952" cy="182880"/>
          </a:xfrm>
          <a:prstGeom prst="rect">
            <a:avLst/>
          </a:prstGeom>
          <a:noFill/>
          <a:ln/>
        </p:spPr>
        <p:txBody>
          <a:bodyPr wrap="square" lIns="0" tIns="0" rIns="0" bIns="0" rtlCol="0" anchor="t"/>
          <a:lstStyle/>
          <a:p>
            <a:pPr algn="l" indent="0" marL="0">
              <a:lnSpc>
                <a:spcPct val="100000"/>
              </a:lnSpc>
              <a:buNone/>
            </a:pPr>
            <a:r>
              <a:rPr lang="en-US" sz="780" i="1" dirty="0">
                <a:solidFill>
                  <a:srgbClr val="8C8073"/>
                </a:solidFill>
                <a:latin typeface="Calibri" pitchFamily="34" charset="0"/>
                <a:ea typeface="Calibri" pitchFamily="34" charset="-122"/>
                <a:cs typeface="Calibri" pitchFamily="34" charset="-120"/>
              </a:rPr>
              <a:t>Baseline vs target set with each SME; no invented benchmark.</a:t>
            </a:r>
            <a:endParaRPr lang="en-US" sz="780" dirty="0"/>
          </a:p>
        </p:txBody>
      </p:sp>
      <p:sp>
        <p:nvSpPr>
          <p:cNvPr id="37" name="Text 29"/>
          <p:cNvSpPr/>
          <p:nvPr/>
        </p:nvSpPr>
        <p:spPr>
          <a:xfrm>
            <a:off x="640080" y="5230368"/>
            <a:ext cx="1097280" cy="201168"/>
          </a:xfrm>
          <a:prstGeom prst="rect">
            <a:avLst/>
          </a:prstGeom>
          <a:noFill/>
          <a:ln/>
        </p:spPr>
        <p:txBody>
          <a:bodyPr wrap="square" lIns="0" tIns="0" rIns="0" bIns="0" rtlCol="0" anchor="t"/>
          <a:lstStyle/>
          <a:p>
            <a:pPr algn="l" indent="0" marL="0">
              <a:lnSpc>
                <a:spcPct val="100000"/>
              </a:lnSpc>
              <a:buNone/>
            </a:pPr>
            <a:r>
              <a:rPr lang="en-US" sz="790" b="1" spc="150" kern="0" dirty="0">
                <a:solidFill>
                  <a:srgbClr val="D97706"/>
                </a:solidFill>
                <a:latin typeface="Calibri" pitchFamily="34" charset="0"/>
                <a:ea typeface="Calibri" pitchFamily="34" charset="-122"/>
                <a:cs typeface="Calibri" pitchFamily="34" charset="-120"/>
              </a:rPr>
              <a:t>SDG LINK</a:t>
            </a:r>
            <a:endParaRPr lang="en-US" sz="790" dirty="0"/>
          </a:p>
        </p:txBody>
      </p:sp>
      <p:sp>
        <p:nvSpPr>
          <p:cNvPr id="38" name="Shape 30"/>
          <p:cNvSpPr/>
          <p:nvPr/>
        </p:nvSpPr>
        <p:spPr>
          <a:xfrm>
            <a:off x="640080" y="5486400"/>
            <a:ext cx="2560320" cy="713232"/>
          </a:xfrm>
          <a:prstGeom prst="roundRect">
            <a:avLst>
              <a:gd name="adj" fmla="val 15385"/>
            </a:avLst>
          </a:prstGeom>
          <a:solidFill>
            <a:srgbClr val="FFFDF8"/>
          </a:solidFill>
          <a:ln w="10160">
            <a:solidFill>
              <a:srgbClr val="DCCDB9"/>
            </a:solidFill>
            <a:prstDash val="solid"/>
          </a:ln>
        </p:spPr>
        <p:txBody>
          <a:bodyPr/>
          <a:p/>
        </p:txBody>
      </p:sp>
      <p:sp>
        <p:nvSpPr>
          <p:cNvPr id="39" name="Shape 31"/>
          <p:cNvSpPr/>
          <p:nvPr/>
        </p:nvSpPr>
        <p:spPr>
          <a:xfrm>
            <a:off x="749808" y="5596128"/>
            <a:ext cx="402336" cy="402336"/>
          </a:xfrm>
          <a:prstGeom prst="rect">
            <a:avLst/>
          </a:prstGeom>
          <a:solidFill>
            <a:srgbClr val="D97706"/>
          </a:solidFill>
          <a:ln w="12700">
            <a:solidFill>
              <a:srgbClr val="D97706"/>
            </a:solidFill>
            <a:prstDash val="solid"/>
          </a:ln>
        </p:spPr>
        <p:txBody>
          <a:bodyPr/>
          <a:p/>
        </p:txBody>
      </p:sp>
      <p:sp>
        <p:nvSpPr>
          <p:cNvPr id="40" name="Text 32"/>
          <p:cNvSpPr/>
          <p:nvPr/>
        </p:nvSpPr>
        <p:spPr>
          <a:xfrm>
            <a:off x="749808" y="5650992"/>
            <a:ext cx="402336" cy="237744"/>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8.2</a:t>
            </a:r>
            <a:endParaRPr lang="en-US" sz="1050" dirty="0"/>
          </a:p>
        </p:txBody>
      </p:sp>
      <p:sp>
        <p:nvSpPr>
          <p:cNvPr id="41" name="Text 33"/>
          <p:cNvSpPr/>
          <p:nvPr/>
        </p:nvSpPr>
        <p:spPr>
          <a:xfrm>
            <a:off x="1243584" y="5577840"/>
            <a:ext cx="1847088" cy="402336"/>
          </a:xfrm>
          <a:prstGeom prst="rect">
            <a:avLst/>
          </a:prstGeom>
          <a:noFill/>
          <a:ln/>
        </p:spPr>
        <p:txBody>
          <a:bodyPr wrap="square" lIns="0" tIns="0" rIns="0" bIns="0" rtlCol="0" anchor="t"/>
          <a:lstStyle/>
          <a:p>
            <a:pPr algn="l" indent="0" marL="0">
              <a:lnSpc>
                <a:spcPct val="98000"/>
              </a:lnSpc>
              <a:buNone/>
            </a:pPr>
            <a:r>
              <a:rPr lang="en-US" sz="780" dirty="0">
                <a:solidFill>
                  <a:srgbClr val="6B6258"/>
                </a:solidFill>
                <a:latin typeface="Calibri" pitchFamily="34" charset="0"/>
                <a:ea typeface="Calibri" pitchFamily="34" charset="-122"/>
                <a:cs typeface="Calibri" pitchFamily="34" charset="-120"/>
              </a:rPr>
              <a:t>Productivity through technology upgrading</a:t>
            </a:r>
            <a:endParaRPr lang="en-US" sz="780" dirty="0"/>
          </a:p>
        </p:txBody>
      </p:sp>
      <p:sp>
        <p:nvSpPr>
          <p:cNvPr id="42" name="Shape 34"/>
          <p:cNvSpPr/>
          <p:nvPr/>
        </p:nvSpPr>
        <p:spPr>
          <a:xfrm>
            <a:off x="3429000" y="5486400"/>
            <a:ext cx="2560320" cy="713232"/>
          </a:xfrm>
          <a:prstGeom prst="roundRect">
            <a:avLst>
              <a:gd name="adj" fmla="val 15385"/>
            </a:avLst>
          </a:prstGeom>
          <a:solidFill>
            <a:srgbClr val="FFFDF8"/>
          </a:solidFill>
          <a:ln w="10160">
            <a:solidFill>
              <a:srgbClr val="DCCDB9"/>
            </a:solidFill>
            <a:prstDash val="solid"/>
          </a:ln>
        </p:spPr>
        <p:txBody>
          <a:bodyPr/>
          <a:p/>
        </p:txBody>
      </p:sp>
      <p:sp>
        <p:nvSpPr>
          <p:cNvPr id="43" name="Shape 35"/>
          <p:cNvSpPr/>
          <p:nvPr/>
        </p:nvSpPr>
        <p:spPr>
          <a:xfrm>
            <a:off x="3538728" y="5596128"/>
            <a:ext cx="402336" cy="402336"/>
          </a:xfrm>
          <a:prstGeom prst="rect">
            <a:avLst/>
          </a:prstGeom>
          <a:solidFill>
            <a:srgbClr val="2F6B4F"/>
          </a:solidFill>
          <a:ln w="12700">
            <a:solidFill>
              <a:srgbClr val="2F6B4F"/>
            </a:solidFill>
            <a:prstDash val="solid"/>
          </a:ln>
        </p:spPr>
        <p:txBody>
          <a:bodyPr/>
          <a:p/>
        </p:txBody>
      </p:sp>
      <p:sp>
        <p:nvSpPr>
          <p:cNvPr id="44" name="Text 36"/>
          <p:cNvSpPr/>
          <p:nvPr/>
        </p:nvSpPr>
        <p:spPr>
          <a:xfrm>
            <a:off x="3538728" y="5650992"/>
            <a:ext cx="402336" cy="237744"/>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8.3</a:t>
            </a:r>
            <a:endParaRPr lang="en-US" sz="1050" dirty="0"/>
          </a:p>
        </p:txBody>
      </p:sp>
      <p:sp>
        <p:nvSpPr>
          <p:cNvPr id="45" name="Text 37"/>
          <p:cNvSpPr/>
          <p:nvPr/>
        </p:nvSpPr>
        <p:spPr>
          <a:xfrm>
            <a:off x="4032504" y="5577840"/>
            <a:ext cx="1847088" cy="402336"/>
          </a:xfrm>
          <a:prstGeom prst="rect">
            <a:avLst/>
          </a:prstGeom>
          <a:noFill/>
          <a:ln/>
        </p:spPr>
        <p:txBody>
          <a:bodyPr wrap="square" lIns="0" tIns="0" rIns="0" bIns="0" rtlCol="0" anchor="t"/>
          <a:lstStyle/>
          <a:p>
            <a:pPr algn="l" indent="0" marL="0">
              <a:lnSpc>
                <a:spcPct val="98000"/>
              </a:lnSpc>
              <a:buNone/>
            </a:pPr>
            <a:r>
              <a:rPr lang="en-US" sz="780" dirty="0">
                <a:solidFill>
                  <a:srgbClr val="6B6258"/>
                </a:solidFill>
                <a:latin typeface="Calibri" pitchFamily="34" charset="0"/>
                <a:ea typeface="Calibri" pitchFamily="34" charset="-122"/>
                <a:cs typeface="Calibri" pitchFamily="34" charset="-120"/>
              </a:rPr>
              <a:t>SME growth and entrepreneurship</a:t>
            </a:r>
            <a:endParaRPr lang="en-US" sz="780" dirty="0"/>
          </a:p>
        </p:txBody>
      </p:sp>
      <p:sp>
        <p:nvSpPr>
          <p:cNvPr id="46" name="Shape 38"/>
          <p:cNvSpPr/>
          <p:nvPr/>
        </p:nvSpPr>
        <p:spPr>
          <a:xfrm>
            <a:off x="6217920" y="5486400"/>
            <a:ext cx="2560320" cy="713232"/>
          </a:xfrm>
          <a:prstGeom prst="roundRect">
            <a:avLst>
              <a:gd name="adj" fmla="val 15385"/>
            </a:avLst>
          </a:prstGeom>
          <a:solidFill>
            <a:srgbClr val="FFFDF8"/>
          </a:solidFill>
          <a:ln w="10160">
            <a:solidFill>
              <a:srgbClr val="DCCDB9"/>
            </a:solidFill>
            <a:prstDash val="solid"/>
          </a:ln>
        </p:spPr>
        <p:txBody>
          <a:bodyPr/>
          <a:p/>
        </p:txBody>
      </p:sp>
      <p:sp>
        <p:nvSpPr>
          <p:cNvPr id="47" name="Shape 39"/>
          <p:cNvSpPr/>
          <p:nvPr/>
        </p:nvSpPr>
        <p:spPr>
          <a:xfrm>
            <a:off x="6327648" y="5596128"/>
            <a:ext cx="402336" cy="402336"/>
          </a:xfrm>
          <a:prstGeom prst="rect">
            <a:avLst/>
          </a:prstGeom>
          <a:solidFill>
            <a:srgbClr val="3B6EA5"/>
          </a:solidFill>
          <a:ln w="12700">
            <a:solidFill>
              <a:srgbClr val="3B6EA5"/>
            </a:solidFill>
            <a:prstDash val="solid"/>
          </a:ln>
        </p:spPr>
        <p:txBody>
          <a:bodyPr/>
          <a:p/>
        </p:txBody>
      </p:sp>
      <p:sp>
        <p:nvSpPr>
          <p:cNvPr id="48" name="Text 40"/>
          <p:cNvSpPr/>
          <p:nvPr/>
        </p:nvSpPr>
        <p:spPr>
          <a:xfrm>
            <a:off x="6327648" y="5650992"/>
            <a:ext cx="402336" cy="237744"/>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10</a:t>
            </a:r>
            <a:endParaRPr lang="en-US" sz="1050" dirty="0"/>
          </a:p>
        </p:txBody>
      </p:sp>
      <p:sp>
        <p:nvSpPr>
          <p:cNvPr id="49" name="Text 41"/>
          <p:cNvSpPr/>
          <p:nvPr/>
        </p:nvSpPr>
        <p:spPr>
          <a:xfrm>
            <a:off x="6821424" y="5577840"/>
            <a:ext cx="1847088" cy="402336"/>
          </a:xfrm>
          <a:prstGeom prst="rect">
            <a:avLst/>
          </a:prstGeom>
          <a:noFill/>
          <a:ln/>
        </p:spPr>
        <p:txBody>
          <a:bodyPr wrap="square" lIns="0" tIns="0" rIns="0" bIns="0" rtlCol="0" anchor="t"/>
          <a:lstStyle/>
          <a:p>
            <a:pPr algn="l" indent="0" marL="0">
              <a:lnSpc>
                <a:spcPct val="98000"/>
              </a:lnSpc>
              <a:buNone/>
            </a:pPr>
            <a:r>
              <a:rPr lang="en-US" sz="780" dirty="0">
                <a:solidFill>
                  <a:srgbClr val="6B6258"/>
                </a:solidFill>
                <a:latin typeface="Calibri" pitchFamily="34" charset="0"/>
                <a:ea typeface="Calibri" pitchFamily="34" charset="-122"/>
                <a:cs typeface="Calibri" pitchFamily="34" charset="-120"/>
              </a:rPr>
              <a:t>Reduced inequalities (optional)</a:t>
            </a:r>
            <a:endParaRPr lang="en-US" sz="780" dirty="0"/>
          </a:p>
        </p:txBody>
      </p:sp>
      <p:sp>
        <p:nvSpPr>
          <p:cNvPr id="50" name="Shape 42"/>
          <p:cNvSpPr/>
          <p:nvPr/>
        </p:nvSpPr>
        <p:spPr>
          <a:xfrm>
            <a:off x="9006840" y="5486400"/>
            <a:ext cx="2560320" cy="713232"/>
          </a:xfrm>
          <a:prstGeom prst="roundRect">
            <a:avLst>
              <a:gd name="adj" fmla="val 15385"/>
            </a:avLst>
          </a:prstGeom>
          <a:solidFill>
            <a:srgbClr val="FFFDF8"/>
          </a:solidFill>
          <a:ln w="10160">
            <a:solidFill>
              <a:srgbClr val="DCCDB9"/>
            </a:solidFill>
            <a:prstDash val="solid"/>
          </a:ln>
        </p:spPr>
        <p:txBody>
          <a:bodyPr/>
          <a:p/>
        </p:txBody>
      </p:sp>
      <p:sp>
        <p:nvSpPr>
          <p:cNvPr id="51" name="Shape 43"/>
          <p:cNvSpPr/>
          <p:nvPr/>
        </p:nvSpPr>
        <p:spPr>
          <a:xfrm>
            <a:off x="9116568" y="5596128"/>
            <a:ext cx="402336" cy="402336"/>
          </a:xfrm>
          <a:prstGeom prst="rect">
            <a:avLst/>
          </a:prstGeom>
          <a:solidFill>
            <a:srgbClr val="B45372"/>
          </a:solidFill>
          <a:ln w="12700">
            <a:solidFill>
              <a:srgbClr val="B45372"/>
            </a:solidFill>
            <a:prstDash val="solid"/>
          </a:ln>
        </p:spPr>
        <p:txBody>
          <a:bodyPr/>
          <a:p/>
        </p:txBody>
      </p:sp>
      <p:sp>
        <p:nvSpPr>
          <p:cNvPr id="52" name="Text 44"/>
          <p:cNvSpPr/>
          <p:nvPr/>
        </p:nvSpPr>
        <p:spPr>
          <a:xfrm>
            <a:off x="9116568" y="5650992"/>
            <a:ext cx="402336" cy="237744"/>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12</a:t>
            </a:r>
            <a:endParaRPr lang="en-US" sz="1050" dirty="0"/>
          </a:p>
        </p:txBody>
      </p:sp>
      <p:sp>
        <p:nvSpPr>
          <p:cNvPr id="53" name="Text 45"/>
          <p:cNvSpPr/>
          <p:nvPr/>
        </p:nvSpPr>
        <p:spPr>
          <a:xfrm>
            <a:off x="9610344" y="5577840"/>
            <a:ext cx="1847088" cy="402336"/>
          </a:xfrm>
          <a:prstGeom prst="rect">
            <a:avLst/>
          </a:prstGeom>
          <a:noFill/>
          <a:ln/>
        </p:spPr>
        <p:txBody>
          <a:bodyPr wrap="square" lIns="0" tIns="0" rIns="0" bIns="0" rtlCol="0" anchor="t"/>
          <a:lstStyle/>
          <a:p>
            <a:pPr algn="l" indent="0" marL="0">
              <a:lnSpc>
                <a:spcPct val="98000"/>
              </a:lnSpc>
              <a:buNone/>
            </a:pPr>
            <a:r>
              <a:rPr lang="en-US" sz="780" dirty="0">
                <a:solidFill>
                  <a:srgbClr val="6B6258"/>
                </a:solidFill>
                <a:latin typeface="Calibri" pitchFamily="34" charset="0"/>
                <a:ea typeface="Calibri" pitchFamily="34" charset="-122"/>
                <a:cs typeface="Calibri" pitchFamily="34" charset="-120"/>
              </a:rPr>
              <a:t>Responsible consumption (optional)</a:t>
            </a:r>
            <a:endParaRPr lang="en-US" sz="780" dirty="0"/>
          </a:p>
        </p:txBody>
      </p:sp>
      <p:sp>
        <p:nvSpPr>
          <p:cNvPr id="54" name="Text 46"/>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8C8073"/>
                </a:solidFill>
                <a:latin typeface="Calibri" pitchFamily="34" charset="0"/>
                <a:ea typeface="Calibri" pitchFamily="34" charset="-122"/>
                <a:cs typeface="Calibri" pitchFamily="34" charset="-120"/>
              </a:rPr>
              <a:t>SDC Hackathon 2026 · Domain 2 · SmartOrder Hub</a:t>
            </a:r>
            <a:endParaRPr lang="en-US" sz="750" dirty="0"/>
          </a:p>
        </p:txBody>
      </p:sp>
      <p:sp>
        <p:nvSpPr>
          <p:cNvPr id="55" name="Text 47"/>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8C8073"/>
                </a:solidFill>
                <a:latin typeface="Calibri" pitchFamily="34" charset="0"/>
                <a:ea typeface="Calibri" pitchFamily="34" charset="-122"/>
                <a:cs typeface="Calibri" pitchFamily="34" charset="-120"/>
              </a:rPr>
              <a:t>13</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714"/>
        </a:solidFill>
      </p:bgPr>
    </p:bg>
    <p:spTree>
      <p:nvGrpSpPr>
        <p:cNvPr id="1" name=""/>
        <p:cNvGrpSpPr/>
        <p:nvPr/>
      </p:nvGrpSpPr>
      <p:grpSpPr>
        <a:xfrm>
          <a:off x="0" y="0"/>
          <a:ext cx="0" cy="0"/>
          <a:chOff x="0" y="0"/>
          <a:chExt cx="0" cy="0"/>
        </a:xfrm>
      </p:grpSpPr>
      <p:sp>
        <p:nvSpPr>
          <p:cNvPr id="2" name="Text 0"/>
          <p:cNvSpPr/>
          <p:nvPr/>
        </p:nvSpPr>
        <p:spPr>
          <a:xfrm>
            <a:off x="640080" y="384048"/>
            <a:ext cx="9601200" cy="219456"/>
          </a:xfrm>
          <a:prstGeom prst="rect">
            <a:avLst/>
          </a:prstGeom>
          <a:noFill/>
          <a:ln/>
        </p:spPr>
        <p:txBody>
          <a:bodyPr wrap="square" lIns="0" tIns="0" rIns="0" bIns="0" rtlCol="0" anchor="t"/>
          <a:lstStyle/>
          <a:p>
            <a:pPr algn="l" indent="0" marL="0">
              <a:lnSpc>
                <a:spcPct val="100000"/>
              </a:lnSpc>
              <a:buNone/>
            </a:pPr>
            <a:r>
              <a:rPr lang="en-US" sz="900" b="1" spc="240" kern="0" dirty="0">
                <a:solidFill>
                  <a:srgbClr val="D97706"/>
                </a:solidFill>
                <a:latin typeface="Calibri" pitchFamily="34" charset="0"/>
                <a:ea typeface="Calibri" pitchFamily="34" charset="-122"/>
                <a:cs typeface="Calibri" pitchFamily="34" charset="-120"/>
              </a:rPr>
              <a:t>THANK YOU</a:t>
            </a:r>
            <a:endParaRPr lang="en-US" sz="900" dirty="0"/>
          </a:p>
        </p:txBody>
      </p:sp>
      <p:sp>
        <p:nvSpPr>
          <p:cNvPr id="3" name="Text 1"/>
          <p:cNvSpPr/>
          <p:nvPr/>
        </p:nvSpPr>
        <p:spPr>
          <a:xfrm>
            <a:off x="640080" y="877824"/>
            <a:ext cx="6675120" cy="1517904"/>
          </a:xfrm>
          <a:prstGeom prst="rect">
            <a:avLst/>
          </a:prstGeom>
          <a:noFill/>
          <a:ln/>
        </p:spPr>
        <p:txBody>
          <a:bodyPr wrap="square" lIns="0" tIns="0" rIns="0" bIns="0" rtlCol="0" anchor="t"/>
          <a:lstStyle/>
          <a:p>
            <a:pPr algn="l" indent="0" marL="0">
              <a:lnSpc>
                <a:spcPct val="90000"/>
              </a:lnSpc>
              <a:buNone/>
            </a:pPr>
            <a:r>
              <a:rPr lang="en-US" sz="4500" b="1" dirty="0">
                <a:solidFill>
                  <a:srgbClr val="F7F2E8"/>
                </a:solidFill>
                <a:latin typeface="Cambria" pitchFamily="34" charset="0"/>
                <a:ea typeface="Cambria" pitchFamily="34" charset="-122"/>
                <a:cs typeface="Cambria" pitchFamily="34" charset="-120"/>
              </a:rPr>
              <a:t>Give the owner</a:t>
            </a:r>
            <a:endParaRPr lang="en-US" sz="4500" dirty="0"/>
          </a:p>
          <a:p>
            <a:pPr algn="l" indent="0" marL="0">
              <a:lnSpc>
                <a:spcPct val="90000"/>
              </a:lnSpc>
              <a:buNone/>
            </a:pPr>
            <a:r>
              <a:rPr lang="en-US" sz="4500" b="1" dirty="0">
                <a:solidFill>
                  <a:srgbClr val="F7F2E8"/>
                </a:solidFill>
                <a:latin typeface="Cambria" pitchFamily="34" charset="0"/>
                <a:ea typeface="Cambria" pitchFamily="34" charset="-122"/>
                <a:cs typeface="Cambria" pitchFamily="34" charset="-120"/>
              </a:rPr>
              <a:t>back the evening.</a:t>
            </a:r>
            <a:endParaRPr lang="en-US" sz="4500" dirty="0"/>
          </a:p>
        </p:txBody>
      </p:sp>
      <p:sp>
        <p:nvSpPr>
          <p:cNvPr id="4" name="Text 2"/>
          <p:cNvSpPr/>
          <p:nvPr/>
        </p:nvSpPr>
        <p:spPr>
          <a:xfrm>
            <a:off x="640080" y="2596896"/>
            <a:ext cx="6400800" cy="329184"/>
          </a:xfrm>
          <a:prstGeom prst="rect">
            <a:avLst/>
          </a:prstGeom>
          <a:noFill/>
          <a:ln/>
        </p:spPr>
        <p:txBody>
          <a:bodyPr wrap="square" lIns="0" tIns="0" rIns="0" bIns="0" rtlCol="0" anchor="t"/>
          <a:lstStyle/>
          <a:p>
            <a:pPr algn="l" indent="0" marL="0">
              <a:lnSpc>
                <a:spcPct val="100000"/>
              </a:lnSpc>
              <a:buNone/>
            </a:pPr>
            <a:r>
              <a:rPr lang="en-US" sz="1700" i="1" dirty="0">
                <a:solidFill>
                  <a:srgbClr val="D97706"/>
                </a:solidFill>
                <a:latin typeface="Cambria" pitchFamily="34" charset="0"/>
                <a:ea typeface="Cambria" pitchFamily="34" charset="-122"/>
                <a:cs typeface="Cambria" pitchFamily="34" charset="-120"/>
              </a:rPr>
              <a:t>SmartOrder Hub — less busywork, better business.</a:t>
            </a:r>
            <a:endParaRPr lang="en-US" sz="1700" dirty="0"/>
          </a:p>
        </p:txBody>
      </p:sp>
      <p:sp>
        <p:nvSpPr>
          <p:cNvPr id="5" name="Text 3"/>
          <p:cNvSpPr/>
          <p:nvPr/>
        </p:nvSpPr>
        <p:spPr>
          <a:xfrm>
            <a:off x="640080" y="3182112"/>
            <a:ext cx="6035040" cy="621792"/>
          </a:xfrm>
          <a:prstGeom prst="rect">
            <a:avLst/>
          </a:prstGeom>
          <a:noFill/>
          <a:ln/>
        </p:spPr>
        <p:txBody>
          <a:bodyPr wrap="square" lIns="0" tIns="0" rIns="0" bIns="0" rtlCol="0" anchor="t"/>
          <a:lstStyle/>
          <a:p>
            <a:pPr algn="l" indent="0" marL="0">
              <a:lnSpc>
                <a:spcPct val="105000"/>
              </a:lnSpc>
              <a:buNone/>
            </a:pPr>
            <a:r>
              <a:rPr lang="en-US" sz="1100" dirty="0">
                <a:solidFill>
                  <a:srgbClr val="C9BBAA"/>
                </a:solidFill>
                <a:latin typeface="Calibri" pitchFamily="34" charset="0"/>
                <a:ea typeface="Calibri" pitchFamily="34" charset="-122"/>
                <a:cs typeface="Calibri" pitchFamily="34" charset="-120"/>
              </a:rPr>
              <a:t>Try it: open the Order Desk, review ORD-0001, confirm it,</a:t>
            </a:r>
            <a:endParaRPr lang="en-US" sz="1100" dirty="0"/>
          </a:p>
          <a:p>
            <a:pPr algn="l" indent="0" marL="0">
              <a:lnSpc>
                <a:spcPct val="105000"/>
              </a:lnSpc>
              <a:buNone/>
            </a:pPr>
            <a:r>
              <a:rPr lang="en-US" sz="1100" dirty="0">
                <a:solidFill>
                  <a:srgbClr val="C9BBAA"/>
                </a:solidFill>
                <a:latin typeface="Calibri" pitchFamily="34" charset="0"/>
                <a:ea typeface="Calibri" pitchFamily="34" charset="-122"/>
                <a:cs typeface="Calibri" pitchFamily="34" charset="-120"/>
              </a:rPr>
              <a:t>then follow the event into the Activity log.</a:t>
            </a:r>
            <a:endParaRPr lang="en-US" sz="1100" dirty="0"/>
          </a:p>
        </p:txBody>
      </p:sp>
      <p:sp>
        <p:nvSpPr>
          <p:cNvPr id="6" name="Text 4"/>
          <p:cNvSpPr/>
          <p:nvPr/>
        </p:nvSpPr>
        <p:spPr>
          <a:xfrm>
            <a:off x="640080" y="4206240"/>
            <a:ext cx="3291840" cy="274320"/>
          </a:xfrm>
          <a:prstGeom prst="rect">
            <a:avLst/>
          </a:prstGeom>
          <a:noFill/>
          <a:ln/>
        </p:spPr>
        <p:txBody>
          <a:bodyPr wrap="square" lIns="0" tIns="0" rIns="0" bIns="0" rtlCol="0" anchor="t"/>
          <a:lstStyle/>
          <a:p>
            <a:pPr algn="l" indent="0" marL="0">
              <a:lnSpc>
                <a:spcPct val="100000"/>
              </a:lnSpc>
              <a:buNone/>
            </a:pPr>
            <a:r>
              <a:rPr lang="en-US" sz="1550" b="1" dirty="0">
                <a:solidFill>
                  <a:srgbClr val="F7F2E8"/>
                </a:solidFill>
                <a:latin typeface="Calibri" pitchFamily="34" charset="0"/>
                <a:ea typeface="Calibri" pitchFamily="34" charset="-122"/>
                <a:cs typeface="Calibri" pitchFamily="34" charset="-120"/>
              </a:rPr>
              <a:t>Empathy Coders</a:t>
            </a:r>
            <a:endParaRPr lang="en-US" sz="1550" dirty="0"/>
          </a:p>
        </p:txBody>
      </p:sp>
      <p:sp>
        <p:nvSpPr>
          <p:cNvPr id="7" name="Text 5"/>
          <p:cNvSpPr/>
          <p:nvPr/>
        </p:nvSpPr>
        <p:spPr>
          <a:xfrm>
            <a:off x="640080" y="4526280"/>
            <a:ext cx="4023360" cy="237744"/>
          </a:xfrm>
          <a:prstGeom prst="rect">
            <a:avLst/>
          </a:prstGeom>
          <a:noFill/>
          <a:ln/>
        </p:spPr>
        <p:txBody>
          <a:bodyPr wrap="square" lIns="0" tIns="0" rIns="0" bIns="0" rtlCol="0" anchor="t"/>
          <a:lstStyle/>
          <a:p>
            <a:pPr algn="l" indent="0" marL="0">
              <a:lnSpc>
                <a:spcPct val="100000"/>
              </a:lnSpc>
              <a:buNone/>
            </a:pPr>
            <a:r>
              <a:rPr lang="en-US" sz="1050" dirty="0">
                <a:solidFill>
                  <a:srgbClr val="A89888"/>
                </a:solidFill>
                <a:latin typeface="Calibri" pitchFamily="34" charset="0"/>
                <a:ea typeface="Calibri" pitchFamily="34" charset="-122"/>
                <a:cs typeface="Calibri" pitchFamily="34" charset="-120"/>
              </a:rPr>
              <a:t>SDC Hackathon 2026  ·  Domain 2</a:t>
            </a:r>
            <a:endParaRPr lang="en-US" sz="1050" dirty="0"/>
          </a:p>
        </p:txBody>
      </p:sp>
      <p:sp>
        <p:nvSpPr>
          <p:cNvPr id="8" name="Text 6"/>
          <p:cNvSpPr/>
          <p:nvPr/>
        </p:nvSpPr>
        <p:spPr>
          <a:xfrm>
            <a:off x="640080" y="4983480"/>
            <a:ext cx="3840480" cy="237744"/>
          </a:xfrm>
          <a:prstGeom prst="rect">
            <a:avLst/>
          </a:prstGeom>
          <a:noFill/>
          <a:ln/>
        </p:spPr>
        <p:txBody>
          <a:bodyPr wrap="square" lIns="0" tIns="0" rIns="0" bIns="0" rtlCol="0" anchor="t"/>
          <a:lstStyle/>
          <a:p>
            <a:pPr algn="l" indent="0" marL="0">
              <a:lnSpc>
                <a:spcPct val="100000"/>
              </a:lnSpc>
              <a:buNone/>
            </a:pPr>
            <a:r>
              <a:rPr lang="en-US" sz="1020" dirty="0">
                <a:solidFill>
                  <a:srgbClr val="F7F2E8"/>
                </a:solidFill>
                <a:latin typeface="Calibri" pitchFamily="34" charset="0"/>
                <a:ea typeface="Calibri" pitchFamily="34" charset="-122"/>
                <a:cs typeface="Calibri" pitchFamily="34" charset="-120"/>
              </a:rPr>
              <a:t>smart-order-hub-1.replit.app</a:t>
            </a:r>
            <a:endParaRPr lang="en-US" sz="1020" dirty="0"/>
          </a:p>
        </p:txBody>
      </p:sp>
      <p:sp>
        <p:nvSpPr>
          <p:cNvPr id="9" name="Text 7"/>
          <p:cNvSpPr/>
          <p:nvPr/>
        </p:nvSpPr>
        <p:spPr>
          <a:xfrm>
            <a:off x="640080" y="5285232"/>
            <a:ext cx="4389120" cy="237744"/>
          </a:xfrm>
          <a:prstGeom prst="rect">
            <a:avLst/>
          </a:prstGeom>
          <a:noFill/>
          <a:ln/>
        </p:spPr>
        <p:txBody>
          <a:bodyPr wrap="square" lIns="0" tIns="0" rIns="0" bIns="0" rtlCol="0" anchor="t"/>
          <a:lstStyle/>
          <a:p>
            <a:pPr algn="l" indent="0" marL="0">
              <a:lnSpc>
                <a:spcPct val="100000"/>
              </a:lnSpc>
              <a:buNone/>
            </a:pPr>
            <a:r>
              <a:rPr lang="en-US" sz="920" dirty="0">
                <a:solidFill>
                  <a:srgbClr val="C9BBAA"/>
                </a:solidFill>
                <a:latin typeface="Calibri" pitchFamily="34" charset="0"/>
                <a:ea typeface="Calibri" pitchFamily="34" charset="-122"/>
                <a:cs typeface="Calibri" pitchFamily="34" charset="-120"/>
              </a:rPr>
              <a:t>github.com/Jacky-Godlike/Empathy-Coders</a:t>
            </a:r>
            <a:endParaRPr lang="en-US" sz="920" dirty="0"/>
          </a:p>
        </p:txBody>
      </p:sp>
      <p:sp>
        <p:nvSpPr>
          <p:cNvPr id="10" name="Text 8"/>
          <p:cNvSpPr/>
          <p:nvPr/>
        </p:nvSpPr>
        <p:spPr>
          <a:xfrm>
            <a:off x="640080" y="6272784"/>
            <a:ext cx="6217920" cy="219456"/>
          </a:xfrm>
          <a:prstGeom prst="rect">
            <a:avLst/>
          </a:prstGeom>
          <a:noFill/>
          <a:ln/>
        </p:spPr>
        <p:txBody>
          <a:bodyPr wrap="square" lIns="0" tIns="0" rIns="0" bIns="0" rtlCol="0" anchor="t"/>
          <a:lstStyle/>
          <a:p>
            <a:pPr algn="l" indent="0" marL="0">
              <a:lnSpc>
                <a:spcPct val="100000"/>
              </a:lnSpc>
              <a:buNone/>
            </a:pPr>
            <a:r>
              <a:rPr lang="en-US" sz="800" dirty="0">
                <a:solidFill>
                  <a:srgbClr val="7F7265"/>
                </a:solidFill>
                <a:latin typeface="Calibri" pitchFamily="34" charset="0"/>
                <a:ea typeface="Calibri" pitchFamily="34" charset="-122"/>
                <a:cs typeface="Calibri" pitchFamily="34" charset="-120"/>
              </a:rPr>
              <a:t>Synthetic data only. No real payments, purchase orders or statutory filings.</a:t>
            </a:r>
            <a:endParaRPr lang="en-US" sz="800" dirty="0"/>
          </a:p>
        </p:txBody>
      </p:sp>
      <p:sp>
        <p:nvSpPr>
          <p:cNvPr id="11" name="Shape 9"/>
          <p:cNvSpPr/>
          <p:nvPr/>
        </p:nvSpPr>
        <p:spPr>
          <a:xfrm>
            <a:off x="7818120" y="1417320"/>
            <a:ext cx="1719072" cy="2395728"/>
          </a:xfrm>
          <a:prstGeom prst="roundRect">
            <a:avLst>
              <a:gd name="adj" fmla="val 6915"/>
            </a:avLst>
          </a:prstGeom>
          <a:solidFill>
            <a:srgbClr val="F7F2E8"/>
          </a:solidFill>
          <a:ln w="10160">
            <a:solidFill>
              <a:srgbClr val="E2CFB4"/>
            </a:solidFill>
            <a:prstDash val="solid"/>
          </a:ln>
          <a:effectLst>
            <a:outerShdw sx="100000" sy="100000" kx="0" ky="0" algn="bl" rotWithShape="0" blurRad="31750" dist="50800" dir="2700000">
              <a:srgbClr val="4A3B2A">
                <a:alpha val="10000"/>
              </a:srgbClr>
            </a:outerShdw>
          </a:effectLst>
        </p:spPr>
        <p:txBody>
          <a:bodyPr/>
          <a:p/>
        </p:txBody>
      </p:sp>
      <p:sp>
        <p:nvSpPr>
          <p:cNvPr id="12" name="Text 10"/>
          <p:cNvSpPr/>
          <p:nvPr/>
        </p:nvSpPr>
        <p:spPr>
          <a:xfrm>
            <a:off x="7964424" y="1572768"/>
            <a:ext cx="1426464" cy="182880"/>
          </a:xfrm>
          <a:prstGeom prst="rect">
            <a:avLst/>
          </a:prstGeom>
          <a:noFill/>
          <a:ln/>
        </p:spPr>
        <p:txBody>
          <a:bodyPr wrap="square" lIns="0" tIns="0" rIns="0" bIns="0" rtlCol="0" anchor="t"/>
          <a:lstStyle/>
          <a:p>
            <a:pPr algn="ctr" indent="0" marL="0">
              <a:lnSpc>
                <a:spcPct val="100000"/>
              </a:lnSpc>
              <a:buNone/>
            </a:pPr>
            <a:r>
              <a:rPr lang="en-US" sz="760" b="1" spc="100" kern="0" dirty="0">
                <a:solidFill>
                  <a:srgbClr val="D97706"/>
                </a:solidFill>
                <a:latin typeface="Calibri" pitchFamily="34" charset="0"/>
                <a:ea typeface="Calibri" pitchFamily="34" charset="-122"/>
                <a:cs typeface="Calibri" pitchFamily="34" charset="-120"/>
              </a:rPr>
              <a:t>LIVE DEMO</a:t>
            </a:r>
            <a:endParaRPr lang="en-US" sz="760" dirty="0"/>
          </a:p>
        </p:txBody>
      </p:sp>
      <p:pic>
        <p:nvPicPr>
          <p:cNvPr id="13" name="Image 0" descr="/private/tmp/soh-deck/assets/qr-demo.png">    </p:cNvPr>
          <p:cNvPicPr>
            <a:picLocks noChangeAspect="1"/>
          </p:cNvPicPr>
          <p:nvPr/>
        </p:nvPicPr>
        <p:blipFill>
          <a:blip r:embed="rId1"/>
          <a:stretch>
            <a:fillRect/>
          </a:stretch>
        </p:blipFill>
        <p:spPr>
          <a:xfrm>
            <a:off x="8019288" y="1828800"/>
            <a:ext cx="1316736" cy="1316736"/>
          </a:xfrm>
          <a:prstGeom prst="rect">
            <a:avLst/>
          </a:prstGeom>
        </p:spPr>
      </p:pic>
      <p:sp>
        <p:nvSpPr>
          <p:cNvPr id="14" name="Text 11"/>
          <p:cNvSpPr/>
          <p:nvPr/>
        </p:nvSpPr>
        <p:spPr>
          <a:xfrm>
            <a:off x="7964424" y="3218688"/>
            <a:ext cx="1426464" cy="365760"/>
          </a:xfrm>
          <a:prstGeom prst="rect">
            <a:avLst/>
          </a:prstGeom>
          <a:noFill/>
          <a:ln/>
        </p:spPr>
        <p:txBody>
          <a:bodyPr wrap="square" lIns="0" tIns="0" rIns="0" bIns="0" rtlCol="0" anchor="t"/>
          <a:lstStyle/>
          <a:p>
            <a:pPr algn="ctr" indent="0" marL="0">
              <a:lnSpc>
                <a:spcPct val="95000"/>
              </a:lnSpc>
              <a:buNone/>
            </a:pPr>
            <a:r>
              <a:rPr lang="en-US" sz="760" dirty="0">
                <a:solidFill>
                  <a:srgbClr val="6B6258"/>
                </a:solidFill>
                <a:latin typeface="Calibri" pitchFamily="34" charset="0"/>
                <a:ea typeface="Calibri" pitchFamily="34" charset="-122"/>
                <a:cs typeface="Calibri" pitchFamily="34" charset="-120"/>
              </a:rPr>
              <a:t>Open the order desk</a:t>
            </a:r>
            <a:endParaRPr lang="en-US" sz="760" dirty="0"/>
          </a:p>
        </p:txBody>
      </p:sp>
      <p:sp>
        <p:nvSpPr>
          <p:cNvPr id="15" name="Shape 12"/>
          <p:cNvSpPr/>
          <p:nvPr/>
        </p:nvSpPr>
        <p:spPr>
          <a:xfrm>
            <a:off x="9738360" y="1417320"/>
            <a:ext cx="1719072" cy="2395728"/>
          </a:xfrm>
          <a:prstGeom prst="roundRect">
            <a:avLst>
              <a:gd name="adj" fmla="val 6915"/>
            </a:avLst>
          </a:prstGeom>
          <a:solidFill>
            <a:srgbClr val="F7F2E8"/>
          </a:solidFill>
          <a:ln w="10160">
            <a:solidFill>
              <a:srgbClr val="E2CFB4"/>
            </a:solidFill>
            <a:prstDash val="solid"/>
          </a:ln>
          <a:effectLst>
            <a:outerShdw sx="100000" sy="100000" kx="0" ky="0" algn="bl" rotWithShape="0" blurRad="31750" dist="50800" dir="2700000">
              <a:srgbClr val="4A3B2A">
                <a:alpha val="10000"/>
              </a:srgbClr>
            </a:outerShdw>
          </a:effectLst>
        </p:spPr>
        <p:txBody>
          <a:bodyPr/>
          <a:p/>
        </p:txBody>
      </p:sp>
      <p:sp>
        <p:nvSpPr>
          <p:cNvPr id="16" name="Text 13"/>
          <p:cNvSpPr/>
          <p:nvPr/>
        </p:nvSpPr>
        <p:spPr>
          <a:xfrm>
            <a:off x="9884664" y="1572768"/>
            <a:ext cx="1426464" cy="182880"/>
          </a:xfrm>
          <a:prstGeom prst="rect">
            <a:avLst/>
          </a:prstGeom>
          <a:noFill/>
          <a:ln/>
        </p:spPr>
        <p:txBody>
          <a:bodyPr wrap="square" lIns="0" tIns="0" rIns="0" bIns="0" rtlCol="0" anchor="t"/>
          <a:lstStyle/>
          <a:p>
            <a:pPr algn="ctr" indent="0" marL="0">
              <a:lnSpc>
                <a:spcPct val="100000"/>
              </a:lnSpc>
              <a:buNone/>
            </a:pPr>
            <a:r>
              <a:rPr lang="en-US" sz="760" b="1" spc="100" kern="0" dirty="0">
                <a:solidFill>
                  <a:srgbClr val="D97706"/>
                </a:solidFill>
                <a:latin typeface="Calibri" pitchFamily="34" charset="0"/>
                <a:ea typeface="Calibri" pitchFamily="34" charset="-122"/>
                <a:cs typeface="Calibri" pitchFamily="34" charset="-120"/>
              </a:rPr>
              <a:t>GITHUB</a:t>
            </a:r>
            <a:endParaRPr lang="en-US" sz="760" dirty="0"/>
          </a:p>
        </p:txBody>
      </p:sp>
      <p:pic>
        <p:nvPicPr>
          <p:cNvPr id="17" name="Image 1" descr="/private/tmp/soh-deck/assets/qr-repo.png">    </p:cNvPr>
          <p:cNvPicPr>
            <a:picLocks noChangeAspect="1"/>
          </p:cNvPicPr>
          <p:nvPr/>
        </p:nvPicPr>
        <p:blipFill>
          <a:blip r:embed="rId2"/>
          <a:stretch>
            <a:fillRect/>
          </a:stretch>
        </p:blipFill>
        <p:spPr>
          <a:xfrm>
            <a:off x="9939528" y="1828800"/>
            <a:ext cx="1316736" cy="1316736"/>
          </a:xfrm>
          <a:prstGeom prst="rect">
            <a:avLst/>
          </a:prstGeom>
        </p:spPr>
      </p:pic>
      <p:sp>
        <p:nvSpPr>
          <p:cNvPr id="18" name="Text 14"/>
          <p:cNvSpPr/>
          <p:nvPr/>
        </p:nvSpPr>
        <p:spPr>
          <a:xfrm>
            <a:off x="9884664" y="3218688"/>
            <a:ext cx="1426464" cy="365760"/>
          </a:xfrm>
          <a:prstGeom prst="rect">
            <a:avLst/>
          </a:prstGeom>
          <a:noFill/>
          <a:ln/>
        </p:spPr>
        <p:txBody>
          <a:bodyPr wrap="square" lIns="0" tIns="0" rIns="0" bIns="0" rtlCol="0" anchor="t"/>
          <a:lstStyle/>
          <a:p>
            <a:pPr algn="ctr" indent="0" marL="0">
              <a:lnSpc>
                <a:spcPct val="95000"/>
              </a:lnSpc>
              <a:buNone/>
            </a:pPr>
            <a:r>
              <a:rPr lang="en-US" sz="760" dirty="0">
                <a:solidFill>
                  <a:srgbClr val="6B6258"/>
                </a:solidFill>
                <a:latin typeface="Calibri" pitchFamily="34" charset="0"/>
                <a:ea typeface="Calibri" pitchFamily="34" charset="-122"/>
                <a:cs typeface="Calibri" pitchFamily="34" charset="-120"/>
              </a:rPr>
              <a:t>Source &amp; docs</a:t>
            </a:r>
            <a:endParaRPr lang="en-US" sz="760" dirty="0"/>
          </a:p>
        </p:txBody>
      </p:sp>
      <p:sp>
        <p:nvSpPr>
          <p:cNvPr id="19" name="Shape 15"/>
          <p:cNvSpPr/>
          <p:nvPr/>
        </p:nvSpPr>
        <p:spPr>
          <a:xfrm>
            <a:off x="7818120" y="4160520"/>
            <a:ext cx="3639312" cy="256032"/>
          </a:xfrm>
          <a:prstGeom prst="roundRect">
            <a:avLst>
              <a:gd name="adj" fmla="val 50000"/>
            </a:avLst>
          </a:prstGeom>
          <a:solidFill>
            <a:srgbClr val="3A3026"/>
          </a:solidFill>
          <a:ln w="7620">
            <a:solidFill>
              <a:srgbClr val="5A4939"/>
            </a:solidFill>
            <a:prstDash val="solid"/>
          </a:ln>
        </p:spPr>
        <p:txBody>
          <a:bodyPr/>
          <a:p/>
        </p:txBody>
      </p:sp>
      <p:sp>
        <p:nvSpPr>
          <p:cNvPr id="20" name="Text 16"/>
          <p:cNvSpPr/>
          <p:nvPr/>
        </p:nvSpPr>
        <p:spPr>
          <a:xfrm>
            <a:off x="7909560" y="4178808"/>
            <a:ext cx="3456432" cy="228600"/>
          </a:xfrm>
          <a:prstGeom prst="rect">
            <a:avLst/>
          </a:prstGeom>
          <a:noFill/>
          <a:ln/>
        </p:spPr>
        <p:txBody>
          <a:bodyPr wrap="square" lIns="0" tIns="0" rIns="0" bIns="0" rtlCol="0" anchor="ctr"/>
          <a:lstStyle/>
          <a:p>
            <a:pPr algn="ctr" indent="0" marL="0">
              <a:lnSpc>
                <a:spcPct val="100000"/>
              </a:lnSpc>
              <a:buNone/>
            </a:pPr>
            <a:r>
              <a:rPr lang="en-US" sz="640" b="1" spc="50" kern="0" dirty="0">
                <a:solidFill>
                  <a:srgbClr val="D97706"/>
                </a:solidFill>
                <a:latin typeface="Calibri" pitchFamily="34" charset="0"/>
                <a:ea typeface="Calibri" pitchFamily="34" charset="-122"/>
                <a:cs typeface="Calibri" pitchFamily="34" charset="-120"/>
              </a:rPr>
              <a:t>THANK YOU  ·  QUESTIONS WELCOME</a:t>
            </a:r>
            <a:endParaRPr lang="en-US" sz="640" dirty="0"/>
          </a:p>
        </p:txBody>
      </p:sp>
      <p:sp>
        <p:nvSpPr>
          <p:cNvPr id="21" name="Text 17"/>
          <p:cNvSpPr/>
          <p:nvPr/>
        </p:nvSpPr>
        <p:spPr>
          <a:xfrm>
            <a:off x="640080" y="6519672"/>
            <a:ext cx="7680960" cy="164592"/>
          </a:xfrm>
          <a:prstGeom prst="rect">
            <a:avLst/>
          </a:prstGeom>
          <a:noFill/>
          <a:ln/>
        </p:spPr>
        <p:txBody>
          <a:bodyPr wrap="square" lIns="0" tIns="0" rIns="0" bIns="0" rtlCol="0" anchor="t"/>
          <a:lstStyle/>
          <a:p>
            <a:pPr algn="l" indent="0" marL="0">
              <a:lnSpc>
                <a:spcPct val="100000"/>
              </a:lnSpc>
              <a:buNone/>
            </a:pPr>
            <a:r>
              <a:rPr lang="en-US" sz="750" dirty="0">
                <a:solidFill>
                  <a:srgbClr val="A89888"/>
                </a:solidFill>
                <a:latin typeface="Calibri" pitchFamily="34" charset="0"/>
                <a:ea typeface="Calibri" pitchFamily="34" charset="-122"/>
                <a:cs typeface="Calibri" pitchFamily="34" charset="-120"/>
              </a:rPr>
              <a:t>SDC Hackathon 2026 · Domain 2 · SmartOrder Hub</a:t>
            </a:r>
            <a:endParaRPr lang="en-US" sz="750" dirty="0"/>
          </a:p>
        </p:txBody>
      </p:sp>
      <p:sp>
        <p:nvSpPr>
          <p:cNvPr id="22" name="Text 18"/>
          <p:cNvSpPr/>
          <p:nvPr/>
        </p:nvSpPr>
        <p:spPr>
          <a:xfrm>
            <a:off x="11109960" y="6519672"/>
            <a:ext cx="438912" cy="164592"/>
          </a:xfrm>
          <a:prstGeom prst="rect">
            <a:avLst/>
          </a:prstGeom>
          <a:noFill/>
          <a:ln/>
        </p:spPr>
        <p:txBody>
          <a:bodyPr wrap="square" lIns="0" tIns="0" rIns="0" bIns="0" rtlCol="0" anchor="t"/>
          <a:lstStyle/>
          <a:p>
            <a:pPr algn="r" indent="0" marL="0">
              <a:lnSpc>
                <a:spcPct val="100000"/>
              </a:lnSpc>
              <a:buNone/>
            </a:pPr>
            <a:r>
              <a:rPr lang="en-US" sz="750" b="1" dirty="0">
                <a:solidFill>
                  <a:srgbClr val="A89888"/>
                </a:solidFill>
                <a:latin typeface="Calibri" pitchFamily="34" charset="0"/>
                <a:ea typeface="Calibri" pitchFamily="34" charset="-122"/>
                <a:cs typeface="Calibri" pitchFamily="34" charset="-120"/>
              </a:rPr>
              <a:t>14</a:t>
            </a:r>
            <a:endParaRPr lang="en-US" sz="75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640080" y="384048"/>
            <a:ext cx="9601200" cy="219456"/>
          </a:xfrm>
          <a:prstGeom prst="rect">
            <a:avLst/>
          </a:prstGeom>
          <a:noFill/>
        </p:spPr>
        <p:txBody>
          <a:bodyPr wrap="square" lIns="0" rIns="0" tIns="0" bIns="0" anchor="t">
            <a:spAutoFit/>
          </a:bodyPr>
          <a:lstStyle/>
          <a:p>
            <a:pPr algn="l"/>
            <a:r>
              <a:rPr sz="900" b="1">
                <a:solidFill>
                  <a:srgbClr val="D97706"/>
                </a:solidFill>
                <a:latin typeface="Calibri"/>
              </a:rPr>
              <a:t>THE TIME MATH</a:t>
            </a:r>
          </a:p>
        </p:txBody>
      </p:sp>
      <p:sp>
        <p:nvSpPr>
          <p:cNvPr id="3" name="TextBox 2"/>
          <p:cNvSpPr txBox="1"/>
          <p:nvPr/>
        </p:nvSpPr>
        <p:spPr>
          <a:xfrm>
            <a:off x="640080" y="640080"/>
            <a:ext cx="10881360" cy="868680"/>
          </a:xfrm>
          <a:prstGeom prst="rect">
            <a:avLst/>
          </a:prstGeom>
          <a:noFill/>
        </p:spPr>
        <p:txBody>
          <a:bodyPr wrap="square" lIns="0" rIns="0" tIns="0" bIns="0" anchor="t">
            <a:spAutoFit/>
          </a:bodyPr>
          <a:lstStyle/>
          <a:p>
            <a:pPr algn="l"/>
            <a:r>
              <a:rPr sz="3400" b="1">
                <a:solidFill>
                  <a:srgbClr val="1B1714"/>
                </a:solidFill>
                <a:latin typeface="Cambria"/>
              </a:rPr>
              <a:t>The evening you get back.</a:t>
            </a:r>
          </a:p>
        </p:txBody>
      </p:sp>
      <p:sp>
        <p:nvSpPr>
          <p:cNvPr id="4" name="TextBox 3"/>
          <p:cNvSpPr txBox="1"/>
          <p:nvPr/>
        </p:nvSpPr>
        <p:spPr>
          <a:xfrm>
            <a:off x="640080" y="1463040"/>
            <a:ext cx="10881360" cy="310896"/>
          </a:xfrm>
          <a:prstGeom prst="rect">
            <a:avLst/>
          </a:prstGeom>
          <a:noFill/>
        </p:spPr>
        <p:txBody>
          <a:bodyPr wrap="square" lIns="0" rIns="0" tIns="0" bIns="0" anchor="t">
            <a:spAutoFit/>
          </a:bodyPr>
          <a:lstStyle/>
          <a:p>
            <a:pPr algn="l"/>
            <a:r>
              <a:rPr sz="1320" b="0">
                <a:solidFill>
                  <a:srgbClr val="6B6258"/>
                </a:solidFill>
                <a:latin typeface="Calibri"/>
              </a:rPr>
              <a:t>A conservative estimate: 11 minutes of manual order entry vs 3 minutes with SmartOrder Hub.</a:t>
            </a:r>
          </a:p>
        </p:txBody>
      </p:sp>
      <p:sp>
        <p:nvSpPr>
          <p:cNvPr id="5" name="Rounded Rectangle 4"/>
          <p:cNvSpPr/>
          <p:nvPr/>
        </p:nvSpPr>
        <p:spPr>
          <a:xfrm>
            <a:off x="640080" y="1938528"/>
            <a:ext cx="10908792" cy="1078992"/>
          </a:xfrm>
          <a:prstGeom prst="roundRect">
            <a:avLst>
              <a:gd name="adj" fmla="val 8000"/>
            </a:avLst>
          </a:prstGeom>
          <a:solidFill>
            <a:srgbClr val="F1E7D8"/>
          </a:solidFill>
          <a:ln w="12700">
            <a:solidFill>
              <a:srgbClr val="F1E7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084831"/>
            <a:ext cx="10378440" cy="749808"/>
          </a:xfrm>
          <a:prstGeom prst="rect">
            <a:avLst/>
          </a:prstGeom>
          <a:noFill/>
        </p:spPr>
        <p:txBody>
          <a:bodyPr wrap="none" lIns="0" rIns="0" tIns="0" bIns="0" anchor="ctr">
            <a:spAutoFit/>
          </a:bodyPr>
          <a:lstStyle/>
          <a:p>
            <a:pPr algn="l"/>
            <a:r>
              <a:rPr sz="2800" b="1">
                <a:solidFill>
                  <a:srgbClr val="1B1714"/>
                </a:solidFill>
                <a:latin typeface="Calibri"/>
              </a:rPr>
              <a:t>11 min</a:t>
            </a:r>
            <a:r>
              <a:rPr sz="1400" b="0">
                <a:solidFill>
                  <a:srgbClr val="6B6258"/>
                </a:solidFill>
                <a:latin typeface="Calibri"/>
              </a:rPr>
              <a:t> manual  −  </a:t>
            </a:r>
            <a:r>
              <a:rPr sz="2800" b="1">
                <a:solidFill>
                  <a:srgbClr val="1B1714"/>
                </a:solidFill>
                <a:latin typeface="Calibri"/>
              </a:rPr>
              <a:t>3 min</a:t>
            </a:r>
            <a:r>
              <a:rPr sz="1400" b="0">
                <a:solidFill>
                  <a:srgbClr val="6B6258"/>
                </a:solidFill>
                <a:latin typeface="Calibri"/>
              </a:rPr>
              <a:t> automated  =  </a:t>
            </a:r>
            <a:r>
              <a:rPr sz="3400" b="1">
                <a:solidFill>
                  <a:srgbClr val="D97706"/>
                </a:solidFill>
                <a:latin typeface="Calibri"/>
              </a:rPr>
              <a:t>8 min</a:t>
            </a:r>
            <a:r>
              <a:rPr sz="1400" b="0">
                <a:solidFill>
                  <a:srgbClr val="1B1714"/>
                </a:solidFill>
                <a:latin typeface="Calibri"/>
              </a:rPr>
              <a:t> saved per order</a:t>
            </a:r>
          </a:p>
        </p:txBody>
      </p:sp>
      <p:sp>
        <p:nvSpPr>
          <p:cNvPr id="7" name="Rounded Rectangle 6"/>
          <p:cNvSpPr/>
          <p:nvPr/>
        </p:nvSpPr>
        <p:spPr>
          <a:xfrm>
            <a:off x="640080" y="3273552"/>
            <a:ext cx="3493008" cy="1938528"/>
          </a:xfrm>
          <a:prstGeom prst="roundRect">
            <a:avLst>
              <a:gd name="adj" fmla="val 8000"/>
            </a:avLst>
          </a:prstGeom>
          <a:solidFill>
            <a:srgbClr val="FFFDF8"/>
          </a:solidFill>
          <a:ln w="12700">
            <a:solidFill>
              <a:srgbClr val="E3D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3438144"/>
            <a:ext cx="3017520" cy="201168"/>
          </a:xfrm>
          <a:prstGeom prst="rect">
            <a:avLst/>
          </a:prstGeom>
          <a:noFill/>
        </p:spPr>
        <p:txBody>
          <a:bodyPr wrap="square" lIns="0" rIns="0" tIns="0" bIns="0" anchor="t">
            <a:spAutoFit/>
          </a:bodyPr>
          <a:lstStyle/>
          <a:p>
            <a:pPr algn="l"/>
            <a:r>
              <a:rPr sz="819" b="1">
                <a:solidFill>
                  <a:srgbClr val="D97706"/>
                </a:solidFill>
                <a:latin typeface="Calibri"/>
              </a:rPr>
              <a:t>SMALL CAFE</a:t>
            </a:r>
          </a:p>
        </p:txBody>
      </p:sp>
      <p:sp>
        <p:nvSpPr>
          <p:cNvPr id="9" name="TextBox 8"/>
          <p:cNvSpPr txBox="1"/>
          <p:nvPr/>
        </p:nvSpPr>
        <p:spPr>
          <a:xfrm>
            <a:off x="859536" y="3675887"/>
            <a:ext cx="3017520" cy="384048"/>
          </a:xfrm>
          <a:prstGeom prst="rect">
            <a:avLst/>
          </a:prstGeom>
          <a:noFill/>
        </p:spPr>
        <p:txBody>
          <a:bodyPr wrap="square" lIns="0" rIns="0" tIns="0" bIns="0" anchor="t">
            <a:spAutoFit/>
          </a:bodyPr>
          <a:lstStyle/>
          <a:p>
            <a:pPr algn="l"/>
            <a:r>
              <a:rPr sz="2100" b="1">
                <a:solidFill>
                  <a:srgbClr val="1B1714"/>
                </a:solidFill>
                <a:latin typeface="Cambria"/>
              </a:rPr>
              <a:t>20 orders/week</a:t>
            </a:r>
          </a:p>
        </p:txBody>
      </p:sp>
      <p:sp>
        <p:nvSpPr>
          <p:cNvPr id="10" name="TextBox 9"/>
          <p:cNvSpPr txBox="1"/>
          <p:nvPr/>
        </p:nvSpPr>
        <p:spPr>
          <a:xfrm>
            <a:off x="859536" y="4078224"/>
            <a:ext cx="3017520" cy="548640"/>
          </a:xfrm>
          <a:prstGeom prst="rect">
            <a:avLst/>
          </a:prstGeom>
          <a:noFill/>
        </p:spPr>
        <p:txBody>
          <a:bodyPr wrap="square" lIns="0" rIns="0" tIns="0" bIns="0" anchor="t">
            <a:spAutoFit/>
          </a:bodyPr>
          <a:lstStyle/>
          <a:p>
            <a:pPr algn="l"/>
            <a:r>
              <a:rPr sz="3200" b="1">
                <a:solidFill>
                  <a:srgbClr val="2F6B4F"/>
                </a:solidFill>
                <a:latin typeface="Cambria"/>
              </a:rPr>
              <a:t>2.7 h</a:t>
            </a:r>
          </a:p>
        </p:txBody>
      </p:sp>
      <p:sp>
        <p:nvSpPr>
          <p:cNvPr id="11" name="TextBox 10"/>
          <p:cNvSpPr txBox="1"/>
          <p:nvPr/>
        </p:nvSpPr>
        <p:spPr>
          <a:xfrm>
            <a:off x="859536" y="4590288"/>
            <a:ext cx="3017520" cy="219456"/>
          </a:xfrm>
          <a:prstGeom prst="rect">
            <a:avLst/>
          </a:prstGeom>
          <a:noFill/>
        </p:spPr>
        <p:txBody>
          <a:bodyPr wrap="square" lIns="0" rIns="0" tIns="0" bIns="0" anchor="t">
            <a:spAutoFit/>
          </a:bodyPr>
          <a:lstStyle/>
          <a:p>
            <a:pPr algn="l"/>
            <a:r>
              <a:rPr sz="980" b="0">
                <a:solidFill>
                  <a:srgbClr val="6B6258"/>
                </a:solidFill>
                <a:latin typeface="Calibri"/>
              </a:rPr>
              <a:t>back every week</a:t>
            </a:r>
          </a:p>
        </p:txBody>
      </p:sp>
      <p:sp>
        <p:nvSpPr>
          <p:cNvPr id="12" name="TextBox 11"/>
          <p:cNvSpPr txBox="1"/>
          <p:nvPr/>
        </p:nvSpPr>
        <p:spPr>
          <a:xfrm>
            <a:off x="859536" y="4818888"/>
            <a:ext cx="3017520" cy="201168"/>
          </a:xfrm>
          <a:prstGeom prst="rect">
            <a:avLst/>
          </a:prstGeom>
          <a:noFill/>
        </p:spPr>
        <p:txBody>
          <a:bodyPr wrap="square" lIns="0" rIns="0" tIns="0" bIns="0" anchor="t">
            <a:spAutoFit/>
          </a:bodyPr>
          <a:lstStyle/>
          <a:p>
            <a:pPr algn="l"/>
            <a:r>
              <a:rPr sz="860" b="0">
                <a:solidFill>
                  <a:srgbClr val="1B1714"/>
                </a:solidFill>
                <a:latin typeface="Calibri"/>
              </a:rPr>
              <a:t>≈ 139 hours a year</a:t>
            </a:r>
          </a:p>
        </p:txBody>
      </p:sp>
      <p:sp>
        <p:nvSpPr>
          <p:cNvPr id="13" name="TextBox 12"/>
          <p:cNvSpPr txBox="1"/>
          <p:nvPr/>
        </p:nvSpPr>
        <p:spPr>
          <a:xfrm>
            <a:off x="859536" y="5010912"/>
            <a:ext cx="3017520" cy="182880"/>
          </a:xfrm>
          <a:prstGeom prst="rect">
            <a:avLst/>
          </a:prstGeom>
          <a:noFill/>
        </p:spPr>
        <p:txBody>
          <a:bodyPr wrap="square" lIns="0" rIns="0" tIns="0" bIns="0" anchor="t">
            <a:spAutoFit/>
          </a:bodyPr>
          <a:lstStyle/>
          <a:p>
            <a:pPr algn="l"/>
            <a:r>
              <a:rPr sz="819" b="0">
                <a:solidFill>
                  <a:srgbClr val="6B6258"/>
                </a:solidFill>
                <a:latin typeface="Calibri"/>
              </a:rPr>
              <a:t>≈ 17 working days</a:t>
            </a:r>
          </a:p>
        </p:txBody>
      </p:sp>
      <p:sp>
        <p:nvSpPr>
          <p:cNvPr id="14" name="Rounded Rectangle 13"/>
          <p:cNvSpPr/>
          <p:nvPr/>
        </p:nvSpPr>
        <p:spPr>
          <a:xfrm>
            <a:off x="4343400" y="3273552"/>
            <a:ext cx="3493008" cy="1938528"/>
          </a:xfrm>
          <a:prstGeom prst="roundRect">
            <a:avLst>
              <a:gd name="adj" fmla="val 8000"/>
            </a:avLst>
          </a:prstGeom>
          <a:solidFill>
            <a:srgbClr val="FFFDF8"/>
          </a:solidFill>
          <a:ln w="12700">
            <a:solidFill>
              <a:srgbClr val="E3D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3438144"/>
            <a:ext cx="3017520" cy="201168"/>
          </a:xfrm>
          <a:prstGeom prst="rect">
            <a:avLst/>
          </a:prstGeom>
          <a:noFill/>
        </p:spPr>
        <p:txBody>
          <a:bodyPr wrap="square" lIns="0" rIns="0" tIns="0" bIns="0" anchor="t">
            <a:spAutoFit/>
          </a:bodyPr>
          <a:lstStyle/>
          <a:p>
            <a:pPr algn="l"/>
            <a:r>
              <a:rPr sz="819" b="1">
                <a:solidFill>
                  <a:srgbClr val="D97706"/>
                </a:solidFill>
                <a:latin typeface="Calibri"/>
              </a:rPr>
              <a:t>RESTAURANT</a:t>
            </a:r>
          </a:p>
        </p:txBody>
      </p:sp>
      <p:sp>
        <p:nvSpPr>
          <p:cNvPr id="16" name="TextBox 15"/>
          <p:cNvSpPr txBox="1"/>
          <p:nvPr/>
        </p:nvSpPr>
        <p:spPr>
          <a:xfrm>
            <a:off x="4562856" y="3675887"/>
            <a:ext cx="3017520" cy="384048"/>
          </a:xfrm>
          <a:prstGeom prst="rect">
            <a:avLst/>
          </a:prstGeom>
          <a:noFill/>
        </p:spPr>
        <p:txBody>
          <a:bodyPr wrap="square" lIns="0" rIns="0" tIns="0" bIns="0" anchor="t">
            <a:spAutoFit/>
          </a:bodyPr>
          <a:lstStyle/>
          <a:p>
            <a:pPr algn="l"/>
            <a:r>
              <a:rPr sz="2100" b="1">
                <a:solidFill>
                  <a:srgbClr val="1B1714"/>
                </a:solidFill>
                <a:latin typeface="Cambria"/>
              </a:rPr>
              <a:t>100 orders/week</a:t>
            </a:r>
          </a:p>
        </p:txBody>
      </p:sp>
      <p:sp>
        <p:nvSpPr>
          <p:cNvPr id="17" name="TextBox 16"/>
          <p:cNvSpPr txBox="1"/>
          <p:nvPr/>
        </p:nvSpPr>
        <p:spPr>
          <a:xfrm>
            <a:off x="4562856" y="4078224"/>
            <a:ext cx="3017520" cy="548640"/>
          </a:xfrm>
          <a:prstGeom prst="rect">
            <a:avLst/>
          </a:prstGeom>
          <a:noFill/>
        </p:spPr>
        <p:txBody>
          <a:bodyPr wrap="square" lIns="0" rIns="0" tIns="0" bIns="0" anchor="t">
            <a:spAutoFit/>
          </a:bodyPr>
          <a:lstStyle/>
          <a:p>
            <a:pPr algn="l"/>
            <a:r>
              <a:rPr sz="3200" b="1">
                <a:solidFill>
                  <a:srgbClr val="2F6B4F"/>
                </a:solidFill>
                <a:latin typeface="Cambria"/>
              </a:rPr>
              <a:t>13.3 h</a:t>
            </a:r>
          </a:p>
        </p:txBody>
      </p:sp>
      <p:sp>
        <p:nvSpPr>
          <p:cNvPr id="18" name="TextBox 17"/>
          <p:cNvSpPr txBox="1"/>
          <p:nvPr/>
        </p:nvSpPr>
        <p:spPr>
          <a:xfrm>
            <a:off x="4562856" y="4590288"/>
            <a:ext cx="3017520" cy="219456"/>
          </a:xfrm>
          <a:prstGeom prst="rect">
            <a:avLst/>
          </a:prstGeom>
          <a:noFill/>
        </p:spPr>
        <p:txBody>
          <a:bodyPr wrap="square" lIns="0" rIns="0" tIns="0" bIns="0" anchor="t">
            <a:spAutoFit/>
          </a:bodyPr>
          <a:lstStyle/>
          <a:p>
            <a:pPr algn="l"/>
            <a:r>
              <a:rPr sz="980" b="0">
                <a:solidFill>
                  <a:srgbClr val="6B6258"/>
                </a:solidFill>
                <a:latin typeface="Calibri"/>
              </a:rPr>
              <a:t>back every week</a:t>
            </a:r>
          </a:p>
        </p:txBody>
      </p:sp>
      <p:sp>
        <p:nvSpPr>
          <p:cNvPr id="19" name="TextBox 18"/>
          <p:cNvSpPr txBox="1"/>
          <p:nvPr/>
        </p:nvSpPr>
        <p:spPr>
          <a:xfrm>
            <a:off x="4562856" y="4818888"/>
            <a:ext cx="3017520" cy="201168"/>
          </a:xfrm>
          <a:prstGeom prst="rect">
            <a:avLst/>
          </a:prstGeom>
          <a:noFill/>
        </p:spPr>
        <p:txBody>
          <a:bodyPr wrap="square" lIns="0" rIns="0" tIns="0" bIns="0" anchor="t">
            <a:spAutoFit/>
          </a:bodyPr>
          <a:lstStyle/>
          <a:p>
            <a:pPr algn="l"/>
            <a:r>
              <a:rPr sz="860" b="0">
                <a:solidFill>
                  <a:srgbClr val="1B1714"/>
                </a:solidFill>
                <a:latin typeface="Calibri"/>
              </a:rPr>
              <a:t>≈ 693 hours a year</a:t>
            </a:r>
          </a:p>
        </p:txBody>
      </p:sp>
      <p:sp>
        <p:nvSpPr>
          <p:cNvPr id="20" name="TextBox 19"/>
          <p:cNvSpPr txBox="1"/>
          <p:nvPr/>
        </p:nvSpPr>
        <p:spPr>
          <a:xfrm>
            <a:off x="4562856" y="5010912"/>
            <a:ext cx="3017520" cy="182880"/>
          </a:xfrm>
          <a:prstGeom prst="rect">
            <a:avLst/>
          </a:prstGeom>
          <a:noFill/>
        </p:spPr>
        <p:txBody>
          <a:bodyPr wrap="square" lIns="0" rIns="0" tIns="0" bIns="0" anchor="t">
            <a:spAutoFit/>
          </a:bodyPr>
          <a:lstStyle/>
          <a:p>
            <a:pPr algn="l"/>
            <a:r>
              <a:rPr sz="819" b="0">
                <a:solidFill>
                  <a:srgbClr val="6B6258"/>
                </a:solidFill>
                <a:latin typeface="Calibri"/>
              </a:rPr>
              <a:t>≈ 87 working days</a:t>
            </a:r>
          </a:p>
        </p:txBody>
      </p:sp>
      <p:sp>
        <p:nvSpPr>
          <p:cNvPr id="21" name="Rounded Rectangle 20"/>
          <p:cNvSpPr/>
          <p:nvPr/>
        </p:nvSpPr>
        <p:spPr>
          <a:xfrm>
            <a:off x="8046720" y="3273552"/>
            <a:ext cx="3493008" cy="1938528"/>
          </a:xfrm>
          <a:prstGeom prst="roundRect">
            <a:avLst>
              <a:gd name="adj" fmla="val 8000"/>
            </a:avLst>
          </a:prstGeom>
          <a:solidFill>
            <a:srgbClr val="1B1714"/>
          </a:solidFill>
          <a:ln w="12700">
            <a:solidFill>
              <a:srgbClr val="1B17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6" y="3438144"/>
            <a:ext cx="3017520" cy="201168"/>
          </a:xfrm>
          <a:prstGeom prst="rect">
            <a:avLst/>
          </a:prstGeom>
          <a:noFill/>
        </p:spPr>
        <p:txBody>
          <a:bodyPr wrap="square" lIns="0" rIns="0" tIns="0" bIns="0" anchor="t">
            <a:spAutoFit/>
          </a:bodyPr>
          <a:lstStyle/>
          <a:p>
            <a:pPr algn="l"/>
            <a:r>
              <a:rPr sz="819" b="1">
                <a:solidFill>
                  <a:srgbClr val="D97706"/>
                </a:solidFill>
                <a:latin typeface="Calibri"/>
              </a:rPr>
              <a:t>PER ORDER</a:t>
            </a:r>
          </a:p>
        </p:txBody>
      </p:sp>
      <p:sp>
        <p:nvSpPr>
          <p:cNvPr id="23" name="TextBox 22"/>
          <p:cNvSpPr txBox="1"/>
          <p:nvPr/>
        </p:nvSpPr>
        <p:spPr>
          <a:xfrm>
            <a:off x="8266176" y="3675887"/>
            <a:ext cx="3017520" cy="502920"/>
          </a:xfrm>
          <a:prstGeom prst="rect">
            <a:avLst/>
          </a:prstGeom>
          <a:noFill/>
        </p:spPr>
        <p:txBody>
          <a:bodyPr wrap="square" lIns="0" rIns="0" tIns="0" bIns="0" anchor="t">
            <a:spAutoFit/>
          </a:bodyPr>
          <a:lstStyle/>
          <a:p>
            <a:pPr algn="l"/>
            <a:r>
              <a:rPr sz="3200" b="1">
                <a:solidFill>
                  <a:srgbClr val="D97706"/>
                </a:solidFill>
                <a:latin typeface="Cambria"/>
              </a:rPr>
              <a:t>8 min</a:t>
            </a:r>
          </a:p>
        </p:txBody>
      </p:sp>
      <p:sp>
        <p:nvSpPr>
          <p:cNvPr id="24" name="TextBox 23"/>
          <p:cNvSpPr txBox="1"/>
          <p:nvPr/>
        </p:nvSpPr>
        <p:spPr>
          <a:xfrm>
            <a:off x="8266176" y="4187952"/>
            <a:ext cx="3017520" cy="201168"/>
          </a:xfrm>
          <a:prstGeom prst="rect">
            <a:avLst/>
          </a:prstGeom>
          <a:noFill/>
        </p:spPr>
        <p:txBody>
          <a:bodyPr wrap="square" lIns="0" rIns="0" tIns="0" bIns="0" anchor="t">
            <a:spAutoFit/>
          </a:bodyPr>
          <a:lstStyle/>
          <a:p>
            <a:pPr algn="l"/>
            <a:r>
              <a:rPr sz="950" b="0">
                <a:solidFill>
                  <a:srgbClr val="F7F2E8"/>
                </a:solidFill>
                <a:latin typeface="Calibri"/>
              </a:rPr>
              <a:t>saved per order</a:t>
            </a:r>
          </a:p>
        </p:txBody>
      </p:sp>
      <p:sp>
        <p:nvSpPr>
          <p:cNvPr id="25" name="TextBox 24"/>
          <p:cNvSpPr txBox="1"/>
          <p:nvPr/>
        </p:nvSpPr>
        <p:spPr>
          <a:xfrm>
            <a:off x="8266176" y="4462272"/>
            <a:ext cx="3017520" cy="384048"/>
          </a:xfrm>
          <a:prstGeom prst="rect">
            <a:avLst/>
          </a:prstGeom>
          <a:noFill/>
        </p:spPr>
        <p:txBody>
          <a:bodyPr wrap="square" lIns="0" rIns="0" tIns="0" bIns="0" anchor="t">
            <a:spAutoFit/>
          </a:bodyPr>
          <a:lstStyle/>
          <a:p>
            <a:pPr algn="l"/>
            <a:r>
              <a:rPr sz="2400" b="1">
                <a:solidFill>
                  <a:srgbClr val="D97706"/>
                </a:solidFill>
                <a:latin typeface="Cambria"/>
              </a:rPr>
              <a:t>73%</a:t>
            </a:r>
          </a:p>
        </p:txBody>
      </p:sp>
      <p:sp>
        <p:nvSpPr>
          <p:cNvPr id="26" name="TextBox 25"/>
          <p:cNvSpPr txBox="1"/>
          <p:nvPr/>
        </p:nvSpPr>
        <p:spPr>
          <a:xfrm>
            <a:off x="8266176" y="4791456"/>
            <a:ext cx="3017520" cy="201168"/>
          </a:xfrm>
          <a:prstGeom prst="rect">
            <a:avLst/>
          </a:prstGeom>
          <a:noFill/>
        </p:spPr>
        <p:txBody>
          <a:bodyPr wrap="square" lIns="0" rIns="0" tIns="0" bIns="0" anchor="t">
            <a:spAutoFit/>
          </a:bodyPr>
          <a:lstStyle/>
          <a:p>
            <a:pPr algn="l"/>
            <a:r>
              <a:rPr sz="880" b="0">
                <a:solidFill>
                  <a:srgbClr val="F7F2E8"/>
                </a:solidFill>
                <a:latin typeface="Calibri"/>
              </a:rPr>
              <a:t>less manual handling</a:t>
            </a:r>
          </a:p>
        </p:txBody>
      </p:sp>
      <p:sp>
        <p:nvSpPr>
          <p:cNvPr id="27" name="TextBox 26"/>
          <p:cNvSpPr txBox="1"/>
          <p:nvPr/>
        </p:nvSpPr>
        <p:spPr>
          <a:xfrm>
            <a:off x="8266176" y="5001768"/>
            <a:ext cx="3017520" cy="182880"/>
          </a:xfrm>
          <a:prstGeom prst="rect">
            <a:avLst/>
          </a:prstGeom>
          <a:noFill/>
        </p:spPr>
        <p:txBody>
          <a:bodyPr wrap="square" lIns="0" rIns="0" tIns="0" bIns="0" anchor="t">
            <a:spAutoFit/>
          </a:bodyPr>
          <a:lstStyle/>
          <a:p>
            <a:pPr algn="l"/>
            <a:r>
              <a:rPr sz="819" b="0">
                <a:solidFill>
                  <a:srgbClr val="CDBFAE"/>
                </a:solidFill>
                <a:latin typeface="Calibri"/>
              </a:rPr>
              <a:t>11 min → 3 min</a:t>
            </a:r>
          </a:p>
        </p:txBody>
      </p:sp>
      <p:sp>
        <p:nvSpPr>
          <p:cNvPr id="28" name="TextBox 27"/>
          <p:cNvSpPr txBox="1"/>
          <p:nvPr/>
        </p:nvSpPr>
        <p:spPr>
          <a:xfrm>
            <a:off x="640080" y="5413248"/>
            <a:ext cx="10881360" cy="384048"/>
          </a:xfrm>
          <a:prstGeom prst="rect">
            <a:avLst/>
          </a:prstGeom>
          <a:noFill/>
        </p:spPr>
        <p:txBody>
          <a:bodyPr wrap="square" lIns="0" rIns="0" tIns="0" bIns="0" anchor="t">
            <a:spAutoFit/>
          </a:bodyPr>
          <a:lstStyle/>
          <a:p>
            <a:pPr algn="l"/>
            <a:r>
              <a:rPr sz="830" b="0">
                <a:solidFill>
                  <a:srgbClr val="6B6258"/>
                </a:solidFill>
                <a:latin typeface="Calibri"/>
              </a:rPr>
              <a:t>Source: Esker 2025 order-management benchmark (median 11 min manual vs 3 min automated). 52 weeks/year; 8-hour working day. Savings are estimates to validate with pilot SMEs.</a:t>
            </a:r>
          </a:p>
        </p:txBody>
      </p:sp>
      <p:sp>
        <p:nvSpPr>
          <p:cNvPr id="29" name="TextBox 28"/>
          <p:cNvSpPr txBox="1"/>
          <p:nvPr/>
        </p:nvSpPr>
        <p:spPr>
          <a:xfrm>
            <a:off x="640080" y="6519672"/>
            <a:ext cx="7680960" cy="164592"/>
          </a:xfrm>
          <a:prstGeom prst="rect">
            <a:avLst/>
          </a:prstGeom>
          <a:noFill/>
        </p:spPr>
        <p:txBody>
          <a:bodyPr wrap="square" lIns="0" rIns="0" tIns="0" bIns="0" anchor="t">
            <a:spAutoFit/>
          </a:bodyPr>
          <a:lstStyle/>
          <a:p>
            <a:pPr algn="l"/>
            <a:r>
              <a:rPr sz="750" b="0">
                <a:solidFill>
                  <a:srgbClr val="6B6258"/>
                </a:solidFill>
                <a:latin typeface="Calibri"/>
              </a:rPr>
              <a:t>SDC Hackathon 2026 · Domain 2 · SmartOrder Hub</a:t>
            </a:r>
          </a:p>
        </p:txBody>
      </p:sp>
      <p:sp>
        <p:nvSpPr>
          <p:cNvPr id="30" name="TextBox 29"/>
          <p:cNvSpPr txBox="1"/>
          <p:nvPr/>
        </p:nvSpPr>
        <p:spPr>
          <a:xfrm>
            <a:off x="11109960" y="6519672"/>
            <a:ext cx="438912" cy="164592"/>
          </a:xfrm>
          <a:prstGeom prst="rect">
            <a:avLst/>
          </a:prstGeom>
          <a:noFill/>
        </p:spPr>
        <p:txBody>
          <a:bodyPr wrap="square" lIns="0" rIns="0" tIns="0" bIns="0" anchor="t">
            <a:spAutoFit/>
          </a:bodyPr>
          <a:lstStyle/>
          <a:p>
            <a:pPr algn="l"/>
            <a:r>
              <a:rPr sz="750" b="1">
                <a:solidFill>
                  <a:srgbClr val="6B6258"/>
                </a:solidFill>
                <a:latin typeface="Calibri"/>
              </a:rPr>
              <a:t>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Empathy-Coders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SmartOrder Hub — Pitch Deck</dc:title>
  <dc:subject>SmartOrder Hub — SDC Hackathon 2026, Domain 2</dc:subject>
  <dc:creator>Empathy Coders</dc:creator>
  <cp:lastModifiedBy>Empathy Coders</cp:lastModifiedBy>
  <cp:revision>1</cp:revision>
  <dcterms:created xsi:type="dcterms:W3CDTF">2026-10-24T12:04:15Z</dcterms:created>
  <dcterms:modified xsi:type="dcterms:W3CDTF">2026-10-24T12:04:15Z</dcterms:modified>
</cp:coreProperties>
</file>